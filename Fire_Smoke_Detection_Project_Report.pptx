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83879" y="73152"/>
            <a:ext cx="3886200" cy="3886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64040" y="658368"/>
            <a:ext cx="2240280" cy="22402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94360"/>
            <a:ext cx="3840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1" i="0">
                <a:solidFill>
                  <a:srgbClr val="FFEDD5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PROJECT REPORT  /  2026</a:t>
            </a:r>
            <a:endParaRPr>
              <a:latin typeface="Segoe UI" panose="020B0502040204020203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768096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Fire Smoke Detection</a:t>
            </a:r>
            <a:endParaRPr>
              <a:latin typeface="Segoe UI" panose="020B0502040204020203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9144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800" b="0" i="0">
                <a:solidFill>
                  <a:srgbClr val="DCE5F0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using MobileNetV2 + Faster R-CNN</a:t>
            </a:r>
            <a:endParaRPr>
              <a:latin typeface="Segoe UI" panose="020B0502040204020203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67665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火焰与烟雾目标检测项目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47872"/>
            <a:ext cx="6400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0" i="0">
                <a:solidFill>
                  <a:srgbClr val="BACCDE"/>
                </a:solidFill>
                <a:latin typeface="微软雅黑" panose="020B0503020204020204" charset="-122"/>
              </a:defRPr>
            </a:pPr>
            <a:r>
              <a:t>技术路线：MobileNetV2 + Faster R-CNN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5138928"/>
            <a:ext cx="914400" cy="310896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5184648"/>
            <a:ext cx="914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FIRE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55648" y="5138928"/>
            <a:ext cx="1143000" cy="310896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55648" y="5184648"/>
            <a:ext cx="1143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SMOKE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687568"/>
            <a:ext cx="57607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600" b="0" i="0">
                <a:solidFill>
                  <a:srgbClr val="D0DAE7"/>
                </a:solidFill>
                <a:latin typeface="微软雅黑" panose="020B0503020204020204" charset="-122"/>
              </a:defRPr>
            </a:pPr>
            <a:r>
              <a:t>目标：从图像中定位并识别火焰与烟雾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8686800" y="3017520"/>
            <a:ext cx="2560320" cy="1005840"/>
          </a:xfrm>
          <a:prstGeom prst="line">
            <a:avLst/>
          </a:prstGeom>
          <a:ln w="17780">
            <a:solidFill>
              <a:srgbClr val="586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686800" y="4023360"/>
            <a:ext cx="1463040" cy="1188720"/>
          </a:xfrm>
          <a:prstGeom prst="line">
            <a:avLst/>
          </a:prstGeom>
          <a:ln w="17780">
            <a:solidFill>
              <a:srgbClr val="586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149840" y="3017520"/>
            <a:ext cx="1097280" cy="2194560"/>
          </a:xfrm>
          <a:prstGeom prst="line">
            <a:avLst/>
          </a:prstGeom>
          <a:ln w="17780">
            <a:solidFill>
              <a:srgbClr val="586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586216" y="3922776"/>
            <a:ext cx="201168" cy="20116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46536" y="2916936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49256" y="5111496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48463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0" i="0">
                <a:solidFill>
                  <a:srgbClr val="B6C1D1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Fire Smoke Detection  ·  Project Report</a:t>
            </a:r>
            <a:endParaRPr>
              <a:latin typeface="Segoe UI" panose="020B0502040204020203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 i="0">
                <a:solidFill>
                  <a:srgbClr val="B6C1D1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01 / 10</a:t>
            </a:r>
            <a:endParaRPr>
              <a:latin typeface="Segoe UI" panose="020B0502040204020203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2743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 i="0">
                <a:solidFill>
                  <a:srgbClr val="F97316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01 / CONTEXT</a:t>
            </a:r>
            <a:endParaRPr>
              <a:latin typeface="Segoe UI" panose="020B0502040204020203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3100" b="1" i="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更早发现，意味着更长的处置窗口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24712"/>
            <a:ext cx="1033272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0" i="0">
                <a:solidFill>
                  <a:srgbClr val="5D6B82"/>
                </a:solidFill>
                <a:latin typeface="微软雅黑" panose="020B0503020204020204" charset="-122"/>
              </a:defRPr>
            </a:pPr>
            <a:r>
              <a:t>从“看见异常”到“输出位置与类别”，建立自动化检测链路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48463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0" i="0">
                <a:solidFill>
                  <a:srgbClr val="5D6B82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Fire Smoke Detection  ·  Project Report</a:t>
            </a:r>
            <a:endParaRPr>
              <a:latin typeface="Segoe UI" panose="020B0502040204020203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 i="0">
                <a:solidFill>
                  <a:srgbClr val="5D6B82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02 / 10</a:t>
            </a:r>
            <a:endParaRPr>
              <a:latin typeface="Segoe UI" panose="020B0502040204020203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" y="1600200"/>
            <a:ext cx="3657600" cy="4160520"/>
          </a:xfrm>
          <a:prstGeom prst="round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74519"/>
            <a:ext cx="21945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 i="0">
                <a:solidFill>
                  <a:srgbClr val="FFEDD5"/>
                </a:solidFill>
                <a:latin typeface="微软雅黑" panose="020B0503020204020204" charset="-122"/>
              </a:defRPr>
            </a:pPr>
            <a:r>
              <a:t>项目出发点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2926080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把火焰与烟雾</a:t>
            </a:r>
            <a:br/>
            <a:r>
              <a:t>检测从人工观察</a:t>
            </a:r>
            <a:br/>
            <a:r>
              <a:t>推进到自动识别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498848"/>
            <a:ext cx="21031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1" i="0">
                <a:solidFill>
                  <a:srgbClr val="AABED3"/>
                </a:solidFill>
                <a:latin typeface="微软雅黑" panose="020B0503020204020204" charset="-122"/>
              </a:defRPr>
            </a:pPr>
            <a:r>
              <a:t>README 项目简介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782312"/>
            <a:ext cx="283464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0" i="0">
                <a:solidFill>
                  <a:srgbClr val="D7E0EA"/>
                </a:solidFill>
                <a:latin typeface="微软雅黑" panose="020B0503020204020204" charset="-122"/>
              </a:defRPr>
            </a:pPr>
            <a:r>
              <a:t>本项目使用 MobileNetV2 作为骨干网络，结合 Faster R-CNN 实现火焰（fire）和烟雾（smoke）目标检测。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664208"/>
            <a:ext cx="1828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 i="0">
                <a:solidFill>
                  <a:srgbClr val="F97316"/>
                </a:solidFill>
                <a:latin typeface="微软雅黑" panose="020B0503020204020204" charset="-122"/>
              </a:defRPr>
            </a:pPr>
            <a:r>
              <a:t>核心目标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148840"/>
            <a:ext cx="6355080" cy="1828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• 火灾早期检测：尽早识别火焰和烟雾等风险信号</a:t>
            </a:r>
          </a:p>
          <a:p>
            <a:pPr>
              <a:spcAft>
                <a:spcPts val="1400"/>
              </a:spcAft>
              <a:defRPr sz="200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• 自动检测：输出 fire / smoke 类别与目标位置</a:t>
            </a:r>
          </a:p>
          <a:p>
            <a:pPr>
              <a:spcAft>
                <a:spcPts val="1400"/>
              </a:spcAft>
              <a:defRPr sz="200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• 可复现实验：沉淀训练、评估与可视化工程流程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4434840"/>
            <a:ext cx="6309360" cy="1024128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8928" y="4645152"/>
            <a:ext cx="11430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1" i="0">
                <a:solidFill>
                  <a:srgbClr val="F97316"/>
                </a:solidFill>
                <a:latin typeface="微软雅黑" panose="020B0503020204020204" charset="-122"/>
              </a:defRPr>
            </a:pPr>
            <a:r>
              <a:t>检测输出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4956048"/>
            <a:ext cx="5029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200" b="1" i="0">
                <a:solidFill>
                  <a:srgbClr val="141F2D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类别  +  边界框  +  置信度</a:t>
            </a:r>
            <a:endParaRPr>
              <a:latin typeface="Segoe UI" panose="020B0502040204020203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2743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 i="0">
                <a:solidFill>
                  <a:srgbClr val="F97316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02 / PIPELINE</a:t>
            </a:r>
            <a:endParaRPr>
              <a:latin typeface="Segoe UI" panose="020B0502040204020203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3100" b="1" i="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一条从数据到指标的完整检测链路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24712"/>
            <a:ext cx="1033272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0" i="0">
                <a:solidFill>
                  <a:srgbClr val="5D6B82"/>
                </a:solidFill>
                <a:latin typeface="微软雅黑" panose="020B0503020204020204" charset="-122"/>
              </a:defRPr>
            </a:pPr>
            <a:r>
              <a:t>让训练脚本、评估脚本和结果可视化形成闭环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48463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0" i="0">
                <a:solidFill>
                  <a:srgbClr val="5D6B82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Fire Smoke Detection  ·  Project Report</a:t>
            </a:r>
            <a:endParaRPr>
              <a:latin typeface="Segoe UI" panose="020B0502040204020203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 i="0">
                <a:solidFill>
                  <a:srgbClr val="5D6B82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03 / 10</a:t>
            </a:r>
            <a:endParaRPr>
              <a:latin typeface="Segoe UI" panose="020B0502040204020203" charset="0"/>
            </a:endParaRPr>
          </a:p>
        </p:txBody>
      </p:sp>
      <p:sp>
        <p:nvSpPr>
          <p:cNvPr id="7" name="Down Arrow 6"/>
          <p:cNvSpPr/>
          <p:nvPr/>
        </p:nvSpPr>
        <p:spPr>
          <a:xfrm>
            <a:off x="5879592" y="2157984"/>
            <a:ext cx="457200" cy="182880"/>
          </a:xfrm>
          <a:prstGeom prst="downArrow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wn Arrow 7"/>
          <p:cNvSpPr/>
          <p:nvPr/>
        </p:nvSpPr>
        <p:spPr>
          <a:xfrm>
            <a:off x="5879592" y="2980944"/>
            <a:ext cx="457200" cy="182880"/>
          </a:xfrm>
          <a:prstGeom prst="downArrow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wn Arrow 8"/>
          <p:cNvSpPr/>
          <p:nvPr/>
        </p:nvSpPr>
        <p:spPr>
          <a:xfrm>
            <a:off x="5879592" y="3803904"/>
            <a:ext cx="457200" cy="182880"/>
          </a:xfrm>
          <a:prstGeom prst="downArrow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5879592" y="4626864"/>
            <a:ext cx="457200" cy="182880"/>
          </a:xfrm>
          <a:prstGeom prst="downArrow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5879592" y="5449824"/>
            <a:ext cx="457200" cy="182880"/>
          </a:xfrm>
          <a:prstGeom prst="downArrow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0" y="1490472"/>
            <a:ext cx="672084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1490472"/>
            <a:ext cx="100584" cy="61264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1609343"/>
            <a:ext cx="3063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800" b="1" i="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数据集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636775"/>
            <a:ext cx="2743200" cy="1920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300" b="0" i="0">
                <a:solidFill>
                  <a:srgbClr val="5D6B82"/>
                </a:solidFill>
                <a:latin typeface="微软雅黑" panose="020B0503020204020204" charset="-122"/>
              </a:defRPr>
            </a:pPr>
            <a:r>
              <a:t>YOLO 图像 + 标签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2313432"/>
            <a:ext cx="672084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0" y="2313432"/>
            <a:ext cx="100584" cy="6126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40" y="2432303"/>
            <a:ext cx="3063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800" b="1" i="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数据预处理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59736"/>
            <a:ext cx="2743200" cy="1920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300" b="0" i="0">
                <a:solidFill>
                  <a:srgbClr val="5D6B82"/>
                </a:solidFill>
                <a:latin typeface="微软雅黑" panose="020B0503020204020204" charset="-122"/>
              </a:defRPr>
            </a:pPr>
            <a:r>
              <a:t>读取图像 / 转换标注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3136391"/>
            <a:ext cx="672084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136391"/>
            <a:ext cx="100584" cy="6126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63240" y="3255263"/>
            <a:ext cx="3063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800" b="1" i="0">
                <a:solidFill>
                  <a:srgbClr val="141F2D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MobileNetV2 Backbone</a:t>
            </a:r>
            <a:endParaRPr>
              <a:latin typeface="Segoe UI" panose="020B0502040204020203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0" y="3282696"/>
            <a:ext cx="2743200" cy="1920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300" b="0" i="0">
                <a:solidFill>
                  <a:srgbClr val="5D6B82"/>
                </a:solidFill>
                <a:latin typeface="微软雅黑" panose="020B0503020204020204" charset="-122"/>
              </a:defRPr>
            </a:pPr>
            <a:r>
              <a:t>提取多层视觉特征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3959352"/>
            <a:ext cx="672084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0" y="3959352"/>
            <a:ext cx="100584" cy="61264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63240" y="4078224"/>
            <a:ext cx="3063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800" b="1" i="0">
                <a:solidFill>
                  <a:srgbClr val="141F2D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Faster R-CNN Detection Head</a:t>
            </a:r>
            <a:endParaRPr>
              <a:latin typeface="Segoe UI" panose="020B0502040204020203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0" y="4105656"/>
            <a:ext cx="2743200" cy="1920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300" b="0" i="0">
                <a:solidFill>
                  <a:srgbClr val="5D6B82"/>
                </a:solidFill>
                <a:latin typeface="微软雅黑" panose="020B0503020204020204" charset="-122"/>
              </a:defRPr>
            </a:pPr>
            <a:r>
              <a:t>候选框 + 分类回归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4782312"/>
            <a:ext cx="672084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0" y="4782312"/>
            <a:ext cx="100584" cy="6126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4901184"/>
            <a:ext cx="3063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800" b="1" i="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模型训练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928616"/>
            <a:ext cx="2743200" cy="1920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300" b="0" i="0">
                <a:solidFill>
                  <a:srgbClr val="5D6B82"/>
                </a:solidFill>
                <a:latin typeface="微软雅黑" panose="020B0503020204020204" charset="-122"/>
              </a:defRPr>
            </a:pPr>
            <a:r>
              <a:t>AdamW · 100 Epoch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5605272"/>
            <a:ext cx="672084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0" y="5605272"/>
            <a:ext cx="100584" cy="6126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63240" y="5724144"/>
            <a:ext cx="3063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800" b="1" i="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指标评估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751576"/>
            <a:ext cx="2743200" cy="1920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300" b="0" i="0">
                <a:solidFill>
                  <a:srgbClr val="5D6B82"/>
                </a:solidFill>
                <a:latin typeface="微软雅黑" panose="020B0503020204020204" charset="-122"/>
              </a:defRPr>
            </a:pPr>
            <a:r>
              <a:t>mAP · AP · 推理速度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2423160"/>
            <a:ext cx="1600200" cy="1152144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2633472"/>
            <a:ext cx="11430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300" b="1" i="0">
                <a:solidFill>
                  <a:srgbClr val="F97316"/>
                </a:solidFill>
                <a:latin typeface="微软雅黑" panose="020B0503020204020204" charset="-122"/>
              </a:defRPr>
            </a:pPr>
            <a:r>
              <a:t>输入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2916936"/>
            <a:ext cx="1143000" cy="402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2000" b="1" i="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图像</a:t>
            </a:r>
            <a:br/>
            <a:r>
              <a:t>标注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21240" y="2423160"/>
            <a:ext cx="1600200" cy="1152144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40" y="2633472"/>
            <a:ext cx="11430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300" b="1" i="0">
                <a:solidFill>
                  <a:srgbClr val="14B8A6"/>
                </a:solidFill>
                <a:latin typeface="微软雅黑" panose="020B0503020204020204" charset="-122"/>
              </a:defRPr>
            </a:pPr>
            <a:r>
              <a:t>输出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0" y="2916936"/>
            <a:ext cx="1143000" cy="402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2000" b="1" i="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类别</a:t>
            </a:r>
            <a:br/>
            <a:r>
              <a:t>位置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2743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 i="0">
                <a:solidFill>
                  <a:srgbClr val="F97316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03 / MODEL</a:t>
            </a:r>
            <a:endParaRPr>
              <a:latin typeface="Segoe UI" panose="020B0502040204020203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3100" b="1" i="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轻量化特征提取，连接两阶段检测能力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24712"/>
            <a:ext cx="1033272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0" i="0">
                <a:solidFill>
                  <a:srgbClr val="5D6B82"/>
                </a:solidFill>
                <a:latin typeface="微软雅黑" panose="020B0503020204020204" charset="-122"/>
              </a:defRPr>
            </a:pPr>
            <a:r>
              <a:t>MobileNetV2 负责“看懂特征”，Faster R-CNN 负责“定位目标”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48463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0" i="0">
                <a:solidFill>
                  <a:srgbClr val="5D6B82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Fire Smoke Detection  ·  Project Report</a:t>
            </a:r>
            <a:endParaRPr>
              <a:latin typeface="Segoe UI" panose="020B0502040204020203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 i="0">
                <a:solidFill>
                  <a:srgbClr val="5D6B82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04 / 10</a:t>
            </a:r>
            <a:endParaRPr>
              <a:latin typeface="Segoe UI" panose="020B0502040204020203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1527048"/>
            <a:ext cx="1828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 i="0">
                <a:solidFill>
                  <a:srgbClr val="F97316"/>
                </a:solidFill>
                <a:latin typeface="微软雅黑" panose="020B0503020204020204" charset="-122"/>
              </a:defRPr>
            </a:pPr>
            <a:r>
              <a:t>模型结构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23160" y="2834640"/>
            <a:ext cx="411480" cy="0"/>
          </a:xfrm>
          <a:prstGeom prst="line">
            <a:avLst/>
          </a:prstGeom>
          <a:ln w="25400">
            <a:solidFill>
              <a:srgbClr val="5D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663440" y="2834640"/>
            <a:ext cx="411480" cy="0"/>
          </a:xfrm>
          <a:prstGeom prst="line">
            <a:avLst/>
          </a:prstGeom>
          <a:ln w="25400">
            <a:solidFill>
              <a:srgbClr val="5D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903720" y="2834640"/>
            <a:ext cx="411480" cy="0"/>
          </a:xfrm>
          <a:prstGeom prst="line">
            <a:avLst/>
          </a:prstGeom>
          <a:ln w="25400">
            <a:solidFill>
              <a:srgbClr val="5D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9808" y="2148840"/>
            <a:ext cx="1691640" cy="1389888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395728"/>
            <a:ext cx="1472184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700" b="1" i="0">
                <a:solidFill>
                  <a:srgbClr val="141F2D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Input</a:t>
            </a:r>
            <a:endParaRPr>
              <a:latin typeface="Segoe UI" panose="020B0502040204020203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9536" y="2816352"/>
            <a:ext cx="1472184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300" b="0" i="0">
                <a:solidFill>
                  <a:srgbClr val="5D6B82"/>
                </a:solidFill>
                <a:latin typeface="微软雅黑" panose="020B0503020204020204" charset="-122"/>
              </a:defRPr>
            </a:pPr>
            <a:r>
              <a:t>图像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90088" y="2148840"/>
            <a:ext cx="1691640" cy="1389888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9816" y="2395728"/>
            <a:ext cx="1472184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700" b="1" i="0">
                <a:solidFill>
                  <a:srgbClr val="141F2D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MobileNetV2</a:t>
            </a:r>
            <a:endParaRPr>
              <a:latin typeface="Segoe UI" panose="020B0502040204020203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99816" y="2816352"/>
            <a:ext cx="1472184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300" b="0" i="0">
                <a:solidFill>
                  <a:srgbClr val="5D6B82"/>
                </a:solidFill>
                <a:latin typeface="微软雅黑" panose="020B0503020204020204" charset="-122"/>
              </a:defRPr>
            </a:pPr>
            <a:r>
              <a:t>Backbone</a:t>
            </a:r>
            <a:br/>
            <a:r>
              <a:t>特征提取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30368" y="2148840"/>
            <a:ext cx="1691640" cy="138988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0096" y="2395728"/>
            <a:ext cx="1472184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700" b="1" i="0">
                <a:solidFill>
                  <a:srgbClr val="141F2D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RPN</a:t>
            </a:r>
            <a:endParaRPr>
              <a:latin typeface="Segoe UI" panose="020B0502040204020203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340096" y="2816352"/>
            <a:ext cx="1472184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300" b="0" i="0">
                <a:solidFill>
                  <a:srgbClr val="5D6B82"/>
                </a:solidFill>
                <a:latin typeface="微软雅黑" panose="020B0503020204020204" charset="-122"/>
              </a:defRPr>
            </a:pPr>
            <a:r>
              <a:t>候选区域</a:t>
            </a:r>
            <a:br/>
            <a:r>
              <a:t>生成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648" y="2148840"/>
            <a:ext cx="1691640" cy="1389888"/>
          </a:xfrm>
          <a:prstGeom prst="roundRect">
            <a:avLst/>
          </a:prstGeom>
          <a:solidFill>
            <a:srgbClr val="0B1320"/>
          </a:solidFill>
          <a:ln w="12700">
            <a:solidFill>
              <a:srgbClr val="0B1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0375" y="2395728"/>
            <a:ext cx="1472184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ROI + Head</a:t>
            </a:r>
            <a:endParaRPr>
              <a:latin typeface="Segoe UI" panose="020B0502040204020203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580375" y="2816352"/>
            <a:ext cx="1472184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300" b="0" i="0">
                <a:solidFill>
                  <a:srgbClr val="DCE5F0"/>
                </a:solidFill>
                <a:latin typeface="微软雅黑" panose="020B0503020204020204" charset="-122"/>
              </a:defRPr>
            </a:pPr>
            <a:r>
              <a:t>分类 + 框</a:t>
            </a:r>
            <a:br/>
            <a:r>
              <a:t>回归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19488" y="1581912"/>
            <a:ext cx="1874519" cy="3986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12096" y="1847088"/>
            <a:ext cx="141732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600" b="1" i="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为什么选择轻量化 Backbone？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93808" y="2788920"/>
            <a:ext cx="1371600" cy="1325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• 参数与计算量更友好</a:t>
            </a:r>
          </a:p>
          <a:p>
            <a:pPr>
              <a:spcAft>
                <a:spcPts val="1000"/>
              </a:spcAft>
              <a:defRPr sz="130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• 适合后续边缘部署</a:t>
            </a:r>
          </a:p>
          <a:p>
            <a:pPr>
              <a:spcAft>
                <a:spcPts val="1000"/>
              </a:spcAft>
              <a:defRPr sz="130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• 保留检测头的定位能力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709160"/>
            <a:ext cx="83210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200" b="1" i="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核心取舍：在检测精度与推理效率之间寻找平衡。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5285232"/>
            <a:ext cx="8229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0" i="0">
                <a:solidFill>
                  <a:srgbClr val="5D6B82"/>
                </a:solidFill>
                <a:latin typeface="微软雅黑" panose="020B0503020204020204" charset="-122"/>
              </a:defRPr>
            </a:pPr>
            <a:r>
              <a:t>MobileNetV2 不是单纯追求更小，而是为“可运行、可扩展、可部署”服务。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2743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 i="0">
                <a:solidFill>
                  <a:srgbClr val="F97316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04 / DATA &amp; ENV</a:t>
            </a:r>
            <a:endParaRPr>
              <a:latin typeface="Segoe UI" panose="020B0502040204020203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3100" b="1" i="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两类目标 + 一套可复现实验环境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24712"/>
            <a:ext cx="1033272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0" i="0">
                <a:solidFill>
                  <a:srgbClr val="5D6B82"/>
                </a:solidFill>
                <a:latin typeface="微软雅黑" panose="020B0503020204020204" charset="-122"/>
              </a:defRPr>
            </a:pPr>
            <a:r>
              <a:t>数据采用 YOLO 格式；仓库不包含原始数据集，避免大文件与隐私风险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48463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0" i="0">
                <a:solidFill>
                  <a:srgbClr val="5D6B82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Fire Smoke Detection  ·  Project Report</a:t>
            </a:r>
            <a:endParaRPr>
              <a:latin typeface="Segoe UI" panose="020B0502040204020203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 i="0">
                <a:solidFill>
                  <a:srgbClr val="5D6B82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05 / 10</a:t>
            </a:r>
            <a:endParaRPr>
              <a:latin typeface="Segoe UI" panose="020B0502040204020203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1536192"/>
            <a:ext cx="1828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 i="0">
                <a:solidFill>
                  <a:srgbClr val="F97316"/>
                </a:solidFill>
                <a:latin typeface="微软雅黑" panose="020B0503020204020204" charset="-122"/>
              </a:defRPr>
            </a:pPr>
            <a:r>
              <a:t>检测类别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92807"/>
            <a:ext cx="2331720" cy="1298448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12848"/>
            <a:ext cx="17830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2800" b="1" i="0">
                <a:solidFill>
                  <a:srgbClr val="F97316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fire</a:t>
            </a:r>
            <a:endParaRPr>
              <a:latin typeface="Segoe UI" panose="020B0502040204020203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761488"/>
            <a:ext cx="17830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400" b="0" i="0">
                <a:solidFill>
                  <a:srgbClr val="5D6B82"/>
                </a:solidFill>
                <a:latin typeface="微软雅黑" panose="020B0503020204020204" charset="-122"/>
              </a:defRPr>
            </a:pPr>
            <a:r>
              <a:t>火焰目标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2331720" cy="1298448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749039"/>
            <a:ext cx="17830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2800" b="1" i="0">
                <a:solidFill>
                  <a:srgbClr val="14B8A6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smoke</a:t>
            </a:r>
            <a:endParaRPr>
              <a:latin typeface="Segoe UI" panose="020B0502040204020203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17830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400" b="0" i="0">
                <a:solidFill>
                  <a:srgbClr val="5D6B82"/>
                </a:solidFill>
                <a:latin typeface="微软雅黑" panose="020B0503020204020204" charset="-122"/>
              </a:defRPr>
            </a:pPr>
            <a:r>
              <a:t>烟雾目标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1536192"/>
            <a:ext cx="1828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 i="0">
                <a:solidFill>
                  <a:srgbClr val="F97316"/>
                </a:solidFill>
                <a:latin typeface="微软雅黑" panose="020B0503020204020204" charset="-122"/>
              </a:defRPr>
            </a:pPr>
            <a:r>
              <a:t>数据组织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1892807"/>
            <a:ext cx="292608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41648" y="2212848"/>
            <a:ext cx="228600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000" b="1" i="0">
                <a:solidFill>
                  <a:srgbClr val="141F2D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data/</a:t>
            </a:r>
            <a:endParaRPr>
              <a:latin typeface="Segoe UI" panose="020B0502040204020203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41648" y="2697480"/>
            <a:ext cx="228600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600" b="0" i="0">
                <a:solidFill>
                  <a:srgbClr val="5D6B82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├─ train/</a:t>
            </a:r>
            <a:endParaRPr>
              <a:latin typeface="Segoe UI" panose="020B0502040204020203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041648" y="3035808"/>
            <a:ext cx="228600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600" b="0" i="0">
                <a:solidFill>
                  <a:srgbClr val="5D6B82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│  ├─ images/</a:t>
            </a:r>
            <a:endParaRPr>
              <a:latin typeface="Segoe UI" panose="020B0502040204020203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041648" y="3374136"/>
            <a:ext cx="228600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600" b="0" i="0">
                <a:solidFill>
                  <a:srgbClr val="5D6B82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│  └─ labels/</a:t>
            </a:r>
            <a:endParaRPr>
              <a:latin typeface="Segoe UI" panose="020B0502040204020203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41648" y="3712463"/>
            <a:ext cx="228600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600" b="0" i="0">
                <a:solidFill>
                  <a:srgbClr val="5D6B82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└─ val/</a:t>
            </a:r>
            <a:endParaRPr>
              <a:latin typeface="Segoe UI" panose="020B0502040204020203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041648" y="4050791"/>
            <a:ext cx="228600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600" b="0" i="0">
                <a:solidFill>
                  <a:srgbClr val="5D6B82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   ├─ images/</a:t>
            </a:r>
            <a:endParaRPr>
              <a:latin typeface="Segoe UI" panose="020B0502040204020203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041648" y="4389120"/>
            <a:ext cx="228600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600" b="0" i="0">
                <a:solidFill>
                  <a:srgbClr val="5D6B82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   └─ labels/</a:t>
            </a:r>
            <a:endParaRPr>
              <a:latin typeface="Segoe UI" panose="020B0502040204020203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06640" y="1536192"/>
            <a:ext cx="1828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 i="0">
                <a:solidFill>
                  <a:srgbClr val="F97316"/>
                </a:solidFill>
                <a:latin typeface="微软雅黑" panose="020B0503020204020204" charset="-122"/>
              </a:defRPr>
            </a:pPr>
            <a:r>
              <a:t>实验环境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1901952"/>
            <a:ext cx="406908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26096" y="2048256"/>
            <a:ext cx="14173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1" i="0">
                <a:solidFill>
                  <a:srgbClr val="5D6B82"/>
                </a:solidFill>
                <a:latin typeface="微软雅黑" panose="020B0503020204020204" charset="-122"/>
              </a:defRPr>
            </a:pPr>
            <a:r>
              <a:t>Python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039112"/>
            <a:ext cx="20116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 i="0">
                <a:solidFill>
                  <a:srgbClr val="141F2D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3.10</a:t>
            </a:r>
            <a:endParaRPr>
              <a:latin typeface="Segoe UI" panose="020B0502040204020203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406640" y="2615184"/>
            <a:ext cx="406908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6096" y="2761488"/>
            <a:ext cx="14173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1" i="0">
                <a:solidFill>
                  <a:srgbClr val="5D6B82"/>
                </a:solidFill>
                <a:latin typeface="微软雅黑" panose="020B0503020204020204" charset="-122"/>
              </a:defRPr>
            </a:pPr>
            <a:r>
              <a:t>深度学习框架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52344"/>
            <a:ext cx="20116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 i="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PyTorch + Torchvision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06640" y="3328416"/>
            <a:ext cx="406908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6096" y="3474720"/>
            <a:ext cx="14173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1" i="0">
                <a:solidFill>
                  <a:srgbClr val="5D6B82"/>
                </a:solidFill>
                <a:latin typeface="微软雅黑" panose="020B0503020204020204" charset="-122"/>
              </a:defRPr>
            </a:pPr>
            <a:r>
              <a:t>加速环境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465576"/>
            <a:ext cx="20116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 i="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CUDA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06640" y="4041648"/>
            <a:ext cx="406908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26096" y="4187952"/>
            <a:ext cx="14173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1" i="0">
                <a:solidFill>
                  <a:srgbClr val="5D6B82"/>
                </a:solidFill>
                <a:latin typeface="微软雅黑" panose="020B0503020204020204" charset="-122"/>
              </a:defRPr>
            </a:pPr>
            <a:r>
              <a:t>硬件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178808"/>
            <a:ext cx="20116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 i="0">
                <a:solidFill>
                  <a:srgbClr val="141F2D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NVIDIA GPU</a:t>
            </a:r>
            <a:endParaRPr>
              <a:latin typeface="Segoe UI" panose="020B0502040204020203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434072" y="4983480"/>
            <a:ext cx="3931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 i="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训练与评估均围绕 fire / smoke 两个类别展开。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2743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 i="0">
                <a:solidFill>
                  <a:srgbClr val="F97316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05 / TRAINING</a:t>
            </a:r>
            <a:endParaRPr>
              <a:latin typeface="Segoe UI" panose="020B0502040204020203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3100" b="1" i="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100 个 Epoch，观察损失与指标如何收敛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24712"/>
            <a:ext cx="1033272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0" i="0">
                <a:solidFill>
                  <a:srgbClr val="5D6B82"/>
                </a:solidFill>
                <a:latin typeface="微软雅黑" panose="020B0503020204020204" charset="-122"/>
              </a:defRPr>
            </a:pPr>
            <a:r>
              <a:t>训练曲线来自项目 results/training_curve.png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48463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0" i="0">
                <a:solidFill>
                  <a:srgbClr val="5D6B82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Fire Smoke Detection  ·  Project Report</a:t>
            </a:r>
            <a:endParaRPr>
              <a:latin typeface="Segoe UI" panose="020B0502040204020203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 i="0">
                <a:solidFill>
                  <a:srgbClr val="5D6B82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06 / 10</a:t>
            </a:r>
            <a:endParaRPr>
              <a:latin typeface="Segoe UI" panose="020B0502040204020203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2788920" cy="4480560"/>
          </a:xfrm>
          <a:prstGeom prst="round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74519"/>
            <a:ext cx="14630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 i="0">
                <a:solidFill>
                  <a:srgbClr val="FFEDD5"/>
                </a:solidFill>
                <a:latin typeface="微软雅黑" panose="020B0503020204020204" charset="-122"/>
              </a:defRPr>
            </a:pPr>
            <a:r>
              <a:t>训练配置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377440"/>
            <a:ext cx="13258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0" i="0">
                <a:solidFill>
                  <a:srgbClr val="B0C3D6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Epoch</a:t>
            </a:r>
            <a:endParaRPr>
              <a:latin typeface="Segoe UI" panose="020B0502040204020203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39696" y="2331720"/>
            <a:ext cx="10515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2100" b="1" i="0">
                <a:solidFill>
                  <a:srgbClr val="FFFFFF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100</a:t>
            </a:r>
            <a:endParaRPr>
              <a:latin typeface="Segoe UI" panose="020B0502040204020203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7552" y="3063240"/>
            <a:ext cx="13258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0" i="0">
                <a:solidFill>
                  <a:srgbClr val="B0C3D6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Batch size</a:t>
            </a:r>
            <a:endParaRPr>
              <a:latin typeface="Segoe UI" panose="020B0502040204020203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39696" y="3017520"/>
            <a:ext cx="10515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2100" b="1" i="0">
                <a:solidFill>
                  <a:srgbClr val="FFFFFF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8</a:t>
            </a:r>
            <a:endParaRPr>
              <a:latin typeface="Segoe UI" panose="020B0502040204020203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87552" y="3749039"/>
            <a:ext cx="13258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0" i="0">
                <a:solidFill>
                  <a:srgbClr val="B0C3D6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Optimizer</a:t>
            </a:r>
            <a:endParaRPr>
              <a:latin typeface="Segoe UI" panose="020B0502040204020203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39696" y="3703320"/>
            <a:ext cx="10515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2100" b="1" i="0">
                <a:solidFill>
                  <a:srgbClr val="FFFFFF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AdamW</a:t>
            </a:r>
            <a:endParaRPr>
              <a:latin typeface="Segoe UI" panose="020B0502040204020203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87552" y="4434840"/>
            <a:ext cx="13258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0" i="0">
                <a:solidFill>
                  <a:srgbClr val="B0C3D6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Learning rate</a:t>
            </a:r>
            <a:endParaRPr>
              <a:latin typeface="Segoe UI" panose="020B0502040204020203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39696" y="4389120"/>
            <a:ext cx="10515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2100" b="1" i="0">
                <a:solidFill>
                  <a:srgbClr val="FFFFFF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1e-4</a:t>
            </a:r>
            <a:endParaRPr>
              <a:latin typeface="Segoe UI" panose="020B0502040204020203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87552" y="5184648"/>
            <a:ext cx="2176272" cy="27432"/>
          </a:xfrm>
          <a:prstGeom prst="rect">
            <a:avLst/>
          </a:prstGeom>
          <a:solidFill>
            <a:srgbClr val="425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5440680"/>
            <a:ext cx="21488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0" i="0">
                <a:solidFill>
                  <a:srgbClr val="D8E2EC"/>
                </a:solidFill>
                <a:latin typeface="微软雅黑" panose="020B0503020204020204" charset="-122"/>
              </a:defRPr>
            </a:pPr>
            <a:r>
              <a:t>训练目标：降低损失，提升检测指标的稳定性。</a:t>
            </a:r>
          </a:p>
        </p:txBody>
      </p:sp>
      <p:pic>
        <p:nvPicPr>
          <p:cNvPr id="19" name="Picture 18" descr="training_cur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554480"/>
            <a:ext cx="6217920" cy="43858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2743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 i="0">
                <a:solidFill>
                  <a:srgbClr val="F97316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06 / RESULTS</a:t>
            </a:r>
            <a:endParaRPr>
              <a:latin typeface="Segoe UI" panose="020B0502040204020203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3100" b="1" i="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模型在验证集上取得可用的检测效果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24712"/>
            <a:ext cx="1033272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0" i="0">
                <a:solidFill>
                  <a:srgbClr val="5D6B82"/>
                </a:solidFill>
                <a:latin typeface="微软雅黑" panose="020B0503020204020204" charset="-122"/>
              </a:defRPr>
            </a:pPr>
            <a:r>
              <a:t>指标自动读取自 results/evaluation_results.json；mAP@0.5 以源文件实际值为准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48463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0" i="0">
                <a:solidFill>
                  <a:srgbClr val="5D6B82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Fire Smoke Detection  ·  Project Report</a:t>
            </a:r>
            <a:endParaRPr>
              <a:latin typeface="Segoe UI" panose="020B0502040204020203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 i="0">
                <a:solidFill>
                  <a:srgbClr val="5D6B82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07 / 10</a:t>
            </a:r>
            <a:endParaRPr>
              <a:latin typeface="Segoe UI" panose="020B0502040204020203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13232" y="1600200"/>
            <a:ext cx="23317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600200"/>
            <a:ext cx="73152" cy="1170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783080"/>
            <a:ext cx="19659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1" i="0">
                <a:solidFill>
                  <a:srgbClr val="5D6B82"/>
                </a:solidFill>
                <a:latin typeface="微软雅黑" panose="020B0503020204020204" charset="-122"/>
              </a:defRPr>
            </a:pPr>
            <a:r>
              <a:t>mAP@0.5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112264"/>
            <a:ext cx="19659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700" b="1" i="0">
                <a:solidFill>
                  <a:srgbClr val="141F2D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0.698624</a:t>
            </a:r>
            <a:endParaRPr>
              <a:latin typeface="Segoe UI" panose="020B0502040204020203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227832" y="1600200"/>
            <a:ext cx="25146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27832" y="1600200"/>
            <a:ext cx="73152" cy="1170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783080"/>
            <a:ext cx="21488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1" i="0">
                <a:solidFill>
                  <a:srgbClr val="5D6B82"/>
                </a:solidFill>
                <a:latin typeface="微软雅黑" panose="020B0503020204020204" charset="-122"/>
              </a:defRPr>
            </a:pPr>
            <a:r>
              <a:t>mAP@0.5:0.95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2112264"/>
            <a:ext cx="21488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700" b="1" i="0">
                <a:solidFill>
                  <a:srgbClr val="141F2D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0.362444</a:t>
            </a:r>
            <a:endParaRPr>
              <a:latin typeface="Segoe UI" panose="020B0502040204020203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925312" y="1600200"/>
            <a:ext cx="23317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25312" y="1600200"/>
            <a:ext cx="73152" cy="1170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3912" y="1783080"/>
            <a:ext cx="19659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1" i="0">
                <a:solidFill>
                  <a:srgbClr val="5D6B82"/>
                </a:solidFill>
                <a:latin typeface="微软雅黑" panose="020B0503020204020204" charset="-122"/>
              </a:defRPr>
            </a:pPr>
            <a:r>
              <a:t>Fire 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2112264"/>
            <a:ext cx="19659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700" b="1" i="0">
                <a:solidFill>
                  <a:srgbClr val="141F2D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0.781061</a:t>
            </a:r>
            <a:endParaRPr>
              <a:latin typeface="Segoe UI" panose="020B0502040204020203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439912" y="1600200"/>
            <a:ext cx="23317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39912" y="1600200"/>
            <a:ext cx="73152" cy="1170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68512" y="1783080"/>
            <a:ext cx="19659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1" i="0">
                <a:solidFill>
                  <a:srgbClr val="5D6B82"/>
                </a:solidFill>
                <a:latin typeface="微软雅黑" panose="020B0503020204020204" charset="-122"/>
              </a:defRPr>
            </a:pPr>
            <a:r>
              <a:t>Smoke 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8512" y="2112264"/>
            <a:ext cx="19659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700" b="1" i="0">
                <a:solidFill>
                  <a:srgbClr val="141F2D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0.616186</a:t>
            </a:r>
            <a:endParaRPr>
              <a:latin typeface="Segoe UI" panose="020B0502040204020203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1520" y="3154680"/>
            <a:ext cx="1828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 i="0">
                <a:solidFill>
                  <a:srgbClr val="F97316"/>
                </a:solidFill>
                <a:latin typeface="微软雅黑" panose="020B0503020204020204" charset="-122"/>
              </a:defRPr>
            </a:pPr>
            <a:r>
              <a:t>分类 AP@0.5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657599"/>
            <a:ext cx="10058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 i="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fire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01367" y="3675887"/>
            <a:ext cx="4160520" cy="201168"/>
          </a:xfrm>
          <a:prstGeom prst="round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801367" y="3675887"/>
            <a:ext cx="3249621" cy="20116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71616" y="3639311"/>
            <a:ext cx="100584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1" i="0">
                <a:solidFill>
                  <a:srgbClr val="141F2D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0.781061</a:t>
            </a:r>
            <a:endParaRPr>
              <a:latin typeface="Segoe UI" panose="020B0502040204020203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49808" y="4306824"/>
            <a:ext cx="10058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 i="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smoke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01367" y="4325112"/>
            <a:ext cx="4160520" cy="201168"/>
          </a:xfrm>
          <a:prstGeom prst="round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801367" y="4325112"/>
            <a:ext cx="2563656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71616" y="4288536"/>
            <a:ext cx="100584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1" i="0">
                <a:solidFill>
                  <a:srgbClr val="141F2D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0.616186</a:t>
            </a:r>
            <a:endParaRPr>
              <a:latin typeface="Segoe UI" panose="020B0502040204020203" charset="0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897880" y="3154680"/>
            <a:ext cx="4892040" cy="2011680"/>
          </a:xfrm>
          <a:prstGeom prst="round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9632" y="3456432"/>
            <a:ext cx="164592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 i="0">
                <a:solidFill>
                  <a:srgbClr val="FFEDD5"/>
                </a:solidFill>
                <a:latin typeface="微软雅黑" panose="020B0503020204020204" charset="-122"/>
              </a:defRPr>
            </a:pPr>
            <a:r>
              <a:t>速度与规模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2" y="3858768"/>
            <a:ext cx="182880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5.80</a:t>
            </a:r>
            <a:endParaRPr>
              <a:latin typeface="Segoe UI" panose="020B0502040204020203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019288" y="4050791"/>
            <a:ext cx="11430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0" i="0">
                <a:solidFill>
                  <a:srgbClr val="B7CADC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ms / image</a:t>
            </a:r>
            <a:endParaRPr>
              <a:latin typeface="Segoe UI" panose="020B0502040204020203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217920" y="4736592"/>
            <a:ext cx="4069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0" i="0">
                <a:solidFill>
                  <a:srgbClr val="CFDCE8"/>
                </a:solidFill>
                <a:latin typeface="微软雅黑" panose="020B0503020204020204" charset="-122"/>
              </a:defRPr>
            </a:pPr>
            <a:r>
              <a:t>验证图像 3099 张   ·   预测框 5552 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5349240"/>
            <a:ext cx="8046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700" b="1" i="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结论：fire 的 AP 高于 smoke，烟雾识别仍是优先优化对象。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2743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 i="0">
                <a:solidFill>
                  <a:srgbClr val="F97316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07 / DELIVERY</a:t>
            </a:r>
            <a:endParaRPr>
              <a:latin typeface="Segoe UI" panose="020B0502040204020203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3100" b="1" i="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从实验脚本到可复用工程，项目链路已经闭环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24712"/>
            <a:ext cx="1033272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0" i="0">
                <a:solidFill>
                  <a:srgbClr val="5D6B82"/>
                </a:solidFill>
                <a:latin typeface="微软雅黑" panose="020B0503020204020204" charset="-122"/>
              </a:defRPr>
            </a:pPr>
            <a:r>
              <a:t>训练、评估、可视化与仓库整理均形成明确入口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48463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0" i="0">
                <a:solidFill>
                  <a:srgbClr val="5D6B82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Fire Smoke Detection  ·  Project Report</a:t>
            </a:r>
            <a:endParaRPr>
              <a:latin typeface="Segoe UI" panose="020B0502040204020203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 i="0">
                <a:solidFill>
                  <a:srgbClr val="5D6B82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08 / 10</a:t>
            </a:r>
            <a:endParaRPr>
              <a:latin typeface="Segoe UI" panose="020B0502040204020203" charset="0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2880360" y="2788920"/>
            <a:ext cx="868679" cy="0"/>
          </a:xfrm>
          <a:prstGeom prst="line">
            <a:avLst/>
          </a:prstGeom>
          <a:ln w="29209">
            <a:solidFill>
              <a:srgbClr val="DE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513831" y="2788920"/>
            <a:ext cx="868681" cy="0"/>
          </a:xfrm>
          <a:prstGeom prst="line">
            <a:avLst/>
          </a:prstGeom>
          <a:ln w="29209">
            <a:solidFill>
              <a:srgbClr val="DE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147304" y="2788920"/>
            <a:ext cx="868680" cy="0"/>
          </a:xfrm>
          <a:prstGeom prst="line">
            <a:avLst/>
          </a:prstGeom>
          <a:ln w="29209">
            <a:solidFill>
              <a:srgbClr val="DE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41248" y="2103120"/>
            <a:ext cx="1078992" cy="107899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441448"/>
            <a:ext cx="107899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01</a:t>
            </a:r>
            <a:endParaRPr>
              <a:latin typeface="Segoe UI" panose="020B0502040204020203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3529584"/>
            <a:ext cx="148132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900" b="1" i="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模型训练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3986784"/>
            <a:ext cx="1901952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300" b="0" i="0">
                <a:solidFill>
                  <a:srgbClr val="5D6B82"/>
                </a:solidFill>
                <a:latin typeface="微软雅黑" panose="020B0503020204020204" charset="-122"/>
              </a:defRPr>
            </a:pPr>
            <a:r>
              <a:t>完成 100 Epoch 训练</a:t>
            </a:r>
          </a:p>
        </p:txBody>
      </p:sp>
      <p:sp>
        <p:nvSpPr>
          <p:cNvPr id="14" name="Oval 13"/>
          <p:cNvSpPr/>
          <p:nvPr/>
        </p:nvSpPr>
        <p:spPr>
          <a:xfrm>
            <a:off x="3474720" y="2103120"/>
            <a:ext cx="1078992" cy="107899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441448"/>
            <a:ext cx="107899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02</a:t>
            </a:r>
            <a:endParaRPr>
              <a:latin typeface="Segoe UI" panose="020B0502040204020203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73551" y="3529584"/>
            <a:ext cx="148132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900" b="1" i="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自动评估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39" y="3986784"/>
            <a:ext cx="1901952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300" b="0" i="0">
                <a:solidFill>
                  <a:srgbClr val="5D6B82"/>
                </a:solidFill>
                <a:latin typeface="微软雅黑" panose="020B0503020204020204" charset="-122"/>
              </a:defRPr>
            </a:pPr>
            <a:r>
              <a:t>输出 mAP 与分类 AP</a:t>
            </a:r>
          </a:p>
        </p:txBody>
      </p:sp>
      <p:sp>
        <p:nvSpPr>
          <p:cNvPr id="18" name="Oval 17"/>
          <p:cNvSpPr/>
          <p:nvPr/>
        </p:nvSpPr>
        <p:spPr>
          <a:xfrm>
            <a:off x="6108192" y="2103120"/>
            <a:ext cx="1078992" cy="107899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8192" y="2441448"/>
            <a:ext cx="107899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03</a:t>
            </a:r>
            <a:endParaRPr>
              <a:latin typeface="Segoe UI" panose="020B0502040204020203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07024" y="3529584"/>
            <a:ext cx="148132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900" b="1" i="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结果可视化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96712" y="3986784"/>
            <a:ext cx="1901952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300" b="0" i="0">
                <a:solidFill>
                  <a:srgbClr val="5D6B82"/>
                </a:solidFill>
                <a:latin typeface="微软雅黑" panose="020B0503020204020204" charset="-122"/>
              </a:defRPr>
            </a:pPr>
            <a:r>
              <a:t>生成 loss / 指标曲线</a:t>
            </a:r>
          </a:p>
        </p:txBody>
      </p:sp>
      <p:sp>
        <p:nvSpPr>
          <p:cNvPr id="22" name="Oval 21"/>
          <p:cNvSpPr/>
          <p:nvPr/>
        </p:nvSpPr>
        <p:spPr>
          <a:xfrm>
            <a:off x="8741664" y="2103120"/>
            <a:ext cx="1078992" cy="107899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41664" y="2441448"/>
            <a:ext cx="107899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04</a:t>
            </a:r>
            <a:endParaRPr>
              <a:latin typeface="Segoe UI" panose="020B0502040204020203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540496" y="3529584"/>
            <a:ext cx="148132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900" b="1" i="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工程整理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4" y="3986784"/>
            <a:ext cx="1901952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300" b="0" i="0">
                <a:solidFill>
                  <a:srgbClr val="5D6B82"/>
                </a:solidFill>
                <a:latin typeface="微软雅黑" panose="020B0503020204020204" charset="-122"/>
              </a:defRPr>
            </a:pPr>
            <a:r>
              <a:t>形成 GitHub 目录结构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57400" y="5120640"/>
            <a:ext cx="8092440" cy="612648"/>
          </a:xfrm>
          <a:prstGeom prst="round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04288" y="5303520"/>
            <a:ext cx="75895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成果不是一个模型文件，而是一条可以复现、评估、解释的实验流程。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2743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 i="0">
                <a:solidFill>
                  <a:srgbClr val="F97316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08 / LEARNINGS</a:t>
            </a:r>
            <a:endParaRPr>
              <a:latin typeface="Segoe UI" panose="020B0502040204020203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3100" b="1" i="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工程化的难点，最终都转化为可复用的约束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24712"/>
            <a:ext cx="1033272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0" i="0">
                <a:solidFill>
                  <a:srgbClr val="5D6B82"/>
                </a:solidFill>
                <a:latin typeface="微软雅黑" panose="020B0503020204020204" charset="-122"/>
              </a:defRPr>
            </a:pPr>
            <a:r>
              <a:t>问题解决过程决定了项目能否从“跑通”走向“可交付”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48463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0" i="0">
                <a:solidFill>
                  <a:srgbClr val="5D6B82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Fire Smoke Detection  ·  Project Report</a:t>
            </a:r>
            <a:endParaRPr>
              <a:latin typeface="Segoe UI" panose="020B0502040204020203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 i="0">
                <a:solidFill>
                  <a:srgbClr val="5D6B82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09 / 10</a:t>
            </a:r>
            <a:endParaRPr>
              <a:latin typeface="Segoe UI" panose="020B0502040204020203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13232" y="1536192"/>
            <a:ext cx="4892040" cy="4462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536192"/>
            <a:ext cx="5532120" cy="4462272"/>
          </a:xfrm>
          <a:prstGeom prst="round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847088"/>
            <a:ext cx="1920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600" b="1" i="0">
                <a:solidFill>
                  <a:srgbClr val="F97316"/>
                </a:solidFill>
                <a:latin typeface="微软雅黑" panose="020B0503020204020204" charset="-122"/>
              </a:defRPr>
            </a:pPr>
            <a:r>
              <a:t>遇到的问题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2784" y="1847088"/>
            <a:ext cx="21945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600" b="1" i="0">
                <a:solidFill>
                  <a:srgbClr val="FFEDD5"/>
                </a:solidFill>
                <a:latin typeface="微软雅黑" panose="020B0503020204020204" charset="-122"/>
              </a:defRPr>
            </a:pPr>
            <a:r>
              <a:t>对应的解决思路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377440"/>
            <a:ext cx="4251960" cy="457200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3584" y="2505456"/>
            <a:ext cx="3794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 i="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CUDA 环境配置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2350008"/>
            <a:ext cx="47091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0" i="0">
                <a:solidFill>
                  <a:srgbClr val="DEE7F0"/>
                </a:solidFill>
                <a:latin typeface="微软雅黑" panose="020B0503020204020204" charset="-122"/>
              </a:defRPr>
            </a:pPr>
            <a:r>
              <a:t>确认 PyTorch / Torchvision / CUDA 版本与 GPU 可用性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163824"/>
            <a:ext cx="4251960" cy="457200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43584" y="3291840"/>
            <a:ext cx="3794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 i="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数据路径管理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3136392"/>
            <a:ext cx="47091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0" i="0">
                <a:solidFill>
                  <a:srgbClr val="DEE7F0"/>
                </a:solidFill>
                <a:latin typeface="微软雅黑" panose="020B0503020204020204" charset="-122"/>
              </a:defRPr>
            </a:pPr>
            <a:r>
              <a:t>统一根目录 data/ 约定，脚本使用绝对项目路径推导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950208"/>
            <a:ext cx="4251960" cy="457200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43584" y="4078224"/>
            <a:ext cx="3794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 i="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模型评估接口设计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3922776"/>
            <a:ext cx="47091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0" i="0">
                <a:solidFill>
                  <a:srgbClr val="DEE7F0"/>
                </a:solidFill>
                <a:latin typeface="微软雅黑" panose="020B0503020204020204" charset="-122"/>
              </a:defRPr>
            </a:pPr>
            <a:r>
              <a:t>独立 evaluate.py，统一输出 mAP、AP 与推理速度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736592"/>
            <a:ext cx="4251960" cy="457200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3584" y="4864607"/>
            <a:ext cx="3794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 i="0">
                <a:solidFill>
                  <a:srgbClr val="141F2D"/>
                </a:solidFill>
                <a:latin typeface="微软雅黑" panose="020B0503020204020204" charset="-122"/>
              </a:defRPr>
            </a:pPr>
            <a:r>
              <a:t>GitHub 工程化整理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4709159"/>
            <a:ext cx="47091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0" i="0">
                <a:solidFill>
                  <a:srgbClr val="DEE7F0"/>
                </a:solidFill>
                <a:latin typeface="微软雅黑" panose="020B0503020204020204" charset="-122"/>
              </a:defRPr>
            </a:pPr>
            <a:r>
              <a:t>拆分 src / results / weights，并用 .gitignore 控制大文件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2743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 i="0">
                <a:solidFill>
                  <a:srgbClr val="FFEDD5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09 / NEXT</a:t>
            </a:r>
            <a:endParaRPr>
              <a:latin typeface="Segoe UI" panose="020B0502040204020203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31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下一步：让模型更稳、更快，也更接近真实部署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24712"/>
            <a:ext cx="1033272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0" i="0">
                <a:solidFill>
                  <a:srgbClr val="D0DAE7"/>
                </a:solidFill>
                <a:latin typeface="微软雅黑" panose="020B0503020204020204" charset="-122"/>
              </a:defRPr>
            </a:pPr>
            <a:r>
              <a:t>围绕数据、参数、模型与系统四个层面继续迭代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48463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0" i="0">
                <a:solidFill>
                  <a:srgbClr val="B6C1D1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Fire Smoke Detection  ·  Project Report</a:t>
            </a:r>
            <a:endParaRPr>
              <a:latin typeface="Segoe UI" panose="020B0502040204020203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 i="0">
                <a:solidFill>
                  <a:srgbClr val="B6C1D1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10 / 10</a:t>
            </a:r>
            <a:endParaRPr>
              <a:latin typeface="Segoe UI" panose="020B0502040204020203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2331720" cy="1874519"/>
          </a:xfrm>
          <a:prstGeom prst="roundRect">
            <a:avLst/>
          </a:prstGeom>
          <a:solidFill>
            <a:srgbClr val="121E30"/>
          </a:solidFill>
          <a:ln w="12700">
            <a:solidFill>
              <a:srgbClr val="3B4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11680"/>
            <a:ext cx="233172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50008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600" b="1" i="0">
                <a:solidFill>
                  <a:srgbClr val="F97316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01</a:t>
            </a:r>
            <a:endParaRPr>
              <a:latin typeface="Segoe UI" panose="020B0502040204020203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187451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数据增强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37560"/>
            <a:ext cx="1874519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0" i="0">
                <a:solidFill>
                  <a:srgbClr val="BACCDE"/>
                </a:solidFill>
                <a:latin typeface="微软雅黑" panose="020B0503020204020204" charset="-122"/>
              </a:defRPr>
            </a:pPr>
            <a:r>
              <a:t>扩展场景与样本多样性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30168" y="2011680"/>
            <a:ext cx="2331720" cy="1874519"/>
          </a:xfrm>
          <a:prstGeom prst="roundRect">
            <a:avLst/>
          </a:prstGeom>
          <a:solidFill>
            <a:srgbClr val="121E30"/>
          </a:solidFill>
          <a:ln w="12700">
            <a:solidFill>
              <a:srgbClr val="3B4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30168" y="2011680"/>
            <a:ext cx="233172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8768" y="2350008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600" b="1" i="0">
                <a:solidFill>
                  <a:srgbClr val="14B8A6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02</a:t>
            </a:r>
            <a:endParaRPr>
              <a:latin typeface="Segoe UI" panose="020B0502040204020203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58768" y="2834640"/>
            <a:ext cx="187451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参数调优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3337560"/>
            <a:ext cx="1874519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0" i="0">
                <a:solidFill>
                  <a:srgbClr val="BACCDE"/>
                </a:solidFill>
                <a:latin typeface="微软雅黑" panose="020B0503020204020204" charset="-122"/>
              </a:defRPr>
            </a:pPr>
            <a:r>
              <a:t>围绕 smoke 类别提升稳定性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83096" y="2011680"/>
            <a:ext cx="2331720" cy="1874519"/>
          </a:xfrm>
          <a:prstGeom prst="roundRect">
            <a:avLst/>
          </a:prstGeom>
          <a:solidFill>
            <a:srgbClr val="121E30"/>
          </a:solidFill>
          <a:ln w="12700">
            <a:solidFill>
              <a:srgbClr val="3B4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83096" y="2011680"/>
            <a:ext cx="233172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11696" y="2350008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600" b="1" i="0">
                <a:solidFill>
                  <a:srgbClr val="4F46E5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03</a:t>
            </a:r>
            <a:endParaRPr>
              <a:latin typeface="Segoe UI" panose="020B0502040204020203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11696" y="2834640"/>
            <a:ext cx="187451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模型对比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1696" y="3337560"/>
            <a:ext cx="1874519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0" i="0">
                <a:solidFill>
                  <a:srgbClr val="BACCDE"/>
                </a:solidFill>
                <a:latin typeface="微软雅黑" panose="020B0503020204020204" charset="-122"/>
              </a:defRPr>
            </a:pPr>
            <a:r>
              <a:t>引入 YOLO 系列作为基线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6024" y="2011680"/>
            <a:ext cx="2331720" cy="1874519"/>
          </a:xfrm>
          <a:prstGeom prst="roundRect">
            <a:avLst/>
          </a:prstGeom>
          <a:solidFill>
            <a:srgbClr val="121E30"/>
          </a:solidFill>
          <a:ln w="12700">
            <a:solidFill>
              <a:srgbClr val="3B4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36024" y="2011680"/>
            <a:ext cx="2331720" cy="7315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64624" y="2350008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600" b="1" i="0">
                <a:solidFill>
                  <a:srgbClr val="EAB308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04</a:t>
            </a:r>
            <a:endParaRPr>
              <a:latin typeface="Segoe UI" panose="020B0502040204020203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564624" y="2834640"/>
            <a:ext cx="187451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模型部署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64624" y="3337560"/>
            <a:ext cx="1874519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0" i="0">
                <a:solidFill>
                  <a:srgbClr val="BACCDE"/>
                </a:solidFill>
                <a:latin typeface="微软雅黑" panose="020B0503020204020204" charset="-122"/>
              </a:defRPr>
            </a:pPr>
            <a:r>
              <a:t>面向边缘设备优化推理链路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617720"/>
            <a:ext cx="12801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 i="0">
                <a:solidFill>
                  <a:srgbClr val="FFEDD5"/>
                </a:solidFill>
                <a:latin typeface="微软雅黑" panose="020B0503020204020204" charset="-122"/>
              </a:defRPr>
            </a:pPr>
            <a:r>
              <a:t>最终目标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010912"/>
            <a:ext cx="9875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让检测结果从实验指标，走向真实场景中的及时预警。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669280"/>
            <a:ext cx="99669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0" i="0">
                <a:solidFill>
                  <a:srgbClr val="AEC2D6"/>
                </a:solidFill>
                <a:latin typeface="Aptos"/>
              </a:defRPr>
            </a:pPr>
            <a:r>
              <a:rPr>
                <a:latin typeface="Segoe UI" panose="020B0502040204020203" charset="0"/>
              </a:rPr>
              <a:t>MobileNetV2 + Faster R-CNN  ·  Fire / Smoke  ·  Detect earlier, respond sooner</a:t>
            </a:r>
            <a:endParaRPr>
              <a:latin typeface="Segoe UI" panose="020B0502040204020203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2625</Words>
  <Application>WPS 演示</Application>
  <PresentationFormat>On-screen Show (4:3)</PresentationFormat>
  <Paragraphs>366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Arial</vt:lpstr>
      <vt:lpstr>Aptos</vt:lpstr>
      <vt:lpstr>Segoe UI</vt:lpstr>
      <vt:lpstr>微软雅黑</vt:lpstr>
      <vt:lpstr>Calibri</vt:lpstr>
      <vt:lpstr>Arial Unicode MS</vt:lpstr>
      <vt:lpstr>Aptos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 Smoke Detection Project Report</dc:title>
  <dc:creator/>
  <dc:description>generated using python-pptx</dc:description>
  <dc:subject>MobileNetV2 + Faster R-CNN 火焰与烟雾目标检测项目汇报</dc:subject>
  <cp:lastModifiedBy>Todd</cp:lastModifiedBy>
  <cp:revision>2</cp:revision>
  <dcterms:created xsi:type="dcterms:W3CDTF">2013-01-27T09:14:00Z</dcterms:created>
  <dcterms:modified xsi:type="dcterms:W3CDTF">2026-07-22T03:31:59Z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36491F2B95ED48C09B1D3A382D0B2756_12</vt:lpwstr>
  </property>
  <property fmtid="{D5CDD505-2E9C-101B-9397-08002B2CF9AE}" pid="3" name="KSOProductBuildVer">
    <vt:lpwstr>2052-12.1.0.26391</vt:lpwstr>
  </property>
</Properties>
</file>