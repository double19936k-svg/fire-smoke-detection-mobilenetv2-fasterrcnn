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0132a0ef774409" /><Relationship Type="http://schemas.openxmlformats.org/officeDocument/2006/relationships/extended-properties" Target="/docProps/app.xml" Id="Rc5cd78a8565b44e9" /><Relationship Type="http://schemas.openxmlformats.org/officeDocument/2006/relationships/officeDocument" Target="/ppt/presentation.xml" Id="Rad583c6b3c6748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25120468154f56"/>
  </p:sldMasterIdLst>
  <p:notesMasterIdLst>
    <p:notesMasterId xmlns:r="http://schemas.openxmlformats.org/officeDocument/2006/relationships" r:id="R7b83ebb7d14f4acd"/>
  </p:notesMasterIdLst>
  <p:sldIdLst>
    <p:sldId xmlns:r="http://schemas.openxmlformats.org/officeDocument/2006/relationships" id="256" r:id="R31ecaccc87f143a0"/>
    <p:sldId xmlns:r="http://schemas.openxmlformats.org/officeDocument/2006/relationships" id="257" r:id="Rce93d188c89a45b7"/>
    <p:sldId xmlns:r="http://schemas.openxmlformats.org/officeDocument/2006/relationships" id="258" r:id="R78848bc7c5b7409e"/>
    <p:sldId xmlns:r="http://schemas.openxmlformats.org/officeDocument/2006/relationships" id="259" r:id="Rb9db56278618412e"/>
    <p:sldId xmlns:r="http://schemas.openxmlformats.org/officeDocument/2006/relationships" id="260" r:id="R9b224f81896346ee"/>
    <p:sldId xmlns:r="http://schemas.openxmlformats.org/officeDocument/2006/relationships" id="261" r:id="R39d23234f9994735"/>
    <p:sldId xmlns:r="http://schemas.openxmlformats.org/officeDocument/2006/relationships" id="262" r:id="R19e634391a43451f"/>
    <p:sldId xmlns:r="http://schemas.openxmlformats.org/officeDocument/2006/relationships" id="263" r:id="R5788cb70d3554a89"/>
    <p:sldId xmlns:r="http://schemas.openxmlformats.org/officeDocument/2006/relationships" id="264" r:id="R4e66d15a66ab4155"/>
    <p:sldId xmlns:r="http://schemas.openxmlformats.org/officeDocument/2006/relationships" id="265" r:id="Rcb9df10e7d32487f"/>
    <p:sldId xmlns:r="http://schemas.openxmlformats.org/officeDocument/2006/relationships" id="266" r:id="R17316a7ad1a74ab9"/>
    <p:sldId xmlns:r="http://schemas.openxmlformats.org/officeDocument/2006/relationships" id="267" r:id="Re1199b3fab0e483b"/>
    <p:sldId xmlns:r="http://schemas.openxmlformats.org/officeDocument/2006/relationships" id="268" r:id="R5162c6172149492b"/>
    <p:sldId xmlns:r="http://schemas.openxmlformats.org/officeDocument/2006/relationships" id="269" r:id="Re2d52c43d47a423a"/>
    <p:sldId xmlns:r="http://schemas.openxmlformats.org/officeDocument/2006/relationships" id="270" r:id="Rf16f5181b71d420b"/>
    <p:sldId xmlns:r="http://schemas.openxmlformats.org/officeDocument/2006/relationships" id="271" r:id="Rb6b91499de014df1"/>
    <p:sldId xmlns:r="http://schemas.openxmlformats.org/officeDocument/2006/relationships" id="272" r:id="Rb3bd636092b5467a"/>
    <p:sldId xmlns:r="http://schemas.openxmlformats.org/officeDocument/2006/relationships" id="273" r:id="R9f502a8460eb4e66"/>
    <p:sldId xmlns:r="http://schemas.openxmlformats.org/officeDocument/2006/relationships" id="274" r:id="R769270ce856b42dc"/>
    <p:sldId xmlns:r="http://schemas.openxmlformats.org/officeDocument/2006/relationships" id="275" r:id="Rfaf25efd38d54258"/>
    <p:sldId xmlns:r="http://schemas.openxmlformats.org/officeDocument/2006/relationships" id="276" r:id="Rcfb743d3371b4e2a"/>
    <p:sldId xmlns:r="http://schemas.openxmlformats.org/officeDocument/2006/relationships" id="277" r:id="R6b1a3c7555ab4981"/>
    <p:sldId xmlns:r="http://schemas.openxmlformats.org/officeDocument/2006/relationships" id="278" r:id="R9e52e169f0bb493d"/>
    <p:sldId xmlns:r="http://schemas.openxmlformats.org/officeDocument/2006/relationships" id="279" r:id="Rf4938241335b401a"/>
    <p:sldId xmlns:r="http://schemas.openxmlformats.org/officeDocument/2006/relationships" id="280" r:id="Rb5b49815f5154e2c"/>
    <p:sldId xmlns:r="http://schemas.openxmlformats.org/officeDocument/2006/relationships" id="281" r:id="R26431c71ef814575"/>
    <p:sldId xmlns:r="http://schemas.openxmlformats.org/officeDocument/2006/relationships" id="282" r:id="R61534bf7e5a44848"/>
    <p:sldId xmlns:r="http://schemas.openxmlformats.org/officeDocument/2006/relationships" id="283" r:id="R257aedce56eb4a63"/>
    <p:sldId xmlns:r="http://schemas.openxmlformats.org/officeDocument/2006/relationships" id="284" r:id="R6ba574b09ad54a62"/>
    <p:sldId xmlns:r="http://schemas.openxmlformats.org/officeDocument/2006/relationships" id="285" r:id="R807bfa5489334d78"/>
    <p:sldId xmlns:r="http://schemas.openxmlformats.org/officeDocument/2006/relationships" id="286" r:id="R4945902e78d54a07"/>
    <p:sldId xmlns:r="http://schemas.openxmlformats.org/officeDocument/2006/relationships" id="287" r:id="R07b2b8a5024b4a6e"/>
    <p:sldId xmlns:r="http://schemas.openxmlformats.org/officeDocument/2006/relationships" id="288" r:id="Ree2a5edd58114967"/>
    <p:sldId xmlns:r="http://schemas.openxmlformats.org/officeDocument/2006/relationships" id="289" r:id="R43462860850b4769"/>
    <p:sldId xmlns:r="http://schemas.openxmlformats.org/officeDocument/2006/relationships" id="290" r:id="Re2c896806b6c4034"/>
    <p:sldId xmlns:r="http://schemas.openxmlformats.org/officeDocument/2006/relationships" id="291" r:id="R8865c2ce276847e8"/>
    <p:sldId xmlns:r="http://schemas.openxmlformats.org/officeDocument/2006/relationships" id="292" r:id="Rba78b3b199b24394"/>
    <p:sldId xmlns:r="http://schemas.openxmlformats.org/officeDocument/2006/relationships" id="293" r:id="R73b5238196294a28"/>
    <p:sldId xmlns:r="http://schemas.openxmlformats.org/officeDocument/2006/relationships" id="294" r:id="R9d9c269ea28d4151"/>
    <p:sldId xmlns:r="http://schemas.openxmlformats.org/officeDocument/2006/relationships" id="295" r:id="Rb4323dce512c4fe6"/>
    <p:sldId xmlns:r="http://schemas.openxmlformats.org/officeDocument/2006/relationships" id="296" r:id="R51c8433855244552"/>
    <p:sldId xmlns:r="http://schemas.openxmlformats.org/officeDocument/2006/relationships" id="297" r:id="R4ebbfe1b7fd744b8"/>
    <p:sldId xmlns:r="http://schemas.openxmlformats.org/officeDocument/2006/relationships" id="298" r:id="R51d83c648ae44619"/>
    <p:sldId xmlns:r="http://schemas.openxmlformats.org/officeDocument/2006/relationships" id="299" r:id="R31dc6f368d864a75"/>
    <p:sldId xmlns:r="http://schemas.openxmlformats.org/officeDocument/2006/relationships" id="300" r:id="R6b4fda90a065405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27339fb05049ae" /><Relationship Type="http://schemas.openxmlformats.org/officeDocument/2006/relationships/slideMaster" Target="/ppt/slideMasters/slideMaster1.xml" Id="Rff25120468154f56" /><Relationship Type="http://schemas.openxmlformats.org/officeDocument/2006/relationships/notesMaster" Target="/ppt/notesMasters/notesMaster1.xml" Id="R7b83ebb7d14f4acd" /><Relationship Type="http://schemas.openxmlformats.org/officeDocument/2006/relationships/presProps" Target="/ppt/presProps.xml" Id="R07017514808e43ae" /><Relationship Type="http://schemas.openxmlformats.org/officeDocument/2006/relationships/tableStyles" Target="/ppt/tableStyles.xml" Id="R6176d7c6eaf044fd" /><Relationship Type="http://schemas.openxmlformats.org/officeDocument/2006/relationships/slide" Target="/ppt/slides/slide1.xml" Id="R31ecaccc87f143a0" /><Relationship Type="http://schemas.openxmlformats.org/officeDocument/2006/relationships/slide" Target="/ppt/slides/slide2.xml" Id="Rce93d188c89a45b7" /><Relationship Type="http://schemas.openxmlformats.org/officeDocument/2006/relationships/slide" Target="/ppt/slides/slide3.xml" Id="R78848bc7c5b7409e" /><Relationship Type="http://schemas.openxmlformats.org/officeDocument/2006/relationships/slide" Target="/ppt/slides/slide4.xml" Id="Rb9db56278618412e" /><Relationship Type="http://schemas.openxmlformats.org/officeDocument/2006/relationships/slide" Target="/ppt/slides/slide5.xml" Id="R9b224f81896346ee" /><Relationship Type="http://schemas.openxmlformats.org/officeDocument/2006/relationships/slide" Target="/ppt/slides/slide6.xml" Id="R39d23234f9994735" /><Relationship Type="http://schemas.openxmlformats.org/officeDocument/2006/relationships/slide" Target="/ppt/slides/slide7.xml" Id="R19e634391a43451f" /><Relationship Type="http://schemas.openxmlformats.org/officeDocument/2006/relationships/slide" Target="/ppt/slides/slide8.xml" Id="R5788cb70d3554a89" /><Relationship Type="http://schemas.openxmlformats.org/officeDocument/2006/relationships/slide" Target="/ppt/slides/slide9.xml" Id="R4e66d15a66ab4155" /><Relationship Type="http://schemas.openxmlformats.org/officeDocument/2006/relationships/slide" Target="/ppt/slides/slide10.xml" Id="Rcb9df10e7d32487f" /><Relationship Type="http://schemas.openxmlformats.org/officeDocument/2006/relationships/slide" Target="/ppt/slides/slide11.xml" Id="R17316a7ad1a74ab9" /><Relationship Type="http://schemas.openxmlformats.org/officeDocument/2006/relationships/slide" Target="/ppt/slides/slide12.xml" Id="Re1199b3fab0e483b" /><Relationship Type="http://schemas.openxmlformats.org/officeDocument/2006/relationships/slide" Target="/ppt/slides/slide13.xml" Id="R5162c6172149492b" /><Relationship Type="http://schemas.openxmlformats.org/officeDocument/2006/relationships/slide" Target="/ppt/slides/slide14.xml" Id="Re2d52c43d47a423a" /><Relationship Type="http://schemas.openxmlformats.org/officeDocument/2006/relationships/slide" Target="/ppt/slides/slide15.xml" Id="Rf16f5181b71d420b" /><Relationship Type="http://schemas.openxmlformats.org/officeDocument/2006/relationships/slide" Target="/ppt/slides/slide16.xml" Id="Rb6b91499de014df1" /><Relationship Type="http://schemas.openxmlformats.org/officeDocument/2006/relationships/slide" Target="/ppt/slides/slide17.xml" Id="Rb3bd636092b5467a" /><Relationship Type="http://schemas.openxmlformats.org/officeDocument/2006/relationships/slide" Target="/ppt/slides/slide18.xml" Id="R9f502a8460eb4e66" /><Relationship Type="http://schemas.openxmlformats.org/officeDocument/2006/relationships/slide" Target="/ppt/slides/slide19.xml" Id="R769270ce856b42dc" /><Relationship Type="http://schemas.openxmlformats.org/officeDocument/2006/relationships/slide" Target="/ppt/slides/slide20.xml" Id="Rfaf25efd38d54258" /><Relationship Type="http://schemas.openxmlformats.org/officeDocument/2006/relationships/slide" Target="/ppt/slides/slide21.xml" Id="Rcfb743d3371b4e2a" /><Relationship Type="http://schemas.openxmlformats.org/officeDocument/2006/relationships/slide" Target="/ppt/slides/slide22.xml" Id="R6b1a3c7555ab4981" /><Relationship Type="http://schemas.openxmlformats.org/officeDocument/2006/relationships/slide" Target="/ppt/slides/slide23.xml" Id="R9e52e169f0bb493d" /><Relationship Type="http://schemas.openxmlformats.org/officeDocument/2006/relationships/slide" Target="/ppt/slides/slide24.xml" Id="Rf4938241335b401a" /><Relationship Type="http://schemas.openxmlformats.org/officeDocument/2006/relationships/slide" Target="/ppt/slides/slide25.xml" Id="Rb5b49815f5154e2c" /><Relationship Type="http://schemas.openxmlformats.org/officeDocument/2006/relationships/slide" Target="/ppt/slides/slide26.xml" Id="R26431c71ef814575" /><Relationship Type="http://schemas.openxmlformats.org/officeDocument/2006/relationships/slide" Target="/ppt/slides/slide27.xml" Id="R61534bf7e5a44848" /><Relationship Type="http://schemas.openxmlformats.org/officeDocument/2006/relationships/slide" Target="/ppt/slides/slide28.xml" Id="R257aedce56eb4a63" /><Relationship Type="http://schemas.openxmlformats.org/officeDocument/2006/relationships/slide" Target="/ppt/slides/slide29.xml" Id="R6ba574b09ad54a62" /><Relationship Type="http://schemas.openxmlformats.org/officeDocument/2006/relationships/slide" Target="/ppt/slides/slide30.xml" Id="R807bfa5489334d78" /><Relationship Type="http://schemas.openxmlformats.org/officeDocument/2006/relationships/slide" Target="/ppt/slides/slide31.xml" Id="R4945902e78d54a07" /><Relationship Type="http://schemas.openxmlformats.org/officeDocument/2006/relationships/slide" Target="/ppt/slides/slide32.xml" Id="R07b2b8a5024b4a6e" /><Relationship Type="http://schemas.openxmlformats.org/officeDocument/2006/relationships/slide" Target="/ppt/slides/slide33.xml" Id="Ree2a5edd58114967" /><Relationship Type="http://schemas.openxmlformats.org/officeDocument/2006/relationships/slide" Target="/ppt/slides/slide34.xml" Id="R43462860850b4769" /><Relationship Type="http://schemas.openxmlformats.org/officeDocument/2006/relationships/slide" Target="/ppt/slides/slide35.xml" Id="Re2c896806b6c4034" /><Relationship Type="http://schemas.openxmlformats.org/officeDocument/2006/relationships/slide" Target="/ppt/slides/slide36.xml" Id="R8865c2ce276847e8" /><Relationship Type="http://schemas.openxmlformats.org/officeDocument/2006/relationships/slide" Target="/ppt/slides/slide37.xml" Id="Rba78b3b199b24394" /><Relationship Type="http://schemas.openxmlformats.org/officeDocument/2006/relationships/slide" Target="/ppt/slides/slide38.xml" Id="R73b5238196294a28" /><Relationship Type="http://schemas.openxmlformats.org/officeDocument/2006/relationships/slide" Target="/ppt/slides/slide39.xml" Id="R9d9c269ea28d4151" /><Relationship Type="http://schemas.openxmlformats.org/officeDocument/2006/relationships/slide" Target="/ppt/slides/slide40.xml" Id="Rb4323dce512c4fe6" /><Relationship Type="http://schemas.openxmlformats.org/officeDocument/2006/relationships/slide" Target="/ppt/slides/slide41.xml" Id="R51c8433855244552" /><Relationship Type="http://schemas.openxmlformats.org/officeDocument/2006/relationships/slide" Target="/ppt/slides/slide42.xml" Id="R4ebbfe1b7fd744b8" /><Relationship Type="http://schemas.openxmlformats.org/officeDocument/2006/relationships/slide" Target="/ppt/slides/slide43.xml" Id="R51d83c648ae44619" /><Relationship Type="http://schemas.openxmlformats.org/officeDocument/2006/relationships/slide" Target="/ppt/slides/slide44.xml" Id="R31dc6f368d864a75" /><Relationship Type="http://schemas.openxmlformats.org/officeDocument/2006/relationships/slide" Target="/ppt/slides/slide45.xml" Id="R6b4fda90a06540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3a849e92404a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47a2d94ddd46b3" /><Relationship Type="http://schemas.openxmlformats.org/officeDocument/2006/relationships/notesMaster" Target="/ppt/notesMasters/notesMaster1.xml" Id="Ra0b0c83b86824c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99b5125bdc48e2" /><Relationship Type="http://schemas.openxmlformats.org/officeDocument/2006/relationships/notesMaster" Target="/ppt/notesMasters/notesMaster1.xml" Id="R1435505de7ae4c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bf2df070294eca" /><Relationship Type="http://schemas.openxmlformats.org/officeDocument/2006/relationships/notesMaster" Target="/ppt/notesMasters/notesMaster1.xml" Id="R340b4ab286e94d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de1efbe05e4753" /><Relationship Type="http://schemas.openxmlformats.org/officeDocument/2006/relationships/notesMaster" Target="/ppt/notesMasters/notesMaster1.xml" Id="Rbda1167622ee44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110203574f456b" /><Relationship Type="http://schemas.openxmlformats.org/officeDocument/2006/relationships/notesMaster" Target="/ppt/notesMasters/notesMaster1.xml" Id="R323d1d03346d42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470598508d4f8e" /><Relationship Type="http://schemas.openxmlformats.org/officeDocument/2006/relationships/notesMaster" Target="/ppt/notesMasters/notesMaster1.xml" Id="R2393e4e39ac641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fe2509e0514f4d" /><Relationship Type="http://schemas.openxmlformats.org/officeDocument/2006/relationships/notesMaster" Target="/ppt/notesMasters/notesMaster1.xml" Id="R18fcd4d514b243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cc259e37934609" /><Relationship Type="http://schemas.openxmlformats.org/officeDocument/2006/relationships/notesMaster" Target="/ppt/notesMasters/notesMaster1.xml" Id="R1e983b34eb814c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19b8d6f872b4e4a" /><Relationship Type="http://schemas.openxmlformats.org/officeDocument/2006/relationships/notesMaster" Target="/ppt/notesMasters/notesMaster1.xml" Id="R4299e3d7fdb3472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4a21bbde554a1f" /><Relationship Type="http://schemas.openxmlformats.org/officeDocument/2006/relationships/notesMaster" Target="/ppt/notesMasters/notesMaster1.xml" Id="R9a3bbe5cf6eb48d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1e65d783cb04315" /><Relationship Type="http://schemas.openxmlformats.org/officeDocument/2006/relationships/notesMaster" Target="/ppt/notesMasters/notesMaster1.xml" Id="R8097dbc2b8c14be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61010356e3842b2" /><Relationship Type="http://schemas.openxmlformats.org/officeDocument/2006/relationships/notesMaster" Target="/ppt/notesMasters/notesMaster1.xml" Id="R0124b121c76e48c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6676912cf464416" /><Relationship Type="http://schemas.openxmlformats.org/officeDocument/2006/relationships/notesMaster" Target="/ppt/notesMasters/notesMaster1.xml" Id="R06df27a3af5e41e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171b9f3ae464e62" /><Relationship Type="http://schemas.openxmlformats.org/officeDocument/2006/relationships/notesMaster" Target="/ppt/notesMasters/notesMaster1.xml" Id="R699fd8b4c6c2477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8d91e9c36594279" /><Relationship Type="http://schemas.openxmlformats.org/officeDocument/2006/relationships/notesMaster" Target="/ppt/notesMasters/notesMaster1.xml" Id="Rec8cc5eafc0d4a7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6a27e5a40a04b87" /><Relationship Type="http://schemas.openxmlformats.org/officeDocument/2006/relationships/notesMaster" Target="/ppt/notesMasters/notesMaster1.xml" Id="Rebc3dc2ffa4f439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58cbd7375bf4168" /><Relationship Type="http://schemas.openxmlformats.org/officeDocument/2006/relationships/notesMaster" Target="/ppt/notesMasters/notesMaster1.xml" Id="R29a355db8ed84ab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ac5a3cde5aa4071" /><Relationship Type="http://schemas.openxmlformats.org/officeDocument/2006/relationships/notesMaster" Target="/ppt/notesMasters/notesMaster1.xml" Id="R09fd4b43dd224cd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f560b98b7214972" /><Relationship Type="http://schemas.openxmlformats.org/officeDocument/2006/relationships/notesMaster" Target="/ppt/notesMasters/notesMaster1.xml" Id="R958d55f7031047c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8c1c9766f6f43bc" /><Relationship Type="http://schemas.openxmlformats.org/officeDocument/2006/relationships/notesMaster" Target="/ppt/notesMasters/notesMaster1.xml" Id="R44c9582ea27440a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150cb2806264afc" /><Relationship Type="http://schemas.openxmlformats.org/officeDocument/2006/relationships/notesMaster" Target="/ppt/notesMasters/notesMaster1.xml" Id="R0859819aea2c42a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a371e20bf34460d" /><Relationship Type="http://schemas.openxmlformats.org/officeDocument/2006/relationships/notesMaster" Target="/ppt/notesMasters/notesMaster1.xml" Id="Ra0be3c8decc847f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5156f56b042428b" /><Relationship Type="http://schemas.openxmlformats.org/officeDocument/2006/relationships/notesMaster" Target="/ppt/notesMasters/notesMaster1.xml" Id="R7f7849433c2442a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d01fcaa061c4df5" /><Relationship Type="http://schemas.openxmlformats.org/officeDocument/2006/relationships/notesMaster" Target="/ppt/notesMasters/notesMaster1.xml" Id="R7529ffa11958436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6caba28713b4315" /><Relationship Type="http://schemas.openxmlformats.org/officeDocument/2006/relationships/notesMaster" Target="/ppt/notesMasters/notesMaster1.xml" Id="Refecdd4f704e45c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ea346b5b9994f49" /><Relationship Type="http://schemas.openxmlformats.org/officeDocument/2006/relationships/notesMaster" Target="/ppt/notesMasters/notesMaster1.xml" Id="Rf56b257bb3df4f0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a70dfd296454fd8" /><Relationship Type="http://schemas.openxmlformats.org/officeDocument/2006/relationships/notesMaster" Target="/ppt/notesMasters/notesMaster1.xml" Id="R3bc02989a07948d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5fdcc411aef4378" /><Relationship Type="http://schemas.openxmlformats.org/officeDocument/2006/relationships/notesMaster" Target="/ppt/notesMasters/notesMaster1.xml" Id="Rb036ce5b8e7749e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c8505338f034ce5" /><Relationship Type="http://schemas.openxmlformats.org/officeDocument/2006/relationships/notesMaster" Target="/ppt/notesMasters/notesMaster1.xml" Id="Rdab7309070d1468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85407d3fab64d40" /><Relationship Type="http://schemas.openxmlformats.org/officeDocument/2006/relationships/notesMaster" Target="/ppt/notesMasters/notesMaster1.xml" Id="R17afef29033e493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a1b9c89e33446eb" /><Relationship Type="http://schemas.openxmlformats.org/officeDocument/2006/relationships/notesMaster" Target="/ppt/notesMasters/notesMaster1.xml" Id="Rdbff8374121247d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49aba338db345fa" /><Relationship Type="http://schemas.openxmlformats.org/officeDocument/2006/relationships/notesMaster" Target="/ppt/notesMasters/notesMaster1.xml" Id="R74a64e7044aa419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ae38795b8634b65" /><Relationship Type="http://schemas.openxmlformats.org/officeDocument/2006/relationships/notesMaster" Target="/ppt/notesMasters/notesMaster1.xml" Id="Rb2af917ef2fe440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06e2f5da7d84163" /><Relationship Type="http://schemas.openxmlformats.org/officeDocument/2006/relationships/notesMaster" Target="/ppt/notesMasters/notesMaster1.xml" Id="R83b94cca57e3473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ff8ca9375a740c3" /><Relationship Type="http://schemas.openxmlformats.org/officeDocument/2006/relationships/notesMaster" Target="/ppt/notesMasters/notesMaster1.xml" Id="R208758025021463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4bceb1f29fd4379" /><Relationship Type="http://schemas.openxmlformats.org/officeDocument/2006/relationships/notesMaster" Target="/ppt/notesMasters/notesMaster1.xml" Id="R409c6af30483487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dedd2fbdaf74c9e" /><Relationship Type="http://schemas.openxmlformats.org/officeDocument/2006/relationships/notesMaster" Target="/ppt/notesMasters/notesMaster1.xml" Id="R5581770cf9b24cb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52dcf0ce0624b71" /><Relationship Type="http://schemas.openxmlformats.org/officeDocument/2006/relationships/notesMaster" Target="/ppt/notesMasters/notesMaster1.xml" Id="R997f59008a914f9a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2cbf96d19e54095" /><Relationship Type="http://schemas.openxmlformats.org/officeDocument/2006/relationships/notesMaster" Target="/ppt/notesMasters/notesMaster1.xml" Id="Rfe6a88a5fd88479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01cd4d71c9f8416e" /><Relationship Type="http://schemas.openxmlformats.org/officeDocument/2006/relationships/notesMaster" Target="/ppt/notesMasters/notesMaster1.xml" Id="R63893fae4e574449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452f899bd12c4178" /><Relationship Type="http://schemas.openxmlformats.org/officeDocument/2006/relationships/notesMaster" Target="/ppt/notesMasters/notesMaster1.xml" Id="Rf4b3c00ed56647c4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f84829cb6d1b4661" /><Relationship Type="http://schemas.openxmlformats.org/officeDocument/2006/relationships/notesMaster" Target="/ppt/notesMasters/notesMaster1.xml" Id="Rdbeb8186ab074daa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7cd3418cf99e48f9" /><Relationship Type="http://schemas.openxmlformats.org/officeDocument/2006/relationships/notesMaster" Target="/ppt/notesMasters/notesMaster1.xml" Id="R912fb5f09a894a4a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a56edfdb91864f59" /><Relationship Type="http://schemas.openxmlformats.org/officeDocument/2006/relationships/notesMaster" Target="/ppt/notesMasters/notesMaster1.xml" Id="R6f2edc877d884278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672e62ef057f4e07" /><Relationship Type="http://schemas.openxmlformats.org/officeDocument/2006/relationships/notesMaster" Target="/ppt/notesMasters/notesMaster1.xml" Id="R16b4423e2adc4f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4487afb0de4c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7cf56ce40645c1" /><Relationship Type="http://schemas.openxmlformats.org/officeDocument/2006/relationships/slideLayout" Target="/ppt/slideLayouts/slideLayout1.xml" Id="R6c26ae119d5548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26ae119d5548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9bdf12f0844bd" /><Relationship Type="http://schemas.openxmlformats.org/officeDocument/2006/relationships/image" Target="/ppt/media/image.png" Id="R8a0380e9ba3b4ed3" /><Relationship Type="http://schemas.openxmlformats.org/officeDocument/2006/relationships/notesSlide" Target="/ppt/notesSlides/notesSlide1.xml" Id="R6c2fa33c289a4c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e8a07016314228" /><Relationship Type="http://schemas.openxmlformats.org/officeDocument/2006/relationships/notesSlide" Target="/ppt/notesSlides/notesSlide2.xml" Id="Ra92b68708a864c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82d621df844807" /><Relationship Type="http://schemas.openxmlformats.org/officeDocument/2006/relationships/notesSlide" Target="/ppt/notesSlides/notesSlide3.xml" Id="R6f457486e6b247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440d6e3824cb2" /><Relationship Type="http://schemas.openxmlformats.org/officeDocument/2006/relationships/notesSlide" Target="/ppt/notesSlides/notesSlide4.xml" Id="Rd25ceec6c3224e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8f8c4ecbca430a" /><Relationship Type="http://schemas.openxmlformats.org/officeDocument/2006/relationships/notesSlide" Target="/ppt/notesSlides/notesSlide5.xml" Id="R64dc905b37fe4a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a27fd349664fcd" /><Relationship Type="http://schemas.openxmlformats.org/officeDocument/2006/relationships/notesSlide" Target="/ppt/notesSlides/notesSlide6.xml" Id="Rf39f6fd7448542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3042aad1e41dc" /><Relationship Type="http://schemas.openxmlformats.org/officeDocument/2006/relationships/notesSlide" Target="/ppt/notesSlides/notesSlide7.xml" Id="R2460b50265d945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a5b1669e5446e" /><Relationship Type="http://schemas.openxmlformats.org/officeDocument/2006/relationships/notesSlide" Target="/ppt/notesSlides/notesSlide8.xml" Id="Ra013b04bceb64c8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68cd9b3ccb4f27" /><Relationship Type="http://schemas.openxmlformats.org/officeDocument/2006/relationships/notesSlide" Target="/ppt/notesSlides/notesSlide9.xml" Id="Rdbe1ff27f89447b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d2fb24e374c49" /><Relationship Type="http://schemas.openxmlformats.org/officeDocument/2006/relationships/notesSlide" Target="/ppt/notesSlides/notesSlide10.xml" Id="Rbb2781a477414c0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7a9f8c735744b1" /><Relationship Type="http://schemas.openxmlformats.org/officeDocument/2006/relationships/notesSlide" Target="/ppt/notesSlides/notesSlide11.xml" Id="R0b6821ae038e442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12eb4dbeb4c6f" /><Relationship Type="http://schemas.openxmlformats.org/officeDocument/2006/relationships/notesSlide" Target="/ppt/notesSlides/notesSlide12.xml" Id="Rc2ecb92cde3b43c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24081eb3624266" /><Relationship Type="http://schemas.openxmlformats.org/officeDocument/2006/relationships/notesSlide" Target="/ppt/notesSlides/notesSlide13.xml" Id="R61b15cc92da344f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ec85c92b44ccb" /><Relationship Type="http://schemas.openxmlformats.org/officeDocument/2006/relationships/notesSlide" Target="/ppt/notesSlides/notesSlide14.xml" Id="Rad9f3b262dbd4bf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fed70460a544f6" /><Relationship Type="http://schemas.openxmlformats.org/officeDocument/2006/relationships/notesSlide" Target="/ppt/notesSlides/notesSlide15.xml" Id="Rb8b1027a678249f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dd643c3a64717" /><Relationship Type="http://schemas.openxmlformats.org/officeDocument/2006/relationships/notesSlide" Target="/ppt/notesSlides/notesSlide16.xml" Id="Re1c87675e7fb408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79856a2bb94604" /><Relationship Type="http://schemas.openxmlformats.org/officeDocument/2006/relationships/notesSlide" Target="/ppt/notesSlides/notesSlide17.xml" Id="R56756d50b7b54e6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a781c3678448e0" /><Relationship Type="http://schemas.openxmlformats.org/officeDocument/2006/relationships/notesSlide" Target="/ppt/notesSlides/notesSlide18.xml" Id="Ra2f414ad45a34d4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8b10f1df74326" /><Relationship Type="http://schemas.openxmlformats.org/officeDocument/2006/relationships/notesSlide" Target="/ppt/notesSlides/notesSlide19.xml" Id="Ra69f221cbc3f461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4f459a67e94341" /><Relationship Type="http://schemas.openxmlformats.org/officeDocument/2006/relationships/notesSlide" Target="/ppt/notesSlides/notesSlide20.xml" Id="Rc8b373183228406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93802300884de2" /><Relationship Type="http://schemas.openxmlformats.org/officeDocument/2006/relationships/notesSlide" Target="/ppt/notesSlides/notesSlide21.xml" Id="R678a974bef4d4b4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1aed469c74f23" /><Relationship Type="http://schemas.openxmlformats.org/officeDocument/2006/relationships/notesSlide" Target="/ppt/notesSlides/notesSlide22.xml" Id="R5570e23e8d144d8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72468d3919479a" /><Relationship Type="http://schemas.openxmlformats.org/officeDocument/2006/relationships/notesSlide" Target="/ppt/notesSlides/notesSlide23.xml" Id="Rbfce6282ed7941e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45167e7024932" /><Relationship Type="http://schemas.openxmlformats.org/officeDocument/2006/relationships/notesSlide" Target="/ppt/notesSlides/notesSlide24.xml" Id="R8e619dfcfee14c7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86e4f0b554a41" /><Relationship Type="http://schemas.openxmlformats.org/officeDocument/2006/relationships/notesSlide" Target="/ppt/notesSlides/notesSlide25.xml" Id="R98fa92754b3844c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194e906ea4243" /><Relationship Type="http://schemas.openxmlformats.org/officeDocument/2006/relationships/notesSlide" Target="/ppt/notesSlides/notesSlide26.xml" Id="R66f93ee808c64e4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07d5429b544831" /><Relationship Type="http://schemas.openxmlformats.org/officeDocument/2006/relationships/notesSlide" Target="/ppt/notesSlides/notesSlide27.xml" Id="R936bb09d54a64c4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658cc49b4f4e1e" /><Relationship Type="http://schemas.openxmlformats.org/officeDocument/2006/relationships/notesSlide" Target="/ppt/notesSlides/notesSlide28.xml" Id="R836b63e9f5ab4bb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5662b9174f4eaa" /><Relationship Type="http://schemas.openxmlformats.org/officeDocument/2006/relationships/notesSlide" Target="/ppt/notesSlides/notesSlide29.xml" Id="R8900b27efd494f1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d50133d364e79" /><Relationship Type="http://schemas.openxmlformats.org/officeDocument/2006/relationships/notesSlide" Target="/ppt/notesSlides/notesSlide30.xml" Id="R628522124ae34eb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ef7e571b304a43" /><Relationship Type="http://schemas.openxmlformats.org/officeDocument/2006/relationships/notesSlide" Target="/ppt/notesSlides/notesSlide31.xml" Id="R888f142837c6470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7016e15674c78" /><Relationship Type="http://schemas.openxmlformats.org/officeDocument/2006/relationships/notesSlide" Target="/ppt/notesSlides/notesSlide32.xml" Id="Rbf8e2af2ff7941c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579a9048e4ed9" /><Relationship Type="http://schemas.openxmlformats.org/officeDocument/2006/relationships/notesSlide" Target="/ppt/notesSlides/notesSlide33.xml" Id="R19bfb23de7d24b8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584ea87d3143e9" /><Relationship Type="http://schemas.openxmlformats.org/officeDocument/2006/relationships/notesSlide" Target="/ppt/notesSlides/notesSlide34.xml" Id="R92bbbee6e196446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8a33dabe844b84" /><Relationship Type="http://schemas.openxmlformats.org/officeDocument/2006/relationships/notesSlide" Target="/ppt/notesSlides/notesSlide35.xml" Id="Rd29e2bc37697499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6079af0cd9435e" /><Relationship Type="http://schemas.openxmlformats.org/officeDocument/2006/relationships/notesSlide" Target="/ppt/notesSlides/notesSlide36.xml" Id="R30b74b9c7d234f8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4e7db417e1420b" /><Relationship Type="http://schemas.openxmlformats.org/officeDocument/2006/relationships/notesSlide" Target="/ppt/notesSlides/notesSlide37.xml" Id="R901f7471d84849b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9f1b938624f47" /><Relationship Type="http://schemas.openxmlformats.org/officeDocument/2006/relationships/notesSlide" Target="/ppt/notesSlides/notesSlide38.xml" Id="Rd48c141ff51a499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2c746c1fa74941" /><Relationship Type="http://schemas.openxmlformats.org/officeDocument/2006/relationships/notesSlide" Target="/ppt/notesSlides/notesSlide39.xml" Id="Raf0ae166b28940b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e97395e64471c" /><Relationship Type="http://schemas.openxmlformats.org/officeDocument/2006/relationships/notesSlide" Target="/ppt/notesSlides/notesSlide40.xml" Id="R4f328901fe394066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210b0a56324ff0" /><Relationship Type="http://schemas.openxmlformats.org/officeDocument/2006/relationships/notesSlide" Target="/ppt/notesSlides/notesSlide41.xml" Id="Rae4d2062170d4ca9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d89fa6e944d62" /><Relationship Type="http://schemas.openxmlformats.org/officeDocument/2006/relationships/notesSlide" Target="/ppt/notesSlides/notesSlide42.xml" Id="R04fcefa578d44cbc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7e506db6f94ebf" /><Relationship Type="http://schemas.openxmlformats.org/officeDocument/2006/relationships/notesSlide" Target="/ppt/notesSlides/notesSlide43.xml" Id="Rfb1547bfbc2f449e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aeda1343b3462f" /><Relationship Type="http://schemas.openxmlformats.org/officeDocument/2006/relationships/notesSlide" Target="/ppt/notesSlides/notesSlide44.xml" Id="R6f843cc79ead4f25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f3645855d4bf6" /><Relationship Type="http://schemas.openxmlformats.org/officeDocument/2006/relationships/notesSlide" Target="/ppt/notesSlides/notesSlide45.xml" Id="R99f670f7d73e41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0380e9ba3b4ed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73A530-9BED-40EA-982C-1108748A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275CFDF7-E202-4449-8AEA-D928C8B2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E9EC"/>
                </a:solidFill>
              </a:defRPr>
            </a:pPr>
            <a:r>
              <a:rPr sz="1350" b="1">
                <a:solidFill>
                  <a:srgbClr val="8FE9EC"/>
                </a:solidFill>
              </a:rPr>
              <a:t>作业指导手册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B45612E-B9A3-49A0-AA04-535E3B09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552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火焰与烟雾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目标检测项目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D1C5925-4AEF-4A27-99B3-DA5B7FBB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8E3E7"/>
                </a:solidFill>
              </a:defRPr>
            </a:pPr>
            <a:r>
              <a:rPr sz="1725" b="0">
                <a:solidFill>
                  <a:srgbClr val="D8E3E7"/>
                </a:solidFill>
              </a:rPr>
              <a:t>从 YOLOv8 试跑，到本地 10 轮，再到云端 100 轮交付</a:t>
            </a:r>
          </a:p>
          <a:p xmlns:a="http://schemas.openxmlformats.org/drawingml/2006/main">
            <a:pPr algn="l">
              <a:defRPr sz="1725" b="0">
                <a:solidFill>
                  <a:srgbClr val="D8E3E7"/>
                </a:solidFill>
              </a:defRPr>
            </a:pPr>
            <a:r>
              <a:rPr sz="1725" b="0">
                <a:solidFill>
                  <a:srgbClr val="D8E3E7"/>
                </a:solidFill>
              </a:rPr>
              <a:t>一份给深度学习初学者的真实项目复盘手册</a:t>
            </a:r>
          </a:p>
        </p:txBody>
      </p:sp>
      <p:sp>
        <p:nvSpPr>
          <p:cNvPr id="6" name="tag-MobileNetV2">
            <a:extLst xmlns:a="http://schemas.openxmlformats.org/drawingml/2006/main">
              <a:ext uri="{FF2B5EF4-FFF2-40B4-BE49-F238E27FC236}">
                <a16:creationId xmlns:a16="http://schemas.microsoft.com/office/drawing/2014/main" id="{A9D382F9-12D7-4A89-9FA8-54AD1EAE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200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A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ag-text-MobileNetV2">
            <a:extLst xmlns:a="http://schemas.openxmlformats.org/drawingml/2006/main">
              <a:ext uri="{FF2B5EF4-FFF2-40B4-BE49-F238E27FC236}">
                <a16:creationId xmlns:a16="http://schemas.microsoft.com/office/drawing/2014/main" id="{8A936C8A-D232-4EAF-ABC1-BD1D7817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MobileNetV2</a:t>
            </a:r>
          </a:p>
        </p:txBody>
      </p:sp>
      <p:sp>
        <p:nvSpPr>
          <p:cNvPr id="8" name="tag-Faster R-CNN">
            <a:extLst xmlns:a="http://schemas.openxmlformats.org/drawingml/2006/main">
              <a:ext uri="{FF2B5EF4-FFF2-40B4-BE49-F238E27FC236}">
                <a16:creationId xmlns:a16="http://schemas.microsoft.com/office/drawing/2014/main" id="{47BAC150-4930-4735-9FAC-E0E70081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29150"/>
            <a:ext cx="12954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ag-text-Faster R-CNN">
            <a:extLst xmlns:a="http://schemas.openxmlformats.org/drawingml/2006/main">
              <a:ext uri="{FF2B5EF4-FFF2-40B4-BE49-F238E27FC236}">
                <a16:creationId xmlns:a16="http://schemas.microsoft.com/office/drawing/2014/main" id="{576B1A56-6284-4A17-A139-D7657934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672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Faster R-CNN</a:t>
            </a:r>
          </a:p>
        </p:txBody>
      </p:sp>
      <p:sp>
        <p:nvSpPr>
          <p:cNvPr id="10" name="tag-PyTorch">
            <a:extLst xmlns:a="http://schemas.openxmlformats.org/drawingml/2006/main">
              <a:ext uri="{FF2B5EF4-FFF2-40B4-BE49-F238E27FC236}">
                <a16:creationId xmlns:a16="http://schemas.microsoft.com/office/drawing/2014/main" id="{31AF3EE0-1B37-4D5A-BC8D-7D894FF9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629150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D6C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g-text-PyTorch">
            <a:extLst xmlns:a="http://schemas.openxmlformats.org/drawingml/2006/main">
              <a:ext uri="{FF2B5EF4-FFF2-40B4-BE49-F238E27FC236}">
                <a16:creationId xmlns:a16="http://schemas.microsoft.com/office/drawing/2014/main" id="{1CE263FD-3528-4975-B529-F41B8EA4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6672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PyTorch</a:t>
            </a:r>
          </a:p>
        </p:txBody>
      </p:sp>
      <p:sp>
        <p:nvSpPr>
          <p:cNvPr id="12" name="cover-audience">
            <a:extLst xmlns:a="http://schemas.openxmlformats.org/drawingml/2006/main">
              <a:ext uri="{FF2B5EF4-FFF2-40B4-BE49-F238E27FC236}">
                <a16:creationId xmlns:a16="http://schemas.microsoft.com/office/drawing/2014/main" id="{645013A5-3B32-4494-919E-F518CD72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0C8"/>
                </a:solidFill>
              </a:defRPr>
            </a:pPr>
            <a:r>
              <a:rPr sz="1200" b="0">
                <a:solidFill>
                  <a:srgbClr val="AFC0C8"/>
                </a:solidFill>
              </a:rPr>
              <a:t>适合：零基础学习者 / AI 项目经理 / 课程项目复盘</a:t>
            </a:r>
          </a:p>
        </p:txBody>
      </p:sp>
      <p:sp>
        <p:nvSpPr>
          <p:cNvPr id="13" name="cover-page">
            <a:extLst xmlns:a="http://schemas.openxmlformats.org/drawingml/2006/main">
              <a:ext uri="{FF2B5EF4-FFF2-40B4-BE49-F238E27FC236}">
                <a16:creationId xmlns:a16="http://schemas.microsoft.com/office/drawing/2014/main" id="{926CB9AB-1651-42C3-BB68-6E0E658D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722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9AAAB2"/>
                </a:solidFill>
              </a:defRPr>
            </a:pPr>
            <a:r>
              <a:rPr sz="1350" b="0">
                <a:solidFill>
                  <a:srgbClr val="9AAAB2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505796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A19025D2-B75F-49E1-B74E-0A7F1715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A8B0"/>
                </a:solidFill>
              </a:defRPr>
            </a:pPr>
            <a:r>
              <a:rPr sz="975" b="1">
                <a:solidFill>
                  <a:srgbClr val="12A8B0"/>
                </a:solidFill>
              </a:rPr>
              <a:t>阅读方式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1415D2-8178-4DF9-BAB3-DDBA8D9A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先记住：项目成功不等于过程没有报错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B185974-D9E6-428B-BF60-E714F08A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B9BF3B9-28DF-4C0B-ABDA-CB291BFA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286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C13C0A-C772-4E26-B3CF-DC514A3C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quote">
            <a:extLst xmlns:a="http://schemas.openxmlformats.org/drawingml/2006/main">
              <a:ext uri="{FF2B5EF4-FFF2-40B4-BE49-F238E27FC236}">
                <a16:creationId xmlns:a16="http://schemas.microsoft.com/office/drawing/2014/main" id="{131E9BC7-8F78-4776-A82E-48907290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57375"/>
            <a:ext cx="626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</a:defRPr>
            </a:pPr>
            <a:r>
              <a:rPr sz="1725" b="1">
                <a:solidFill>
                  <a:srgbClr val="17212B"/>
                </a:solidFill>
              </a:rPr>
              <a:t>这份手册不是“漂亮结果集”，而是一张真实的排错地图。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8CFC65-3EFD-402F-8B55-48EFA9CB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43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0">
            <a:extLst xmlns:a="http://schemas.openxmlformats.org/drawingml/2006/main">
              <a:ext uri="{FF2B5EF4-FFF2-40B4-BE49-F238E27FC236}">
                <a16:creationId xmlns:a16="http://schemas.microsoft.com/office/drawing/2014/main" id="{88417A82-7E67-49D0-8C7D-5D31D8D8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76550"/>
            <a:ext cx="588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第一遍：跟着流程走，建立“任务 → 数据 → 模型 → 评估 → 交付”地图。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1F6533-CF62-481A-8A3E-50B40DFC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00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5D017338-40D1-4592-A70C-3EA27E6E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0"/>
            <a:ext cx="588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第二遍：只回看红色“坑位”，把错误现象和排查路径记住。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0BAC38-6FAD-4644-BA3C-345512F3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57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2">
            <a:extLst xmlns:a="http://schemas.openxmlformats.org/drawingml/2006/main">
              <a:ext uri="{FF2B5EF4-FFF2-40B4-BE49-F238E27FC236}">
                <a16:creationId xmlns:a16="http://schemas.microsoft.com/office/drawing/2014/main" id="{04FE7DF0-3527-47F8-9FA9-CD4F8D74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90950"/>
            <a:ext cx="588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第三遍：把命令模板复制成自己的项目清单。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878D20-9791-4BD7-8A33-A8326777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09750"/>
            <a:ext cx="2857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295452-7FDD-4045-857B-0BA87331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1455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复盘的核心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A30358-B7E3-4CF8-92EA-E65251D9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05100"/>
            <a:ext cx="22479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不是</a:t>
            </a:r>
          </a:p>
          <a:p xmlns:a="http://schemas.openxmlformats.org/drawingml/2006/main">
            <a:pPr algn="ctr"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“我有没有一次跑通”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而是</a:t>
            </a:r>
          </a:p>
          <a:p xmlns:a="http://schemas.openxmlformats.org/drawingml/2006/main">
            <a:pPr algn="ctr"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“我能不能知道</a:t>
            </a:r>
          </a:p>
          <a:p xmlns:a="http://schemas.openxmlformats.org/drawingml/2006/main">
            <a:pPr algn="ctr"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下一次先检查什么”</a:t>
            </a:r>
          </a:p>
        </p:txBody>
      </p:sp>
      <p:sp>
        <p:nvSpPr>
          <p:cNvPr id="16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4B8F695C-95A9-4C43-BE4C-BB9948C1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开篇</a:t>
            </a:r>
          </a:p>
        </p:txBody>
      </p:sp>
      <p:sp>
        <p:nvSpPr>
          <p:cNvPr id="17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79D4F094-C667-4474-8BD7-686C2915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86525"/>
            <a:ext cx="426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项目复盘手册 · MobileNetV2 + Faster R-CNN</a:t>
            </a:r>
          </a:p>
        </p:txBody>
      </p:sp>
    </p:spTree>
    <p:extLst>
      <p:ext uri="{BB962C8B-B14F-4D97-AF65-F5344CB8AC3E}">
        <p14:creationId xmlns:p14="http://schemas.microsoft.com/office/powerpoint/2010/main" val="18289769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kicker">
            <a:extLst xmlns:a="http://schemas.openxmlformats.org/drawingml/2006/main">
              <a:ext uri="{FF2B5EF4-FFF2-40B4-BE49-F238E27FC236}">
                <a16:creationId xmlns:a16="http://schemas.microsoft.com/office/drawing/2014/main" id="{847AE8A0-32A7-4033-9C3F-E3D69654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A8B0"/>
                </a:solidFill>
              </a:defRPr>
            </a:pPr>
            <a:r>
              <a:rPr sz="975" b="1">
                <a:solidFill>
                  <a:srgbClr val="12A8B0"/>
                </a:solidFill>
              </a:rPr>
              <a:t>全局地图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38AE8B-77D0-4B04-987D-E12F98A1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这次项目真正经历了 5 个阶段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8337A049-8122-452E-824E-BD054A7D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01F2D08-36EA-4EC3-8BB9-76846427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286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03</a:t>
            </a:r>
          </a:p>
        </p:txBody>
      </p:sp>
      <p:sp>
        <p:nvSpPr>
          <p:cNvPr id="5" name="timeline-arrow-0">
            <a:extLst xmlns:a="http://schemas.openxmlformats.org/drawingml/2006/main">
              <a:ext uri="{FF2B5EF4-FFF2-40B4-BE49-F238E27FC236}">
                <a16:creationId xmlns:a16="http://schemas.microsoft.com/office/drawing/2014/main" id="{3D51B1D6-975F-4D3A-AE9B-3E1E44F9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57175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6727D"/>
                </a:solidFill>
              </a:defRPr>
            </a:pPr>
            <a:r>
              <a:rPr sz="2400" b="1">
                <a:solidFill>
                  <a:srgbClr val="66727D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755A77-4BE0-4D2C-95F2-3E073FAE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imeline-num-0">
            <a:extLst xmlns:a="http://schemas.openxmlformats.org/drawingml/2006/main">
              <a:ext uri="{FF2B5EF4-FFF2-40B4-BE49-F238E27FC236}">
                <a16:creationId xmlns:a16="http://schemas.microsoft.com/office/drawing/2014/main" id="{B15CCA73-72C2-4DB3-B4FA-C0C465A5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57425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785353-4C4D-405D-B6E3-E462735E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104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认识任务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E406D2-5CCA-4434-ADDD-A2CFDC9B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133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27D"/>
                </a:solidFill>
              </a:defRPr>
            </a:pPr>
            <a:r>
              <a:rPr sz="1125" b="0">
                <a:solidFill>
                  <a:srgbClr val="66727D"/>
                </a:solidFill>
              </a:rPr>
              <a:t>目标检测、YOLO标签、Faster R-CNN</a:t>
            </a:r>
          </a:p>
        </p:txBody>
      </p:sp>
      <p:sp>
        <p:nvSpPr>
          <p:cNvPr id="10" name="timeline-arrow-1">
            <a:extLst xmlns:a="http://schemas.openxmlformats.org/drawingml/2006/main">
              <a:ext uri="{FF2B5EF4-FFF2-40B4-BE49-F238E27FC236}">
                <a16:creationId xmlns:a16="http://schemas.microsoft.com/office/drawing/2014/main" id="{6970B066-5602-4EFB-A7C8-66383FD0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7175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6727D"/>
                </a:solidFill>
              </a:defRPr>
            </a:pPr>
            <a:r>
              <a:rPr sz="2400" b="1">
                <a:solidFill>
                  <a:srgbClr val="66727D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84B26F-CFBA-49DB-AA5E-AE659423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764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imeline-num-1">
            <a:extLst xmlns:a="http://schemas.openxmlformats.org/drawingml/2006/main">
              <a:ext uri="{FF2B5EF4-FFF2-40B4-BE49-F238E27FC236}">
                <a16:creationId xmlns:a16="http://schemas.microsoft.com/office/drawing/2014/main" id="{44988D5D-AB24-485A-9FB2-96B48626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57425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7B2D0D-3D58-4DBC-BE8E-67062761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48000"/>
            <a:ext cx="1104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先跑 YOLOv8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1B132-F993-42A6-962C-6C72A9B6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14750"/>
            <a:ext cx="133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27D"/>
                </a:solidFill>
              </a:defRPr>
            </a:pPr>
            <a:r>
              <a:rPr sz="1125" b="0">
                <a:solidFill>
                  <a:srgbClr val="66727D"/>
                </a:solidFill>
              </a:rPr>
              <a:t>验证数据/GPU/流程，但不是最终路线</a:t>
            </a:r>
          </a:p>
        </p:txBody>
      </p:sp>
      <p:sp>
        <p:nvSpPr>
          <p:cNvPr id="15" name="timeline-arrow-2">
            <a:extLst xmlns:a="http://schemas.openxmlformats.org/drawingml/2006/main">
              <a:ext uri="{FF2B5EF4-FFF2-40B4-BE49-F238E27FC236}">
                <a16:creationId xmlns:a16="http://schemas.microsoft.com/office/drawing/2014/main" id="{7D86AE1C-82FE-475B-A7FE-890A8DF1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7175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6727D"/>
                </a:solidFill>
              </a:defRPr>
            </a:pPr>
            <a:r>
              <a:rPr sz="2400" b="1">
                <a:solidFill>
                  <a:srgbClr val="66727D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EA9B88-1F2B-4A64-A9E5-4CA17A6B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764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imeline-num-2">
            <a:extLst xmlns:a="http://schemas.openxmlformats.org/drawingml/2006/main">
              <a:ext uri="{FF2B5EF4-FFF2-40B4-BE49-F238E27FC236}">
                <a16:creationId xmlns:a16="http://schemas.microsoft.com/office/drawing/2014/main" id="{F429CAF7-691E-4C86-8BF0-EFD951B0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57425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5442E4-27AD-4972-97DD-6E8CADA4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1104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本地 10 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612AF6-89D3-46F2-B427-7F8A32FE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714750"/>
            <a:ext cx="133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27D"/>
                </a:solidFill>
              </a:defRPr>
            </a:pPr>
            <a:r>
              <a:rPr sz="1125" b="0">
                <a:solidFill>
                  <a:srgbClr val="66727D"/>
                </a:solidFill>
              </a:rPr>
              <a:t>模型能训，但日志不够，曲线不完整</a:t>
            </a:r>
          </a:p>
        </p:txBody>
      </p:sp>
      <p:sp>
        <p:nvSpPr>
          <p:cNvPr id="20" name="timeline-arrow-3">
            <a:extLst xmlns:a="http://schemas.openxmlformats.org/drawingml/2006/main">
              <a:ext uri="{FF2B5EF4-FFF2-40B4-BE49-F238E27FC236}">
                <a16:creationId xmlns:a16="http://schemas.microsoft.com/office/drawing/2014/main" id="{D96E8ECE-70C1-4FB7-B2C0-072A3A94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57175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6727D"/>
                </a:solidFill>
              </a:defRPr>
            </a:pPr>
            <a:r>
              <a:rPr sz="2400" b="1">
                <a:solidFill>
                  <a:srgbClr val="66727D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13250C-CB3F-466F-ABA2-3FA53D69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764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imeline-num-3">
            <a:extLst xmlns:a="http://schemas.openxmlformats.org/drawingml/2006/main">
              <a:ext uri="{FF2B5EF4-FFF2-40B4-BE49-F238E27FC236}">
                <a16:creationId xmlns:a16="http://schemas.microsoft.com/office/drawing/2014/main" id="{61CA3080-A0BD-4511-BB8C-318F21AC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57425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57FB84-7691-4B0C-8093-FA40A656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48000"/>
            <a:ext cx="1104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云端 100 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4ADF39-ED74-4EA7-BF8E-77D9D841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714750"/>
            <a:ext cx="133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27D"/>
                </a:solidFill>
              </a:defRPr>
            </a:pPr>
            <a:r>
              <a:rPr sz="1125" b="0">
                <a:solidFill>
                  <a:srgbClr val="66727D"/>
                </a:solidFill>
              </a:rPr>
              <a:t>统一接口、路径与指标，完成实验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793F6D-21C7-4528-8C4F-D6108061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764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imeline-num-4">
            <a:extLst xmlns:a="http://schemas.openxmlformats.org/drawingml/2006/main">
              <a:ext uri="{FF2B5EF4-FFF2-40B4-BE49-F238E27FC236}">
                <a16:creationId xmlns:a16="http://schemas.microsoft.com/office/drawing/2014/main" id="{2ACE9DBA-430F-423B-9280-B9FCC727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57425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C9D7AA-FC48-46B9-A891-864D3FF4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48000"/>
            <a:ext cx="1104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工程化交付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4A5A00-C259-4169-9ADC-43057143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14750"/>
            <a:ext cx="133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27D"/>
                </a:solidFill>
              </a:defRPr>
            </a:pPr>
            <a:r>
              <a:rPr sz="1125" b="0">
                <a:solidFill>
                  <a:srgbClr val="66727D"/>
                </a:solidFill>
              </a:rPr>
              <a:t>曲线、评估、GitHub、PPT、压缩包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AE14CD-3E11-4B3B-B7C7-96E0D153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34000"/>
            <a:ext cx="57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quote">
            <a:extLst xmlns:a="http://schemas.openxmlformats.org/drawingml/2006/main">
              <a:ext uri="{FF2B5EF4-FFF2-40B4-BE49-F238E27FC236}">
                <a16:creationId xmlns:a16="http://schemas.microsoft.com/office/drawing/2014/main" id="{4501780C-FB47-4932-9C08-235858FD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381625"/>
            <a:ext cx="8362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</a:defRPr>
            </a:pPr>
            <a:r>
              <a:rPr sz="1725" b="1">
                <a:solidFill>
                  <a:srgbClr val="17212B"/>
                </a:solidFill>
              </a:rPr>
              <a:t>最有价值的不是“没有踩坑”，而是每一次报错都变成了下一次的检查项。</a:t>
            </a:r>
          </a:p>
        </p:txBody>
      </p:sp>
      <p:sp>
        <p:nvSpPr>
          <p:cNvPr id="31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4048AE23-2D12-4631-AE1C-9ED33D24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全局地图</a:t>
            </a:r>
          </a:p>
        </p:txBody>
      </p:sp>
      <p:sp>
        <p:nvSpPr>
          <p:cNvPr id="32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7FD6B093-E9B8-47AA-8764-C4F3922F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86525"/>
            <a:ext cx="426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项目复盘手册 · MobileNetV2 + Faster R-CNN</a:t>
            </a:r>
          </a:p>
        </p:txBody>
      </p:sp>
    </p:spTree>
    <p:extLst>
      <p:ext uri="{BB962C8B-B14F-4D97-AF65-F5344CB8AC3E}">
        <p14:creationId xmlns:p14="http://schemas.microsoft.com/office/powerpoint/2010/main" val="9373532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D36F9C24-B9D6-490E-9B1C-042FF660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A8B0"/>
                </a:solidFill>
              </a:defRPr>
            </a:pPr>
            <a:r>
              <a:rPr sz="975" b="1">
                <a:solidFill>
                  <a:srgbClr val="12A8B0"/>
                </a:solidFill>
              </a:rPr>
              <a:t>阶段一 · 任务理解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04661FA-2C1F-433D-943D-88E1C9D9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目标检测比图像分类多回答一个问题：东西在哪里？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8B788B0-0CFD-4B48-9413-13538FE1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C63BA01-CDB1-443D-98DC-61ACEAA3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286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BF03A9-0569-42A1-8E48-03E5764F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572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E193F8-3F82-4E76-A1A3-105C456C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D6CDF"/>
                </a:solidFill>
              </a:defRPr>
            </a:pPr>
            <a:r>
              <a:rPr sz="1650" b="1">
                <a:solidFill>
                  <a:srgbClr val="2D6CDF"/>
                </a:solidFill>
              </a:rPr>
              <a:t>图像分类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349922-CB6B-4FF1-AF7C-8FD58DB4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2B"/>
                </a:solidFill>
              </a:defRPr>
            </a:pPr>
            <a:r>
              <a:rPr sz="2250" b="1">
                <a:solidFill>
                  <a:srgbClr val="17212B"/>
                </a:solidFill>
              </a:rPr>
              <a:t>这张图是什么？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119A47-83AF-472F-8C6F-5544DB37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F"/>
          </a:solidFill>
          <a:ln xmlns:a="http://schemas.openxmlformats.org/drawingml/2006/main" w="19050">
            <a:solidFill>
              <a:srgbClr val="2D6C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4AF711-BBD0-487D-9652-4CDF5251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14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D6CDF"/>
                </a:solidFill>
              </a:defRPr>
            </a:pPr>
            <a:r>
              <a:rPr sz="1500" b="1">
                <a:solidFill>
                  <a:srgbClr val="2D6CDF"/>
                </a:solidFill>
              </a:rPr>
              <a:t>整张图 → fire / smoke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014D3E-2C48-4DE5-9772-65CEB4F1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90700"/>
            <a:ext cx="52578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98D84B-2DE0-4D82-A627-7C090638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95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97316"/>
                </a:solidFill>
              </a:defRPr>
            </a:pPr>
            <a:r>
              <a:rPr sz="1650" b="1">
                <a:solidFill>
                  <a:srgbClr val="F97316"/>
                </a:solidFill>
              </a:rPr>
              <a:t>目标检测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71A177-FB7B-414B-8BD4-5E00CAF1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717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2B"/>
                </a:solidFill>
              </a:defRPr>
            </a:pPr>
            <a:r>
              <a:rPr sz="2250" b="1">
                <a:solidFill>
                  <a:srgbClr val="17212B"/>
                </a:solidFill>
              </a:rPr>
              <a:t>是什么？在哪里？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23524E-D9CB-4E08-9EA5-B2871A36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333750"/>
            <a:ext cx="152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C7"/>
          </a:solidFill>
          <a:ln xmlns:a="http://schemas.openxmlformats.org/drawingml/2006/main" w="28575">
            <a:solidFill>
              <a:srgbClr val="F9731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49871F-3CBF-4244-AC46-0AD3A42A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28950"/>
            <a:ext cx="1619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C7"/>
          </a:solidFill>
          <a:ln xmlns:a="http://schemas.openxmlformats.org/drawingml/2006/main" w="28575">
            <a:solidFill>
              <a:srgbClr val="F9731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FE7AC5-0051-40F8-AFEB-82ADAE93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623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97316"/>
                </a:solidFill>
              </a:defRPr>
            </a:pPr>
            <a:r>
              <a:rPr sz="1350" b="1">
                <a:solidFill>
                  <a:srgbClr val="F97316"/>
                </a:solidFill>
              </a:rPr>
              <a:t>fire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4F7A64-9869-4215-A202-59BD5E8F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54330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97316"/>
                </a:solidFill>
              </a:defRPr>
            </a:pPr>
            <a:r>
              <a:rPr sz="1350" b="1">
                <a:solidFill>
                  <a:srgbClr val="F97316"/>
                </a:solidFill>
              </a:rPr>
              <a:t>smoke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7D4121-F33A-475C-BCB6-5C3ADBF3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48200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7D"/>
                </a:solidFill>
              </a:defRPr>
            </a:pPr>
            <a:r>
              <a:rPr sz="1350" b="0">
                <a:solidFill>
                  <a:srgbClr val="66727D"/>
                </a:solidFill>
              </a:rPr>
              <a:t>图片 → 多个框 + 类别 + 置信度</a:t>
            </a:r>
          </a:p>
        </p:txBody>
      </p:sp>
      <p:sp>
        <p:nvSpPr>
          <p:cNvPr id="18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C0A30141-2474-4811-A352-4A174CFF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任务理解</a:t>
            </a:r>
          </a:p>
        </p:txBody>
      </p:sp>
      <p:sp>
        <p:nvSpPr>
          <p:cNvPr id="19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FB166F55-8DAD-49B4-8E40-8EB57090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86525"/>
            <a:ext cx="426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项目复盘手册 · MobileNetV2 + Faster R-CNN</a:t>
            </a:r>
          </a:p>
        </p:txBody>
      </p:sp>
    </p:spTree>
    <p:extLst>
      <p:ext uri="{BB962C8B-B14F-4D97-AF65-F5344CB8AC3E}">
        <p14:creationId xmlns:p14="http://schemas.microsoft.com/office/powerpoint/2010/main" val="5942333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kicker">
            <a:extLst xmlns:a="http://schemas.openxmlformats.org/drawingml/2006/main">
              <a:ext uri="{FF2B5EF4-FFF2-40B4-BE49-F238E27FC236}">
                <a16:creationId xmlns:a16="http://schemas.microsoft.com/office/drawing/2014/main" id="{E2BEEF75-B9D4-40A3-B85C-84A3520F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A8B0"/>
                </a:solidFill>
              </a:defRPr>
            </a:pPr>
            <a:r>
              <a:rPr sz="975" b="1">
                <a:solidFill>
                  <a:srgbClr val="12A8B0"/>
                </a:solidFill>
              </a:rPr>
              <a:t>阶段二 · 数据集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78DBD3D-DE25-4E5E-B974-0F32E3DD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先把数据“看懂”，再谈模型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A1312A6-F5C5-47C2-95E0-DF7C02D8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A5EC8FF-DD29-4C4F-8D00-0F19251F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286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05</a:t>
            </a:r>
          </a:p>
        </p:txBody>
      </p:sp>
      <p:sp>
        <p:nvSpPr>
          <p:cNvPr id="5" name="terminal-dataset layout">
            <a:extLst xmlns:a="http://schemas.openxmlformats.org/drawingml/2006/main">
              <a:ext uri="{FF2B5EF4-FFF2-40B4-BE49-F238E27FC236}">
                <a16:creationId xmlns:a16="http://schemas.microsoft.com/office/drawing/2014/main" id="{09B412F7-9CE3-4E09-9BA8-3E22FC1F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4767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4154BB-1A63-4D43-AA16-92ECBA23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47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8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83B28D-77F7-472F-9FC3-107325D0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580503-FBBC-41B6-BCB4-7352F745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05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C27400-20A3-457F-B163-555BADF9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05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rminal-title-dataset layout">
            <a:extLst xmlns:a="http://schemas.openxmlformats.org/drawingml/2006/main">
              <a:ext uri="{FF2B5EF4-FFF2-40B4-BE49-F238E27FC236}">
                <a16:creationId xmlns:a16="http://schemas.microsoft.com/office/drawing/2014/main" id="{334878EB-C9B3-402A-B3E2-CDA5DB7E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8669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7C4CB"/>
                </a:solidFill>
              </a:defRPr>
            </a:pPr>
            <a:r>
              <a:rPr sz="975" b="0">
                <a:solidFill>
                  <a:srgbClr val="B7C4CB"/>
                </a:solidFill>
              </a:rPr>
              <a:t>dataset layout</a:t>
            </a:r>
          </a:p>
        </p:txBody>
      </p:sp>
      <p:sp>
        <p:nvSpPr>
          <p:cNvPr id="11" name="terminal-line-dataset layout-0">
            <a:extLst xmlns:a="http://schemas.openxmlformats.org/drawingml/2006/main">
              <a:ext uri="{FF2B5EF4-FFF2-40B4-BE49-F238E27FC236}">
                <a16:creationId xmlns:a16="http://schemas.microsoft.com/office/drawing/2014/main" id="{80AB58C6-DA95-468A-94BC-2028176B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413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6ED"/>
                </a:solidFill>
              </a:defRPr>
            </a:pPr>
            <a:r>
              <a:rPr sz="1125" b="0">
                <a:solidFill>
                  <a:srgbClr val="D9E6ED"/>
                </a:solidFill>
              </a:rPr>
              <a:t>data/</a:t>
            </a:r>
          </a:p>
        </p:txBody>
      </p:sp>
      <p:sp>
        <p:nvSpPr>
          <p:cNvPr id="12" name="terminal-line-dataset layout-1">
            <a:extLst xmlns:a="http://schemas.openxmlformats.org/drawingml/2006/main">
              <a:ext uri="{FF2B5EF4-FFF2-40B4-BE49-F238E27FC236}">
                <a16:creationId xmlns:a16="http://schemas.microsoft.com/office/drawing/2014/main" id="{6378097E-C726-49F4-8927-B6885028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413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6ED"/>
                </a:solidFill>
              </a:defRPr>
            </a:pPr>
            <a:r>
              <a:rPr sz="1125" b="0">
                <a:solidFill>
                  <a:srgbClr val="D9E6ED"/>
                </a:solidFill>
              </a:rPr>
              <a:t>├─ train/</a:t>
            </a:r>
          </a:p>
        </p:txBody>
      </p:sp>
      <p:sp>
        <p:nvSpPr>
          <p:cNvPr id="13" name="terminal-line-dataset layout-2">
            <a:extLst xmlns:a="http://schemas.openxmlformats.org/drawingml/2006/main">
              <a:ext uri="{FF2B5EF4-FFF2-40B4-BE49-F238E27FC236}">
                <a16:creationId xmlns:a16="http://schemas.microsoft.com/office/drawing/2014/main" id="{EF713251-3C30-443B-8E20-5C210568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413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6ED"/>
                </a:solidFill>
              </a:defRPr>
            </a:pPr>
            <a:r>
              <a:rPr sz="1125" b="0">
                <a:solidFill>
                  <a:srgbClr val="D9E6ED"/>
                </a:solidFill>
              </a:rPr>
              <a:t>│  ├─ images/   └─ labels/</a:t>
            </a:r>
          </a:p>
        </p:txBody>
      </p:sp>
      <p:sp>
        <p:nvSpPr>
          <p:cNvPr id="14" name="terminal-line-dataset layout-3">
            <a:extLst xmlns:a="http://schemas.openxmlformats.org/drawingml/2006/main">
              <a:ext uri="{FF2B5EF4-FFF2-40B4-BE49-F238E27FC236}">
                <a16:creationId xmlns:a16="http://schemas.microsoft.com/office/drawing/2014/main" id="{947172E9-913E-44F4-A89F-AC23C85F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413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6ED"/>
                </a:solidFill>
              </a:defRPr>
            </a:pPr>
            <a:r>
              <a:rPr sz="1125" b="0">
                <a:solidFill>
                  <a:srgbClr val="D9E6ED"/>
                </a:solidFill>
              </a:rPr>
              <a:t>└─ val/</a:t>
            </a:r>
          </a:p>
        </p:txBody>
      </p:sp>
      <p:sp>
        <p:nvSpPr>
          <p:cNvPr id="15" name="terminal-line-dataset layout-4">
            <a:extLst xmlns:a="http://schemas.openxmlformats.org/drawingml/2006/main">
              <a:ext uri="{FF2B5EF4-FFF2-40B4-BE49-F238E27FC236}">
                <a16:creationId xmlns:a16="http://schemas.microsoft.com/office/drawing/2014/main" id="{B1EDD5D6-7AE9-4EC9-8B32-03DC2C0C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413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6ED"/>
                </a:solidFill>
              </a:defRPr>
            </a:pPr>
            <a:r>
              <a:rPr sz="1125" b="0">
                <a:solidFill>
                  <a:srgbClr val="D9E6ED"/>
                </a:solidFill>
              </a:rPr>
              <a:t>   ├─ images/   └─ labels/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6F61AB-B3F3-4198-8203-F1CC75AF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09750"/>
            <a:ext cx="5791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C99DA8-D3C8-468A-9713-18ED93D2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955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</a:defRPr>
            </a:pPr>
            <a:r>
              <a:rPr sz="1725" b="1">
                <a:solidFill>
                  <a:srgbClr val="17212B"/>
                </a:solidFill>
              </a:rPr>
              <a:t>一行 YOLO 标签 = 一个目标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410AEA-2B15-4DE1-B5C6-CC01C37A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098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D6CDF"/>
                </a:solidFill>
              </a:defRPr>
            </a:pPr>
            <a:r>
              <a:rPr sz="1650" b="1">
                <a:solidFill>
                  <a:srgbClr val="2D6CDF"/>
                </a:solidFill>
              </a:rPr>
              <a:t>class_id   x_center   y_center   width   height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7C21C5-2981-437A-B7CB-BE1CB987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670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0  0.512  0.484  0.210  0.330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048075-E71A-42C4-8B5C-A42DBFA5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623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27D"/>
                </a:solidFill>
              </a:defRPr>
            </a:pPr>
            <a:r>
              <a:rPr sz="1275" b="0">
                <a:solidFill>
                  <a:srgbClr val="66727D"/>
                </a:solidFill>
              </a:rPr>
              <a:t>坐标全部是 0~1 的归一化值；不要直接拿像素值填进去。</a:t>
            </a:r>
          </a:p>
        </p:txBody>
      </p:sp>
      <p:sp>
        <p:nvSpPr>
          <p:cNvPr id="21" name="metric-类别映射">
            <a:extLst xmlns:a="http://schemas.openxmlformats.org/drawingml/2006/main">
              <a:ext uri="{FF2B5EF4-FFF2-40B4-BE49-F238E27FC236}">
                <a16:creationId xmlns:a16="http://schemas.microsoft.com/office/drawing/2014/main" id="{4DC117EB-A254-4AF6-9887-265D687C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3162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618FB3-C2BE-4EDE-B10D-A236586A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metric-label-类别映射">
            <a:extLst xmlns:a="http://schemas.openxmlformats.org/drawingml/2006/main">
              <a:ext uri="{FF2B5EF4-FFF2-40B4-BE49-F238E27FC236}">
                <a16:creationId xmlns:a16="http://schemas.microsoft.com/office/drawing/2014/main" id="{298BA6D2-083E-458D-8CFD-ECAEAA77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19650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类别映射</a:t>
            </a:r>
          </a:p>
        </p:txBody>
      </p:sp>
      <p:sp>
        <p:nvSpPr>
          <p:cNvPr id="24" name="metric-value-类别映射">
            <a:extLst xmlns:a="http://schemas.openxmlformats.org/drawingml/2006/main">
              <a:ext uri="{FF2B5EF4-FFF2-40B4-BE49-F238E27FC236}">
                <a16:creationId xmlns:a16="http://schemas.microsoft.com/office/drawing/2014/main" id="{D4BFE420-DDE6-4A15-A32F-D194D12E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67300"/>
            <a:ext cx="283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2B"/>
                </a:solidFill>
              </a:defRPr>
            </a:pPr>
            <a:r>
              <a:rPr sz="2250" b="1">
                <a:solidFill>
                  <a:srgbClr val="17212B"/>
                </a:solidFill>
              </a:rPr>
              <a:t>0 = fire / 1 = smoke</a:t>
            </a:r>
          </a:p>
        </p:txBody>
      </p:sp>
      <p:sp>
        <p:nvSpPr>
          <p:cNvPr id="25" name="metric-Faster R-CNN">
            <a:extLst xmlns:a="http://schemas.openxmlformats.org/drawingml/2006/main">
              <a:ext uri="{FF2B5EF4-FFF2-40B4-BE49-F238E27FC236}">
                <a16:creationId xmlns:a16="http://schemas.microsoft.com/office/drawing/2014/main" id="{6CD47CFB-9E30-41EF-AB9F-AA549A1D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67250"/>
            <a:ext cx="3162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931939-1E85-4DEF-A6B4-3FA6F4FA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672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metric-label-Faster R-CNN">
            <a:extLst xmlns:a="http://schemas.openxmlformats.org/drawingml/2006/main">
              <a:ext uri="{FF2B5EF4-FFF2-40B4-BE49-F238E27FC236}">
                <a16:creationId xmlns:a16="http://schemas.microsoft.com/office/drawing/2014/main" id="{4B64DAEB-3F16-431B-87BA-73237C52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19650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Faster R-CNN</a:t>
            </a:r>
          </a:p>
        </p:txBody>
      </p:sp>
      <p:sp>
        <p:nvSpPr>
          <p:cNvPr id="28" name="metric-value-Faster R-CNN">
            <a:extLst xmlns:a="http://schemas.openxmlformats.org/drawingml/2006/main">
              <a:ext uri="{FF2B5EF4-FFF2-40B4-BE49-F238E27FC236}">
                <a16:creationId xmlns:a16="http://schemas.microsoft.com/office/drawing/2014/main" id="{52DEA7CF-E544-4346-9622-E7CDC41B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67300"/>
            <a:ext cx="283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2B"/>
                </a:solidFill>
              </a:defRPr>
            </a:pPr>
            <a:r>
              <a:rPr sz="2250" b="1">
                <a:solidFill>
                  <a:srgbClr val="17212B"/>
                </a:solidFill>
              </a:rPr>
              <a:t>0 = background</a:t>
            </a:r>
          </a:p>
        </p:txBody>
      </p:sp>
      <p:sp>
        <p:nvSpPr>
          <p:cNvPr id="29" name="metric-转换规则">
            <a:extLst xmlns:a="http://schemas.openxmlformats.org/drawingml/2006/main">
              <a:ext uri="{FF2B5EF4-FFF2-40B4-BE49-F238E27FC236}">
                <a16:creationId xmlns:a16="http://schemas.microsoft.com/office/drawing/2014/main" id="{B674B137-3FBF-4A42-B676-3E6354C1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667250"/>
            <a:ext cx="3162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1124D2-D00D-4DE9-BEDF-853DAC71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6672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metric-label-转换规则">
            <a:extLst xmlns:a="http://schemas.openxmlformats.org/drawingml/2006/main">
              <a:ext uri="{FF2B5EF4-FFF2-40B4-BE49-F238E27FC236}">
                <a16:creationId xmlns:a16="http://schemas.microsoft.com/office/drawing/2014/main" id="{C56C8614-34BD-4531-9689-6374BD9B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19650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转换规则</a:t>
            </a:r>
          </a:p>
        </p:txBody>
      </p:sp>
      <p:sp>
        <p:nvSpPr>
          <p:cNvPr id="32" name="metric-value-转换规则">
            <a:extLst xmlns:a="http://schemas.openxmlformats.org/drawingml/2006/main">
              <a:ext uri="{FF2B5EF4-FFF2-40B4-BE49-F238E27FC236}">
                <a16:creationId xmlns:a16="http://schemas.microsoft.com/office/drawing/2014/main" id="{E4DD0920-A9CA-43DF-9B41-9C2F7FE0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67300"/>
            <a:ext cx="283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2B"/>
                </a:solidFill>
              </a:defRPr>
            </a:pPr>
            <a:r>
              <a:rPr sz="2250" b="1">
                <a:solidFill>
                  <a:srgbClr val="17212B"/>
                </a:solidFill>
              </a:rPr>
              <a:t>YOLO 类别 + 1</a:t>
            </a:r>
          </a:p>
        </p:txBody>
      </p:sp>
      <p:sp>
        <p:nvSpPr>
          <p:cNvPr id="33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96170E1D-AE47-4FCF-BFC4-98799E77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数据集</a:t>
            </a:r>
          </a:p>
        </p:txBody>
      </p:sp>
      <p:sp>
        <p:nvSpPr>
          <p:cNvPr id="3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B20BB1DC-4FF3-48A0-9307-4A4081C4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86525"/>
            <a:ext cx="426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项目复盘手册 · MobileNetV2 + Faster R-CNN</a:t>
            </a:r>
          </a:p>
        </p:txBody>
      </p:sp>
    </p:spTree>
    <p:extLst>
      <p:ext uri="{BB962C8B-B14F-4D97-AF65-F5344CB8AC3E}">
        <p14:creationId xmlns:p14="http://schemas.microsoft.com/office/powerpoint/2010/main" val="12866303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">
            <a:extLst xmlns:a="http://schemas.openxmlformats.org/drawingml/2006/main">
              <a:ext uri="{FF2B5EF4-FFF2-40B4-BE49-F238E27FC236}">
                <a16:creationId xmlns:a16="http://schemas.microsoft.com/office/drawing/2014/main" id="{47F3BE11-6AA7-4BC8-B600-93C30AD4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A8B0"/>
                </a:solidFill>
              </a:defRPr>
            </a:pPr>
            <a:r>
              <a:rPr sz="975" b="1">
                <a:solidFill>
                  <a:srgbClr val="12A8B0"/>
                </a:solidFill>
              </a:rPr>
              <a:t>阶段二 · 数据集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EB0361-C1E9-4547-BA5B-0044E71C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数据问题往往比模型问题更早出现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CF5DD62-5DEC-41F0-A702-89732F0D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09A7C70-6810-4F11-A43B-0C76AE62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286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3DDAE6-0C0F-4FE9-A4D9-E711BB48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</a:defRPr>
            </a:pPr>
            <a:r>
              <a:rPr sz="1650" b="1">
                <a:solidFill>
                  <a:srgbClr val="17212B"/>
                </a:solidFill>
              </a:rPr>
              <a:t>四个最先检查的条件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936FC8-A891-437F-9F3A-9F9828B2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048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F3D338-3378-497F-9E30-442C78B5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602FF3-2CF9-467F-8902-2AA9A7CF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</a:defRPr>
            </a:pPr>
            <a:r>
              <a:rPr sz="1575" b="1">
                <a:solidFill>
                  <a:srgbClr val="17212B"/>
                </a:solidFill>
              </a:rPr>
              <a:t>图片与标签同名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82428A-9D38-47DB-8027-E55A52B6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27D"/>
                </a:solidFill>
              </a:defRPr>
            </a:pPr>
            <a:r>
              <a:rPr sz="1200" b="0">
                <a:solidFill>
                  <a:srgbClr val="66727D"/>
                </a:solidFill>
              </a:rPr>
              <a:t>cat_001.jpg ↔ cat_001.txt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09FE48-B3B5-4764-9B35-59912F28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47900"/>
            <a:ext cx="5048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A604F3-ECE6-407E-BAF8-270ECF78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4790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60F1F6-EA7B-4DF8-A19C-736BDB1D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193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</a:defRPr>
            </a:pPr>
            <a:r>
              <a:rPr sz="1575" b="1">
                <a:solidFill>
                  <a:srgbClr val="17212B"/>
                </a:solidFill>
              </a:rPr>
              <a:t>类别编号合法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49117A-4D84-43DF-986F-7CFDA931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622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27D"/>
                </a:solidFill>
              </a:defRPr>
            </a:pPr>
            <a:r>
              <a:rPr sz="1200" b="0">
                <a:solidFill>
                  <a:srgbClr val="66727D"/>
                </a:solidFill>
              </a:rPr>
              <a:t>只允许 0 /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E742FD-A384-4E6E-98AF-DE07E1AA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5048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E736B0-5BE0-470B-AB5D-4D4B38E8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141657-ED78-403D-8AB6-C0E1B451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766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</a:defRPr>
            </a:pPr>
            <a:r>
              <a:rPr sz="1575" b="1">
                <a:solidFill>
                  <a:srgbClr val="17212B"/>
                </a:solidFill>
              </a:rPr>
              <a:t>框没有越界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D387C9-CFEA-4A9A-8DFE-F2385164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95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27D"/>
                </a:solidFill>
              </a:defRPr>
            </a:pPr>
            <a:r>
              <a:rPr sz="1200" b="0">
                <a:solidFill>
                  <a:srgbClr val="66727D"/>
                </a:solidFill>
              </a:rPr>
              <a:t>x±w/2、y±h/2 在图内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0650BB-9EE8-4FBD-97EB-BADCFB8F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05200"/>
            <a:ext cx="5048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089AEE-344C-4224-B72B-4E3D47FF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0520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78D03E-59A6-4FC4-8749-51338262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766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</a:defRPr>
            </a:pPr>
            <a:r>
              <a:rPr sz="1575" b="1">
                <a:solidFill>
                  <a:srgbClr val="17212B"/>
                </a:solidFill>
              </a:rPr>
              <a:t>空标注被允许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C705A2-9E82-4615-83B2-8D7D9DDB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195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27D"/>
                </a:solidFill>
              </a:defRPr>
            </a:pPr>
            <a:r>
              <a:rPr sz="1200" b="0">
                <a:solidFill>
                  <a:srgbClr val="66727D"/>
                </a:solidFill>
              </a:rPr>
              <a:t>背景图可用 [0,4] 空框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0C5498-2ED9-405C-8279-64F5261D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57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quote">
            <a:extLst xmlns:a="http://schemas.openxmlformats.org/drawingml/2006/main">
              <a:ext uri="{FF2B5EF4-FFF2-40B4-BE49-F238E27FC236}">
                <a16:creationId xmlns:a16="http://schemas.microsoft.com/office/drawing/2014/main" id="{C800400A-1F05-4790-8C68-9428EF41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95875"/>
            <a:ext cx="8553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</a:defRPr>
            </a:pPr>
            <a:r>
              <a:rPr sz="1725" b="1">
                <a:solidFill>
                  <a:srgbClr val="17212B"/>
                </a:solidFill>
              </a:rPr>
              <a:t>一个坏框会让训练在“模型前向传播”之前就失败。</a:t>
            </a:r>
          </a:p>
        </p:txBody>
      </p:sp>
      <p:sp>
        <p:nvSpPr>
          <p:cNvPr id="24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8047189A-F9DD-4968-8154-05376BDB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数据集</a:t>
            </a:r>
          </a:p>
        </p:txBody>
      </p:sp>
      <p:sp>
        <p:nvSpPr>
          <p:cNvPr id="25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704879D8-7FF7-4D44-BC39-41C59817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86525"/>
            <a:ext cx="426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项目复盘手册 · MobileNetV2 + Faster R-CNN</a:t>
            </a:r>
          </a:p>
        </p:txBody>
      </p:sp>
    </p:spTree>
    <p:extLst>
      <p:ext uri="{BB962C8B-B14F-4D97-AF65-F5344CB8AC3E}">
        <p14:creationId xmlns:p14="http://schemas.microsoft.com/office/powerpoint/2010/main" val="17835325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kicker">
            <a:extLst xmlns:a="http://schemas.openxmlformats.org/drawingml/2006/main">
              <a:ext uri="{FF2B5EF4-FFF2-40B4-BE49-F238E27FC236}">
                <a16:creationId xmlns:a16="http://schemas.microsoft.com/office/drawing/2014/main" id="{D670F337-3343-4238-9636-23247E7F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A8B0"/>
                </a:solidFill>
              </a:defRPr>
            </a:pPr>
            <a:r>
              <a:rPr sz="975" b="1">
                <a:solidFill>
                  <a:srgbClr val="12A8B0"/>
                </a:solidFill>
              </a:rPr>
              <a:t>阶段三 · 环境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831DBC-E4BF-412C-A838-849F1BDA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环境检查要回答三个问题：能导入、能用 GPU、能跑一张图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CEA292F-C7A4-438D-B5F8-7A2FE389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577D5CC-442E-451D-AEB4-34D6DDA9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286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A31535-D92B-4AB9-82D6-85F656D0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ep-num-1">
            <a:extLst xmlns:a="http://schemas.openxmlformats.org/drawingml/2006/main">
              <a:ext uri="{FF2B5EF4-FFF2-40B4-BE49-F238E27FC236}">
                <a16:creationId xmlns:a16="http://schemas.microsoft.com/office/drawing/2014/main" id="{1B5147BF-9F15-4E2C-A432-78BA76EA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764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C0678A5A-A20C-45B1-94D0-2274953C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90700"/>
            <a:ext cx="405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</a:defRPr>
            </a:pPr>
            <a:r>
              <a:rPr sz="1575" b="1">
                <a:solidFill>
                  <a:srgbClr val="17212B"/>
                </a:solidFill>
              </a:rPr>
              <a:t>Python / 包是否在同一个环境？</a:t>
            </a:r>
          </a:p>
        </p:txBody>
      </p:sp>
      <p:sp>
        <p:nvSpPr>
          <p:cNvPr id="8" name="step-body-1">
            <a:extLst xmlns:a="http://schemas.openxmlformats.org/drawingml/2006/main">
              <a:ext uri="{FF2B5EF4-FFF2-40B4-BE49-F238E27FC236}">
                <a16:creationId xmlns:a16="http://schemas.microsoft.com/office/drawing/2014/main" id="{49C3D108-311C-4AA7-B545-EC423F2E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76450"/>
            <a:ext cx="4057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27D"/>
                </a:solidFill>
              </a:defRPr>
            </a:pPr>
            <a:r>
              <a:rPr sz="1200" b="0">
                <a:solidFill>
                  <a:srgbClr val="66727D"/>
                </a:solidFill>
              </a:rPr>
              <a:t>不要把 conda 环境和系统 pip 混在一起。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8FC91E-E48B-4DE1-9F77-BFC00419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ep-num-2">
            <a:extLst xmlns:a="http://schemas.openxmlformats.org/drawingml/2006/main">
              <a:ext uri="{FF2B5EF4-FFF2-40B4-BE49-F238E27FC236}">
                <a16:creationId xmlns:a16="http://schemas.microsoft.com/office/drawing/2014/main" id="{E0B0B818-2A61-4F13-A93E-19F9C816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194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76ACF84B-D494-4F11-BFBC-0320223F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33700"/>
            <a:ext cx="405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</a:defRPr>
            </a:pPr>
            <a:r>
              <a:rPr sz="1575" b="1">
                <a:solidFill>
                  <a:srgbClr val="17212B"/>
                </a:solidFill>
              </a:rPr>
              <a:t>PyTorch 是否看到 CUDA？</a:t>
            </a:r>
          </a:p>
        </p:txBody>
      </p:sp>
      <p:sp>
        <p:nvSpPr>
          <p:cNvPr id="12" name="step-body-2">
            <a:extLst xmlns:a="http://schemas.openxmlformats.org/drawingml/2006/main">
              <a:ext uri="{FF2B5EF4-FFF2-40B4-BE49-F238E27FC236}">
                <a16:creationId xmlns:a16="http://schemas.microsoft.com/office/drawing/2014/main" id="{6DFDF438-2815-40CF-AA23-5010DA3C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19450"/>
            <a:ext cx="4057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27D"/>
                </a:solidFill>
              </a:defRPr>
            </a:pPr>
            <a:r>
              <a:rPr sz="1200" b="0">
                <a:solidFill>
                  <a:srgbClr val="66727D"/>
                </a:solidFill>
              </a:rPr>
              <a:t>torch.cuda.is_available() 应该返回 True。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FC5BDA-04B6-40D9-A596-D43EC7DB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ep-num-3">
            <a:extLst xmlns:a="http://schemas.openxmlformats.org/drawingml/2006/main">
              <a:ext uri="{FF2B5EF4-FFF2-40B4-BE49-F238E27FC236}">
                <a16:creationId xmlns:a16="http://schemas.microsoft.com/office/drawing/2014/main" id="{6A4810E8-3E72-4418-8F2C-8B10B121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624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D54D6DA9-1066-452A-BBCE-8F3467CE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76700"/>
            <a:ext cx="405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</a:defRPr>
            </a:pPr>
            <a:r>
              <a:rPr sz="1575" b="1">
                <a:solidFill>
                  <a:srgbClr val="17212B"/>
                </a:solidFill>
              </a:rPr>
              <a:t>模型能否完成一次前向？</a:t>
            </a:r>
          </a:p>
        </p:txBody>
      </p:sp>
      <p:sp>
        <p:nvSpPr>
          <p:cNvPr id="16" name="step-body-3">
            <a:extLst xmlns:a="http://schemas.openxmlformats.org/drawingml/2006/main">
              <a:ext uri="{FF2B5EF4-FFF2-40B4-BE49-F238E27FC236}">
                <a16:creationId xmlns:a16="http://schemas.microsoft.com/office/drawing/2014/main" id="{17A58756-F62E-476D-A5C7-34851F84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62450"/>
            <a:ext cx="4057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27D"/>
                </a:solidFill>
              </a:defRPr>
            </a:pPr>
            <a:r>
              <a:rPr sz="1200" b="0">
                <a:solidFill>
                  <a:srgbClr val="66727D"/>
                </a:solidFill>
              </a:rPr>
              <a:t>先用 1 张图跑推理，再开始长训练。</a:t>
            </a:r>
          </a:p>
        </p:txBody>
      </p:sp>
      <p:sp>
        <p:nvSpPr>
          <p:cNvPr id="17" name="terminal-sanity check">
            <a:extLst xmlns:a="http://schemas.openxmlformats.org/drawingml/2006/main">
              <a:ext uri="{FF2B5EF4-FFF2-40B4-BE49-F238E27FC236}">
                <a16:creationId xmlns:a16="http://schemas.microsoft.com/office/drawing/2014/main" id="{EE4D8A05-3509-4A2F-82EB-F0A9C1BF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9339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A1793A-9557-474E-9F79-03AE7CA7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93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8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392D98-612A-4F98-B3C5-59F38E83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05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00CE79-F859-4BEF-8B55-5AF32E78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05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F7869A-5498-42B4-986A-890BB235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05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rminal-title-sanity check">
            <a:extLst xmlns:a="http://schemas.openxmlformats.org/drawingml/2006/main">
              <a:ext uri="{FF2B5EF4-FFF2-40B4-BE49-F238E27FC236}">
                <a16:creationId xmlns:a16="http://schemas.microsoft.com/office/drawing/2014/main" id="{A2A055EB-82D2-4CFC-A837-E973F259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866900"/>
            <a:ext cx="407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7C4CB"/>
                </a:solidFill>
              </a:defRPr>
            </a:pPr>
            <a:r>
              <a:rPr sz="975" b="0">
                <a:solidFill>
                  <a:srgbClr val="B7C4CB"/>
                </a:solidFill>
              </a:rPr>
              <a:t>sanity check</a:t>
            </a:r>
          </a:p>
        </p:txBody>
      </p:sp>
      <p:sp>
        <p:nvSpPr>
          <p:cNvPr id="23" name="terminal-line-sanity check-0">
            <a:extLst xmlns:a="http://schemas.openxmlformats.org/drawingml/2006/main">
              <a:ext uri="{FF2B5EF4-FFF2-40B4-BE49-F238E27FC236}">
                <a16:creationId xmlns:a16="http://schemas.microsoft.com/office/drawing/2014/main" id="{6B8DF5C5-C468-443D-9299-32A7427C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47900"/>
            <a:ext cx="459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6ED"/>
                </a:solidFill>
              </a:defRPr>
            </a:pPr>
            <a:r>
              <a:rPr sz="1125" b="0">
                <a:solidFill>
                  <a:srgbClr val="D9E6ED"/>
                </a:solidFill>
              </a:rPr>
              <a:t>python -c "import torch; print(torch.__version__)"</a:t>
            </a:r>
          </a:p>
        </p:txBody>
      </p:sp>
      <p:sp>
        <p:nvSpPr>
          <p:cNvPr id="24" name="terminal-line-sanity check-1">
            <a:extLst xmlns:a="http://schemas.openxmlformats.org/drawingml/2006/main">
              <a:ext uri="{FF2B5EF4-FFF2-40B4-BE49-F238E27FC236}">
                <a16:creationId xmlns:a16="http://schemas.microsoft.com/office/drawing/2014/main" id="{16D424E4-23F6-45E8-BC12-A85DAE27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76500"/>
            <a:ext cx="459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6ED"/>
                </a:solidFill>
              </a:defRPr>
            </a:pPr>
            <a:r>
              <a:rPr sz="1125" b="0">
                <a:solidFill>
                  <a:srgbClr val="D9E6ED"/>
                </a:solidFill>
              </a:rPr>
              <a:t>python -c "import torch; print(torch.cuda.is_available())"</a:t>
            </a:r>
          </a:p>
        </p:txBody>
      </p:sp>
      <p:sp>
        <p:nvSpPr>
          <p:cNvPr id="25" name="terminal-line-sanity check-2">
            <a:extLst xmlns:a="http://schemas.openxmlformats.org/drawingml/2006/main">
              <a:ext uri="{FF2B5EF4-FFF2-40B4-BE49-F238E27FC236}">
                <a16:creationId xmlns:a16="http://schemas.microsoft.com/office/drawing/2014/main" id="{ED81CF24-4FEB-4518-AC3C-F0B07702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05100"/>
            <a:ext cx="459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D28A"/>
                </a:solidFill>
              </a:defRPr>
            </a:pPr>
            <a:r>
              <a:rPr sz="1125" b="0">
                <a:solidFill>
                  <a:srgbClr val="FFD28A"/>
                </a:solidFill>
              </a:rPr>
              <a:t>&gt; True</a:t>
            </a:r>
          </a:p>
        </p:txBody>
      </p:sp>
      <p:sp>
        <p:nvSpPr>
          <p:cNvPr id="26" name="terminal-line-sanity check-3">
            <a:extLst xmlns:a="http://schemas.openxmlformats.org/drawingml/2006/main">
              <a:ext uri="{FF2B5EF4-FFF2-40B4-BE49-F238E27FC236}">
                <a16:creationId xmlns:a16="http://schemas.microsoft.com/office/drawing/2014/main" id="{EEB5AE58-8EB0-4233-AC64-C0248A93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33700"/>
            <a:ext cx="459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6ED"/>
                </a:solidFill>
              </a:defRPr>
            </a:pPr>
            <a:r>
              <a:rPr sz="1125" b="0">
                <a:solidFill>
                  <a:srgbClr val="D9E6ED"/>
                </a:solidFill>
              </a:rPr>
              <a:t>nvidia-smi</a:t>
            </a:r>
          </a:p>
        </p:txBody>
      </p:sp>
      <p:sp>
        <p:nvSpPr>
          <p:cNvPr id="27" name="terminal-line-sanity check-4">
            <a:extLst xmlns:a="http://schemas.openxmlformats.org/drawingml/2006/main">
              <a:ext uri="{FF2B5EF4-FFF2-40B4-BE49-F238E27FC236}">
                <a16:creationId xmlns:a16="http://schemas.microsoft.com/office/drawing/2014/main" id="{2BF70E17-9DAB-4C57-90D7-266D9CDD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62300"/>
            <a:ext cx="459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D28A"/>
                </a:solidFill>
              </a:defRPr>
            </a:pPr>
            <a:r>
              <a:rPr sz="1125" b="0">
                <a:solidFill>
                  <a:srgbClr val="FFD28A"/>
                </a:solidFill>
              </a:rPr>
              <a:t>&gt; GPU / VRAM / utilization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64C7EE-F303-4E19-87E1-407C5A58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530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quote">
            <a:extLst xmlns:a="http://schemas.openxmlformats.org/drawingml/2006/main">
              <a:ext uri="{FF2B5EF4-FFF2-40B4-BE49-F238E27FC236}">
                <a16:creationId xmlns:a16="http://schemas.microsoft.com/office/drawing/2014/main" id="{5D70DEB3-A9C0-4193-B0DA-B3A29285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000625"/>
            <a:ext cx="4724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</a:defRPr>
            </a:pPr>
            <a:r>
              <a:rPr sz="1725" b="1">
                <a:solidFill>
                  <a:srgbClr val="17212B"/>
                </a:solidFill>
              </a:rPr>
              <a:t>“CUDA 版本”有两种：驱动支持的版本，和 torch.version.cuda 编译版本。先看能不能用，再纠结数字。</a:t>
            </a:r>
          </a:p>
        </p:txBody>
      </p:sp>
      <p:sp>
        <p:nvSpPr>
          <p:cNvPr id="30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FFBF0F75-3BAF-4BB6-92CC-0A81E137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环境</a:t>
            </a:r>
          </a:p>
        </p:txBody>
      </p:sp>
      <p:sp>
        <p:nvSpPr>
          <p:cNvPr id="31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F15EF0C1-D4A0-469D-A064-258AACC1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86525"/>
            <a:ext cx="426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项目复盘手册 · MobileNetV2 + Faster R-CNN</a:t>
            </a:r>
          </a:p>
        </p:txBody>
      </p:sp>
    </p:spTree>
    <p:extLst>
      <p:ext uri="{BB962C8B-B14F-4D97-AF65-F5344CB8AC3E}">
        <p14:creationId xmlns:p14="http://schemas.microsoft.com/office/powerpoint/2010/main" val="912597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4DBE31-7955-42DF-AC06-F5745CA2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5CD2D63D-7DA0-4FF4-935B-CE9EA906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E9EC"/>
                </a:solidFill>
              </a:defRPr>
            </a:pPr>
            <a:r>
              <a:rPr sz="1200" b="1">
                <a:solidFill>
                  <a:srgbClr val="8FE9EC"/>
                </a:solidFill>
              </a:rPr>
              <a:t>真实踩坑一</a:t>
            </a:r>
          </a:p>
        </p:txBody>
      </p:sp>
      <p:sp>
        <p:nvSpPr>
          <p:cNvPr id="3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4FEECAAF-FC57-4B55-9EF8-5CB9E82F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857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YOLOv8 先跑起来了，但它不是最终路线</a:t>
            </a:r>
          </a:p>
        </p:txBody>
      </p:sp>
      <p:sp>
        <p:nvSpPr>
          <p:cNvPr id="4" name="section-subtitle">
            <a:extLst xmlns:a="http://schemas.openxmlformats.org/drawingml/2006/main">
              <a:ext uri="{FF2B5EF4-FFF2-40B4-BE49-F238E27FC236}">
                <a16:creationId xmlns:a16="http://schemas.microsoft.com/office/drawing/2014/main" id="{53278D6B-216B-497E-ABE9-DD3BA60E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E3E7"/>
                </a:solidFill>
              </a:defRPr>
            </a:pPr>
            <a:r>
              <a:rPr sz="1800" b="0">
                <a:solidFill>
                  <a:srgbClr val="D8E3E7"/>
                </a:solidFill>
              </a:rPr>
              <a:t>第一次试跑的价值：验证数据、GPU 和训练流程；失败的价值：暴露路径和 Windows 多进程问题。</a:t>
            </a:r>
          </a:p>
        </p:txBody>
      </p:sp>
      <p:sp>
        <p:nvSpPr>
          <p:cNvPr id="5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D3E44DAB-7D18-4D92-A311-D045B5BA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7BF"/>
                </a:solidFill>
              </a:defRPr>
            </a:pPr>
            <a:r>
              <a:rPr sz="1050" b="0">
                <a:solidFill>
                  <a:srgbClr val="A8B7BF"/>
                </a:solidFill>
              </a:rPr>
              <a:t>项目复盘手册</a:t>
            </a:r>
          </a:p>
        </p:txBody>
      </p:sp>
    </p:spTree>
    <p:extLst>
      <p:ext uri="{BB962C8B-B14F-4D97-AF65-F5344CB8AC3E}">
        <p14:creationId xmlns:p14="http://schemas.microsoft.com/office/powerpoint/2010/main" val="17968076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">
            <a:extLst xmlns:a="http://schemas.openxmlformats.org/drawingml/2006/main">
              <a:ext uri="{FF2B5EF4-FFF2-40B4-BE49-F238E27FC236}">
                <a16:creationId xmlns:a16="http://schemas.microsoft.com/office/drawing/2014/main" id="{922C20B4-BEC8-4566-87C7-E21E27BC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A8B0"/>
                </a:solidFill>
              </a:defRPr>
            </a:pPr>
            <a:r>
              <a:rPr sz="975" b="1">
                <a:solidFill>
                  <a:srgbClr val="12A8B0"/>
                </a:solidFill>
              </a:rPr>
              <a:t>真实踩坑一 · YOLOV8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0250FD-EEFD-4993-B8D2-B735243D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YOLOv8 试跑不是白费，它先回答了“环境能不能工作”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2E9BBAE-F9C9-4C54-8FB4-4F75E1C2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550D267-77BD-441F-8066-212C6FB3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286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196BD1-C89E-46C6-A6E3-55A8734B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667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6" name="tag-初次路线">
            <a:extLst xmlns:a="http://schemas.openxmlformats.org/drawingml/2006/main">
              <a:ext uri="{FF2B5EF4-FFF2-40B4-BE49-F238E27FC236}">
                <a16:creationId xmlns:a16="http://schemas.microsoft.com/office/drawing/2014/main" id="{5CF531ED-9491-4B97-836C-210DF38B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57400"/>
            <a:ext cx="952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ag-text-初次路线">
            <a:extLst xmlns:a="http://schemas.openxmlformats.org/drawingml/2006/main">
              <a:ext uri="{FF2B5EF4-FFF2-40B4-BE49-F238E27FC236}">
                <a16:creationId xmlns:a16="http://schemas.microsoft.com/office/drawing/2014/main" id="{95CF899C-F559-40E3-A1C8-51FD8347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初次路线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C36595-8465-43A3-8A28-41BA4D2E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955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Ultralytics YOLOv8n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20E2FD-2BD3-4866-BB69-D9674DA8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27D"/>
                </a:solidFill>
              </a:defRPr>
            </a:pPr>
            <a:r>
              <a:rPr sz="1350" b="1">
                <a:solidFill>
                  <a:srgbClr val="66727D"/>
                </a:solidFill>
              </a:rPr>
              <a:t>用来快速验证：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AF30F8-5CD9-4600-90DC-32A10D4B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14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-0">
            <a:extLst xmlns:a="http://schemas.openxmlformats.org/drawingml/2006/main">
              <a:ext uri="{FF2B5EF4-FFF2-40B4-BE49-F238E27FC236}">
                <a16:creationId xmlns:a16="http://schemas.microsoft.com/office/drawing/2014/main" id="{0E69F02E-9802-44C9-A0A6-9BD19DAB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48050"/>
            <a:ext cx="3409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数据集能否被读取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6F97F4-DDA5-4771-8195-C9A6C1C0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38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1">
            <a:extLst xmlns:a="http://schemas.openxmlformats.org/drawingml/2006/main">
              <a:ext uri="{FF2B5EF4-FFF2-40B4-BE49-F238E27FC236}">
                <a16:creationId xmlns:a16="http://schemas.microsoft.com/office/drawing/2014/main" id="{42BF74BB-615C-4DB1-A8DB-961E7210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71900"/>
            <a:ext cx="3409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GPU 是否正常工作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BE4823-596F-4313-8479-EA08B3E3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62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2">
            <a:extLst xmlns:a="http://schemas.openxmlformats.org/drawingml/2006/main">
              <a:ext uri="{FF2B5EF4-FFF2-40B4-BE49-F238E27FC236}">
                <a16:creationId xmlns:a16="http://schemas.microsoft.com/office/drawing/2014/main" id="{9DD326FB-70B2-4470-9167-E53E78CE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95750"/>
            <a:ext cx="3409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训练目录是否会产生结果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9C8B23-FCE5-4EB9-A5CE-E2232875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90700"/>
            <a:ext cx="52768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4DF29D-3F9B-4892-8BA3-1FAD6E0D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955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</a:defRPr>
            </a:pPr>
            <a:r>
              <a:rPr sz="1725" b="1">
                <a:solidFill>
                  <a:srgbClr val="17212B"/>
                </a:solidFill>
              </a:rPr>
              <a:t>为什么它没有成为最终答案？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38A809-EECF-4419-965E-A7598979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24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7D"/>
                </a:solidFill>
              </a:defRPr>
            </a:pPr>
            <a:r>
              <a:rPr sz="1350" b="0">
                <a:solidFill>
                  <a:srgbClr val="66727D"/>
                </a:solidFill>
              </a:rPr>
              <a:t>课程最终项目路线是：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25A1BE-2D58-4DA4-8113-BFE3DCA1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67050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A8B0"/>
                </a:solidFill>
              </a:defRPr>
            </a:pPr>
            <a:r>
              <a:rPr sz="2175" b="1">
                <a:solidFill>
                  <a:srgbClr val="12A8B0"/>
                </a:solidFill>
              </a:rPr>
              <a:t>MobileNetV2 + Faster R-CNN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D44342-F8A7-43AC-AD78-008C6215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95700"/>
            <a:ext cx="447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所以 YOLOv8 的结果只能作为 baseline / 排错证据，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不能直接替代指定模型的最终实验。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CDE937-04A2-47C5-B949-28FBC87C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quote">
            <a:extLst xmlns:a="http://schemas.openxmlformats.org/drawingml/2006/main">
              <a:ext uri="{FF2B5EF4-FFF2-40B4-BE49-F238E27FC236}">
                <a16:creationId xmlns:a16="http://schemas.microsoft.com/office/drawing/2014/main" id="{3D304570-9EBA-46AF-8B5B-10B6BD33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67325"/>
            <a:ext cx="8934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</a:defRPr>
            </a:pPr>
            <a:r>
              <a:rPr sz="1725" b="1">
                <a:solidFill>
                  <a:srgbClr val="17212B"/>
                </a:solidFill>
              </a:rPr>
              <a:t>先跑通一条路，可以降低不确定性；但一定要把“验证环境”和“最终实验”分开记。</a:t>
            </a:r>
          </a:p>
        </p:txBody>
      </p:sp>
      <p:sp>
        <p:nvSpPr>
          <p:cNvPr id="23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14FEDAD3-D5FF-401F-B011-2E24141C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YOLOv8 试跑</a:t>
            </a:r>
          </a:p>
        </p:txBody>
      </p:sp>
      <p:sp>
        <p:nvSpPr>
          <p:cNvPr id="2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76515342-596B-4129-9093-4E03F029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86525"/>
            <a:ext cx="426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项目复盘手册 · MobileNetV2 + Faster R-CNN</a:t>
            </a:r>
          </a:p>
        </p:txBody>
      </p:sp>
    </p:spTree>
    <p:extLst>
      <p:ext uri="{BB962C8B-B14F-4D97-AF65-F5344CB8AC3E}">
        <p14:creationId xmlns:p14="http://schemas.microsoft.com/office/powerpoint/2010/main" val="3964356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kicker">
            <a:extLst xmlns:a="http://schemas.openxmlformats.org/drawingml/2006/main">
              <a:ext uri="{FF2B5EF4-FFF2-40B4-BE49-F238E27FC236}">
                <a16:creationId xmlns:a16="http://schemas.microsoft.com/office/drawing/2014/main" id="{2EFDCD41-A932-4A48-97D9-3A651DEC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A8B0"/>
                </a:solidFill>
              </a:defRPr>
            </a:pPr>
            <a:r>
              <a:rPr sz="975" b="1">
                <a:solidFill>
                  <a:srgbClr val="12A8B0"/>
                </a:solidFill>
              </a:rPr>
              <a:t>真实踩坑一 · YOLOV8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568BD25-2B73-45F2-8AAA-1066279F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YOLOv8 的两个报错，后来变成了通用排错规则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2EFCDE0-6F57-4D30-BD91-68C66876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13D9820-E58F-4489-A48D-0A79D47F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286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10</a:t>
            </a:r>
          </a:p>
        </p:txBody>
      </p:sp>
      <p:sp>
        <p:nvSpPr>
          <p:cNvPr id="5" name="terminal-error 1 · path">
            <a:extLst xmlns:a="http://schemas.openxmlformats.org/drawingml/2006/main">
              <a:ext uri="{FF2B5EF4-FFF2-40B4-BE49-F238E27FC236}">
                <a16:creationId xmlns:a16="http://schemas.microsoft.com/office/drawing/2014/main" id="{6E488C49-BCEF-42EC-AFE6-2112FE25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953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461583-E0CF-4D97-8880-7D2C62D9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8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0ACF27-EB6D-459D-825E-C102EEDA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9BBFFA-0232-463A-95AE-F4A22CA3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05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FBA38B-02E0-46A8-A354-AFF4132D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05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rminal-title-error 1 · path">
            <a:extLst xmlns:a="http://schemas.openxmlformats.org/drawingml/2006/main">
              <a:ext uri="{FF2B5EF4-FFF2-40B4-BE49-F238E27FC236}">
                <a16:creationId xmlns:a16="http://schemas.microsoft.com/office/drawing/2014/main" id="{9B73F133-B438-4B4E-81A6-F158D736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8669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7C4CB"/>
                </a:solidFill>
              </a:defRPr>
            </a:pPr>
            <a:r>
              <a:rPr sz="975" b="0">
                <a:solidFill>
                  <a:srgbClr val="B7C4CB"/>
                </a:solidFill>
              </a:rPr>
              <a:t>error 1 · path</a:t>
            </a:r>
          </a:p>
        </p:txBody>
      </p:sp>
      <p:sp>
        <p:nvSpPr>
          <p:cNvPr id="11" name="terminal-line-error 1 · path-0">
            <a:extLst xmlns:a="http://schemas.openxmlformats.org/drawingml/2006/main">
              <a:ext uri="{FF2B5EF4-FFF2-40B4-BE49-F238E27FC236}">
                <a16:creationId xmlns:a16="http://schemas.microsoft.com/office/drawing/2014/main" id="{8EA6EBD4-0D7E-4D25-9275-6B7FD15E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461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9D9D"/>
                </a:solidFill>
              </a:defRPr>
            </a:pPr>
            <a:r>
              <a:rPr sz="1125" b="0">
                <a:solidFill>
                  <a:srgbClr val="FF9D9D"/>
                </a:solidFill>
              </a:rPr>
              <a:t>❌ FileNotFoundError</a:t>
            </a:r>
          </a:p>
        </p:txBody>
      </p:sp>
      <p:sp>
        <p:nvSpPr>
          <p:cNvPr id="12" name="terminal-line-error 1 · path-1">
            <a:extLst xmlns:a="http://schemas.openxmlformats.org/drawingml/2006/main">
              <a:ext uri="{FF2B5EF4-FFF2-40B4-BE49-F238E27FC236}">
                <a16:creationId xmlns:a16="http://schemas.microsoft.com/office/drawing/2014/main" id="{700389A2-01FC-418E-88A7-753024F0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461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6ED"/>
                </a:solidFill>
              </a:defRPr>
            </a:pPr>
            <a:r>
              <a:rPr sz="1125" b="0">
                <a:solidFill>
                  <a:srgbClr val="D9E6ED"/>
                </a:solidFill>
              </a:rPr>
              <a:t>data.yaml / images / labels</a:t>
            </a:r>
          </a:p>
        </p:txBody>
      </p:sp>
      <p:sp>
        <p:nvSpPr>
          <p:cNvPr id="13" name="terminal-line-error 1 · path-2">
            <a:extLst xmlns:a="http://schemas.openxmlformats.org/drawingml/2006/main">
              <a:ext uri="{FF2B5EF4-FFF2-40B4-BE49-F238E27FC236}">
                <a16:creationId xmlns:a16="http://schemas.microsoft.com/office/drawing/2014/main" id="{BC0CC847-9395-4ABA-AA3C-DB05E39A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461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D28A"/>
                </a:solidFill>
              </a:defRPr>
            </a:pPr>
            <a:r>
              <a:rPr sz="1125" b="0">
                <a:solidFill>
                  <a:srgbClr val="FFD28A"/>
                </a:solidFill>
              </a:rPr>
              <a:t>&gt; 原因：数据根目录写错</a:t>
            </a:r>
          </a:p>
        </p:txBody>
      </p:sp>
      <p:sp>
        <p:nvSpPr>
          <p:cNvPr id="14" name="terminal-line-error 1 · path-3">
            <a:extLst xmlns:a="http://schemas.openxmlformats.org/drawingml/2006/main">
              <a:ext uri="{FF2B5EF4-FFF2-40B4-BE49-F238E27FC236}">
                <a16:creationId xmlns:a16="http://schemas.microsoft.com/office/drawing/2014/main" id="{22B3A2A5-E751-4558-AAF8-21329385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461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E6B4"/>
                </a:solidFill>
              </a:defRPr>
            </a:pPr>
            <a:r>
              <a:rPr sz="1125" b="0">
                <a:solidFill>
                  <a:srgbClr val="9AE6B4"/>
                </a:solidFill>
              </a:rPr>
              <a:t>✅ 先核对绝对路径与目录树</a:t>
            </a:r>
          </a:p>
        </p:txBody>
      </p:sp>
      <p:sp>
        <p:nvSpPr>
          <p:cNvPr id="15" name="terminal-error 2 · workers">
            <a:extLst xmlns:a="http://schemas.openxmlformats.org/drawingml/2006/main">
              <a:ext uri="{FF2B5EF4-FFF2-40B4-BE49-F238E27FC236}">
                <a16:creationId xmlns:a16="http://schemas.microsoft.com/office/drawing/2014/main" id="{8BAD42D3-3C4E-4AB7-91DF-53F06ED6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09750"/>
            <a:ext cx="4953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4B4A9D-1D64-4B41-BA4A-5F267C9D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0975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8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08933A-4A51-4CEA-BDFD-2252C7B9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05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0BB372-5906-41DB-8258-4A735C44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905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20A860-CE66-40EF-A852-75E9C7E9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05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rminal-title-error 2 · workers">
            <a:extLst xmlns:a="http://schemas.openxmlformats.org/drawingml/2006/main">
              <a:ext uri="{FF2B5EF4-FFF2-40B4-BE49-F238E27FC236}">
                <a16:creationId xmlns:a16="http://schemas.microsoft.com/office/drawing/2014/main" id="{497EED77-7F55-4A13-832C-397CBA4F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7C4CB"/>
                </a:solidFill>
              </a:defRPr>
            </a:pPr>
            <a:r>
              <a:rPr sz="975" b="0">
                <a:solidFill>
                  <a:srgbClr val="B7C4CB"/>
                </a:solidFill>
              </a:rPr>
              <a:t>error 2 · workers</a:t>
            </a:r>
          </a:p>
        </p:txBody>
      </p:sp>
      <p:sp>
        <p:nvSpPr>
          <p:cNvPr id="21" name="terminal-line-error 2 · workers-0">
            <a:extLst xmlns:a="http://schemas.openxmlformats.org/drawingml/2006/main">
              <a:ext uri="{FF2B5EF4-FFF2-40B4-BE49-F238E27FC236}">
                <a16:creationId xmlns:a16="http://schemas.microsoft.com/office/drawing/2014/main" id="{F234370F-7666-49F4-B4A5-021F3BD2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47900"/>
            <a:ext cx="461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9D9D"/>
                </a:solidFill>
              </a:defRPr>
            </a:pPr>
            <a:r>
              <a:rPr sz="1125" b="0">
                <a:solidFill>
                  <a:srgbClr val="FF9D9D"/>
                </a:solidFill>
              </a:rPr>
              <a:t>❌ Windows multiprocessing error</a:t>
            </a:r>
          </a:p>
        </p:txBody>
      </p:sp>
      <p:sp>
        <p:nvSpPr>
          <p:cNvPr id="22" name="terminal-line-error 2 · workers-1">
            <a:extLst xmlns:a="http://schemas.openxmlformats.org/drawingml/2006/main">
              <a:ext uri="{FF2B5EF4-FFF2-40B4-BE49-F238E27FC236}">
                <a16:creationId xmlns:a16="http://schemas.microsoft.com/office/drawing/2014/main" id="{74E50AA3-211F-4558-9D53-55713525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76500"/>
            <a:ext cx="461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6ED"/>
                </a:solidFill>
              </a:defRPr>
            </a:pPr>
            <a:r>
              <a:rPr sz="1125" b="0">
                <a:solidFill>
                  <a:srgbClr val="D9E6ED"/>
                </a:solidFill>
              </a:rPr>
              <a:t>workers=8</a:t>
            </a:r>
          </a:p>
        </p:txBody>
      </p:sp>
      <p:sp>
        <p:nvSpPr>
          <p:cNvPr id="23" name="terminal-line-error 2 · workers-2">
            <a:extLst xmlns:a="http://schemas.openxmlformats.org/drawingml/2006/main">
              <a:ext uri="{FF2B5EF4-FFF2-40B4-BE49-F238E27FC236}">
                <a16:creationId xmlns:a16="http://schemas.microsoft.com/office/drawing/2014/main" id="{65A9FBC2-811C-4107-A8F9-3C66A931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05100"/>
            <a:ext cx="461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D28A"/>
                </a:solidFill>
              </a:defRPr>
            </a:pPr>
            <a:r>
              <a:rPr sz="1125" b="0">
                <a:solidFill>
                  <a:srgbClr val="FFD28A"/>
                </a:solidFill>
              </a:rPr>
              <a:t>&gt; 原因：Windows 启动多进程方式不同</a:t>
            </a:r>
          </a:p>
        </p:txBody>
      </p:sp>
      <p:sp>
        <p:nvSpPr>
          <p:cNvPr id="24" name="terminal-line-error 2 · workers-3">
            <a:extLst xmlns:a="http://schemas.openxmlformats.org/drawingml/2006/main">
              <a:ext uri="{FF2B5EF4-FFF2-40B4-BE49-F238E27FC236}">
                <a16:creationId xmlns:a16="http://schemas.microsoft.com/office/drawing/2014/main" id="{5ED4E080-DE5B-4C19-993B-4547A0E0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933700"/>
            <a:ext cx="461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E6B4"/>
                </a:solidFill>
              </a:defRPr>
            </a:pPr>
            <a:r>
              <a:rPr sz="1125" b="0">
                <a:solidFill>
                  <a:srgbClr val="9AE6B4"/>
                </a:solidFill>
              </a:rPr>
              <a:t>✅ workers=0 + main guard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AF41E8-6BBE-4732-84A4-86F8B378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C67A35-1685-4271-95CA-6A87A034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05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通用排错顺序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86B01B-2FEB-46AA-8071-08CCC7EC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863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12B071-2D16-4823-8934-72E9585F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86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B503E8-AB7C-435E-8489-57C24B20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705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看错误最后一行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3E0DDC-CD1B-41F6-898F-817C3EC3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863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052C05-48A5-4305-B077-50F0DEC3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86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CF6FDC-AD1A-4F27-85B9-E47726B0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705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定位是路径/环境/数据/接口哪一类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11CD4B-0804-4BA3-BAD1-B38CA42A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863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D33032-7764-4BD1-B91D-DA8AABF1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86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BA6557-F5C0-4468-BC50-5C95DA11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05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只改一个变量再重跑</a:t>
            </a:r>
          </a:p>
        </p:txBody>
      </p:sp>
      <p:sp>
        <p:nvSpPr>
          <p:cNvPr id="36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18C749EF-C835-4387-AFB7-6B68DC8C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YOLOv8 试跑</a:t>
            </a:r>
          </a:p>
        </p:txBody>
      </p:sp>
      <p:sp>
        <p:nvSpPr>
          <p:cNvPr id="37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2711F26B-D343-42BE-8E96-156E1017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86525"/>
            <a:ext cx="426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项目复盘手册 · MobileNetV2 + Faster R-CNN</a:t>
            </a:r>
          </a:p>
        </p:txBody>
      </p:sp>
    </p:spTree>
    <p:extLst>
      <p:ext uri="{BB962C8B-B14F-4D97-AF65-F5344CB8AC3E}">
        <p14:creationId xmlns:p14="http://schemas.microsoft.com/office/powerpoint/2010/main" val="10762328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kicker">
            <a:extLst xmlns:a="http://schemas.openxmlformats.org/drawingml/2006/main">
              <a:ext uri="{FF2B5EF4-FFF2-40B4-BE49-F238E27FC236}">
                <a16:creationId xmlns:a16="http://schemas.microsoft.com/office/drawing/2014/main" id="{6097764A-4A53-44FE-912A-E789407E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A8B0"/>
                </a:solidFill>
              </a:defRPr>
            </a:pPr>
            <a:r>
              <a:rPr sz="975" b="1">
                <a:solidFill>
                  <a:srgbClr val="12A8B0"/>
                </a:solidFill>
              </a:rPr>
              <a:t>阶段四 · 模型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AEEC09-D39E-4BB1-851B-93388F11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最终模型路线：轻量特征提取 + 两阶段检测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4553A6B-0EE0-4FB8-A919-39954A5C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A91B809-98C1-46E0-8929-A1B18143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286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572073-53A2-4C11-B69C-5D3883DC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输入图片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7E44DD-0CE5-4685-87C3-1AF4664A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6479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6727D"/>
                </a:solidFill>
              </a:defRPr>
            </a:pPr>
            <a:r>
              <a:rPr sz="2400" b="1">
                <a:solidFill>
                  <a:srgbClr val="66727D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AA3ACC-CEC7-46A9-B6F9-526D7AC4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145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F8"/>
          </a:solidFill>
          <a:ln xmlns:a="http://schemas.openxmlformats.org/drawingml/2006/main" w="19050">
            <a:solidFill>
              <a:srgbClr val="12A8B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857140-924B-4592-8D49-ECD89AAD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8125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2A8B0"/>
                </a:solidFill>
              </a:defRPr>
            </a:pPr>
            <a:r>
              <a:rPr sz="2100" b="1">
                <a:solidFill>
                  <a:srgbClr val="12A8B0"/>
                </a:solidFill>
              </a:rPr>
              <a:t>MobileNetV2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BF4E59-257F-4F98-9DD8-4DE28243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7655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Backbone</a:t>
            </a:r>
          </a:p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提取多层特征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18D8A8-DA44-44DA-A6BC-6FC703E5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479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6727D"/>
                </a:solidFill>
              </a:defRPr>
            </a:pPr>
            <a:r>
              <a:rPr sz="2400" b="1">
                <a:solidFill>
                  <a:srgbClr val="66727D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A243F6-7E98-412C-8303-195D0270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790700"/>
            <a:ext cx="2952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19050">
            <a:solidFill>
              <a:srgbClr val="F9731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989E6A-E71B-4D76-81FB-FDD95679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3835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97316"/>
                </a:solidFill>
              </a:defRPr>
            </a:pPr>
            <a:r>
              <a:rPr sz="2100" b="1">
                <a:solidFill>
                  <a:srgbClr val="F97316"/>
                </a:solidFill>
              </a:rPr>
              <a:t>Faster R-CNN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E3B983-CFDD-4B31-8E4D-9FA9962B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628900"/>
            <a:ext cx="24193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RPN：提出候选区域</a:t>
            </a:r>
          </a:p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RoI：抽取区域特征</a:t>
            </a:r>
          </a:p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分类 + 边框回归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381107-604E-46E2-A60F-AAFA1E96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479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6727D"/>
                </a:solidFill>
              </a:defRPr>
            </a:pPr>
            <a:r>
              <a:rPr sz="2400" b="1">
                <a:solidFill>
                  <a:srgbClr val="66727D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747DFB-E59E-4A1F-A45B-B54FA2B3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14550"/>
            <a:ext cx="2171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F"/>
          </a:solidFill>
          <a:ln xmlns:a="http://schemas.openxmlformats.org/drawingml/2006/main" w="19050">
            <a:solidFill>
              <a:srgbClr val="2D6C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26DC93-FC47-4439-8E6B-9D4989F8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003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D6CDF"/>
                </a:solidFill>
              </a:defRPr>
            </a:pPr>
            <a:r>
              <a:rPr sz="1800" b="1">
                <a:solidFill>
                  <a:srgbClr val="2D6CDF"/>
                </a:solidFill>
              </a:rPr>
              <a:t>输出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574263-4423-44A6-81F1-381609C9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1465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fire / smoke</a:t>
            </a:r>
          </a:p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框 + 置信度</a:t>
            </a:r>
          </a:p>
        </p:txBody>
      </p:sp>
      <p:sp>
        <p:nvSpPr>
          <p:cNvPr id="18" name="metric-类别编号">
            <a:extLst xmlns:a="http://schemas.openxmlformats.org/drawingml/2006/main">
              <a:ext uri="{FF2B5EF4-FFF2-40B4-BE49-F238E27FC236}">
                <a16:creationId xmlns:a16="http://schemas.microsoft.com/office/drawing/2014/main" id="{0DAC45F5-F03E-49C4-B2D4-5F85236E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29150"/>
            <a:ext cx="3143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D261DB-B1B1-4078-B697-00D4A237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291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metric-label-类别编号">
            <a:extLst xmlns:a="http://schemas.openxmlformats.org/drawingml/2006/main">
              <a:ext uri="{FF2B5EF4-FFF2-40B4-BE49-F238E27FC236}">
                <a16:creationId xmlns:a16="http://schemas.microsoft.com/office/drawing/2014/main" id="{8B9BA7F7-89A8-4277-8448-38602E5B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78155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类别编号</a:t>
            </a:r>
          </a:p>
        </p:txBody>
      </p:sp>
      <p:sp>
        <p:nvSpPr>
          <p:cNvPr id="21" name="metric-value-类别编号">
            <a:extLst xmlns:a="http://schemas.openxmlformats.org/drawingml/2006/main">
              <a:ext uri="{FF2B5EF4-FFF2-40B4-BE49-F238E27FC236}">
                <a16:creationId xmlns:a16="http://schemas.microsoft.com/office/drawing/2014/main" id="{F84E678E-E831-4E1A-88D8-02392B94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029200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2B"/>
                </a:solidFill>
              </a:defRPr>
            </a:pPr>
            <a:r>
              <a:rPr sz="2250" b="1">
                <a:solidFill>
                  <a:srgbClr val="17212B"/>
                </a:solidFill>
              </a:rPr>
              <a:t>0 背景 / 1 火焰 / 2 烟雾</a:t>
            </a:r>
          </a:p>
        </p:txBody>
      </p:sp>
      <p:sp>
        <p:nvSpPr>
          <p:cNvPr id="22" name="metric-训练策略">
            <a:extLst xmlns:a="http://schemas.openxmlformats.org/drawingml/2006/main">
              <a:ext uri="{FF2B5EF4-FFF2-40B4-BE49-F238E27FC236}">
                <a16:creationId xmlns:a16="http://schemas.microsoft.com/office/drawing/2014/main" id="{AE770844-5576-4E3B-83A0-B45C1D91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29150"/>
            <a:ext cx="3143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79E1F3-2662-4BB4-898E-0AE2D03A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291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metric-label-训练策略">
            <a:extLst xmlns:a="http://schemas.openxmlformats.org/drawingml/2006/main">
              <a:ext uri="{FF2B5EF4-FFF2-40B4-BE49-F238E27FC236}">
                <a16:creationId xmlns:a16="http://schemas.microsoft.com/office/drawing/2014/main" id="{25D6F420-5481-471B-A95B-D93414FE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78155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训练策略</a:t>
            </a:r>
          </a:p>
        </p:txBody>
      </p:sp>
      <p:sp>
        <p:nvSpPr>
          <p:cNvPr id="25" name="metric-value-训练策略">
            <a:extLst xmlns:a="http://schemas.openxmlformats.org/drawingml/2006/main">
              <a:ext uri="{FF2B5EF4-FFF2-40B4-BE49-F238E27FC236}">
                <a16:creationId xmlns:a16="http://schemas.microsoft.com/office/drawing/2014/main" id="{092AAB28-8B24-4D71-8C00-E51C86BD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029200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2B"/>
                </a:solidFill>
              </a:defRPr>
            </a:pPr>
            <a:r>
              <a:rPr sz="2250" b="1">
                <a:solidFill>
                  <a:srgbClr val="17212B"/>
                </a:solidFill>
              </a:rPr>
              <a:t>AdamW · 1e-4</a:t>
            </a:r>
          </a:p>
        </p:txBody>
      </p:sp>
      <p:sp>
        <p:nvSpPr>
          <p:cNvPr id="26" name="metric-最终实验">
            <a:extLst xmlns:a="http://schemas.openxmlformats.org/drawingml/2006/main">
              <a:ext uri="{FF2B5EF4-FFF2-40B4-BE49-F238E27FC236}">
                <a16:creationId xmlns:a16="http://schemas.microsoft.com/office/drawing/2014/main" id="{6DF3A47F-52D8-46B0-93FA-EAA3EDD8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29150"/>
            <a:ext cx="3143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9E08AC-110C-466A-A9F0-4ED71A5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291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metric-label-最终实验">
            <a:extLst xmlns:a="http://schemas.openxmlformats.org/drawingml/2006/main">
              <a:ext uri="{FF2B5EF4-FFF2-40B4-BE49-F238E27FC236}">
                <a16:creationId xmlns:a16="http://schemas.microsoft.com/office/drawing/2014/main" id="{6993D45E-1D1A-4B7C-8D32-FA9615B4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78155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最终实验</a:t>
            </a:r>
          </a:p>
        </p:txBody>
      </p:sp>
      <p:sp>
        <p:nvSpPr>
          <p:cNvPr id="29" name="metric-value-最终实验">
            <a:extLst xmlns:a="http://schemas.openxmlformats.org/drawingml/2006/main">
              <a:ext uri="{FF2B5EF4-FFF2-40B4-BE49-F238E27FC236}">
                <a16:creationId xmlns:a16="http://schemas.microsoft.com/office/drawing/2014/main" id="{5D1B1B14-080D-4B99-A14E-5CADD7B0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029200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2B"/>
                </a:solidFill>
              </a:defRPr>
            </a:pPr>
            <a:r>
              <a:rPr sz="2250" b="1">
                <a:solidFill>
                  <a:srgbClr val="17212B"/>
                </a:solidFill>
              </a:rPr>
              <a:t>100 epochs · batch 8</a:t>
            </a:r>
          </a:p>
        </p:txBody>
      </p:sp>
      <p:sp>
        <p:nvSpPr>
          <p:cNvPr id="30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B483EBA7-E6E1-4CBE-A94C-B8E41AC0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模型路线</a:t>
            </a:r>
          </a:p>
        </p:txBody>
      </p:sp>
      <p:sp>
        <p:nvSpPr>
          <p:cNvPr id="31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23C1C38C-6744-49F1-B37F-14905E2B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86525"/>
            <a:ext cx="426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项目复盘手册 · MobileNetV2 + Faster R-CNN</a:t>
            </a:r>
          </a:p>
        </p:txBody>
      </p:sp>
    </p:spTree>
    <p:extLst>
      <p:ext uri="{BB962C8B-B14F-4D97-AF65-F5344CB8AC3E}">
        <p14:creationId xmlns:p14="http://schemas.microsoft.com/office/powerpoint/2010/main" val="15507515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kicker">
            <a:extLst xmlns:a="http://schemas.openxmlformats.org/drawingml/2006/main">
              <a:ext uri="{FF2B5EF4-FFF2-40B4-BE49-F238E27FC236}">
                <a16:creationId xmlns:a16="http://schemas.microsoft.com/office/drawing/2014/main" id="{CAA00725-B64A-4D66-B83C-013E933D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A8B0"/>
                </a:solidFill>
              </a:defRPr>
            </a:pPr>
            <a:r>
              <a:rPr sz="975" b="1">
                <a:solidFill>
                  <a:srgbClr val="12A8B0"/>
                </a:solidFill>
              </a:rPr>
              <a:t>真实踩坑二 · 本地基线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1C70CC7-43B1-404A-A75D-CC8AD442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本地 10 轮证明模型能训练，但还不足以支撑完整报告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FF27691-4B41-4225-AF75-D8AD9F9F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C582193-2F4B-437A-8E85-2CB9F650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286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12</a:t>
            </a:r>
          </a:p>
        </p:txBody>
      </p:sp>
      <p:sp>
        <p:nvSpPr>
          <p:cNvPr id="5" name="metric-本地设备">
            <a:extLst xmlns:a="http://schemas.openxmlformats.org/drawingml/2006/main">
              <a:ext uri="{FF2B5EF4-FFF2-40B4-BE49-F238E27FC236}">
                <a16:creationId xmlns:a16="http://schemas.microsoft.com/office/drawing/2014/main" id="{B1855B28-5E82-4948-AEE9-3D205AAE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4D5B24-655B-496E-9B1C-6DE9A0CF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ric-label-本地设备">
            <a:extLst xmlns:a="http://schemas.openxmlformats.org/drawingml/2006/main">
              <a:ext uri="{FF2B5EF4-FFF2-40B4-BE49-F238E27FC236}">
                <a16:creationId xmlns:a16="http://schemas.microsoft.com/office/drawing/2014/main" id="{3A5AA445-4E3A-4E14-B4AD-6AB02F98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62150"/>
            <a:ext cx="2057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本地设备</a:t>
            </a:r>
          </a:p>
        </p:txBody>
      </p:sp>
      <p:sp>
        <p:nvSpPr>
          <p:cNvPr id="8" name="metric-value-本地设备">
            <a:extLst xmlns:a="http://schemas.openxmlformats.org/drawingml/2006/main">
              <a:ext uri="{FF2B5EF4-FFF2-40B4-BE49-F238E27FC236}">
                <a16:creationId xmlns:a16="http://schemas.microsoft.com/office/drawing/2014/main" id="{B95D6874-1586-4A27-8BDC-D98E9E7B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2B"/>
                </a:solidFill>
              </a:defRPr>
            </a:pPr>
            <a:r>
              <a:rPr sz="2250" b="1">
                <a:solidFill>
                  <a:srgbClr val="17212B"/>
                </a:solidFill>
              </a:rPr>
              <a:t>RTX 4060</a:t>
            </a:r>
          </a:p>
        </p:txBody>
      </p:sp>
      <p:sp>
        <p:nvSpPr>
          <p:cNvPr id="9" name="metric-训练轮数">
            <a:extLst xmlns:a="http://schemas.openxmlformats.org/drawingml/2006/main">
              <a:ext uri="{FF2B5EF4-FFF2-40B4-BE49-F238E27FC236}">
                <a16:creationId xmlns:a16="http://schemas.microsoft.com/office/drawing/2014/main" id="{37DAB27A-21A8-4ADF-A3AC-DAD50848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4B5487-5E19-411A-8962-60A09B1E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etric-label-训练轮数">
            <a:extLst xmlns:a="http://schemas.openxmlformats.org/drawingml/2006/main">
              <a:ext uri="{FF2B5EF4-FFF2-40B4-BE49-F238E27FC236}">
                <a16:creationId xmlns:a16="http://schemas.microsoft.com/office/drawing/2014/main" id="{C7246806-DB85-4667-9601-34D96E42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62150"/>
            <a:ext cx="2057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训练轮数</a:t>
            </a:r>
          </a:p>
        </p:txBody>
      </p:sp>
      <p:sp>
        <p:nvSpPr>
          <p:cNvPr id="12" name="metric-value-训练轮数">
            <a:extLst xmlns:a="http://schemas.openxmlformats.org/drawingml/2006/main">
              <a:ext uri="{FF2B5EF4-FFF2-40B4-BE49-F238E27FC236}">
                <a16:creationId xmlns:a16="http://schemas.microsoft.com/office/drawing/2014/main" id="{4BC0F52F-3901-4550-86D3-D8767F51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0980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2B"/>
                </a:solidFill>
              </a:defRPr>
            </a:pPr>
            <a:r>
              <a:rPr sz="2250" b="1">
                <a:solidFill>
                  <a:srgbClr val="17212B"/>
                </a:solidFill>
              </a:rPr>
              <a:t>10 epochs</a:t>
            </a:r>
          </a:p>
        </p:txBody>
      </p:sp>
      <p:sp>
        <p:nvSpPr>
          <p:cNvPr id="13" name="metric-训练体验">
            <a:extLst xmlns:a="http://schemas.openxmlformats.org/drawingml/2006/main">
              <a:ext uri="{FF2B5EF4-FFF2-40B4-BE49-F238E27FC236}">
                <a16:creationId xmlns:a16="http://schemas.microsoft.com/office/drawing/2014/main" id="{5ED4F942-A890-4C34-AFB7-0D4B8AB1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0975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DBF21B-393D-4B99-A3BB-F39F8B37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097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etric-label-训练体验">
            <a:extLst xmlns:a="http://schemas.openxmlformats.org/drawingml/2006/main">
              <a:ext uri="{FF2B5EF4-FFF2-40B4-BE49-F238E27FC236}">
                <a16:creationId xmlns:a16="http://schemas.microsoft.com/office/drawing/2014/main" id="{D5510BEE-9C4E-46C6-8983-61CB3B0A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2057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训练体验</a:t>
            </a:r>
          </a:p>
        </p:txBody>
      </p:sp>
      <p:sp>
        <p:nvSpPr>
          <p:cNvPr id="16" name="metric-value-训练体验">
            <a:extLst xmlns:a="http://schemas.openxmlformats.org/drawingml/2006/main">
              <a:ext uri="{FF2B5EF4-FFF2-40B4-BE49-F238E27FC236}">
                <a16:creationId xmlns:a16="http://schemas.microsoft.com/office/drawing/2014/main" id="{3C1979D9-C0CD-4D0B-969E-6B888A29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0980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2B"/>
                </a:solidFill>
              </a:defRPr>
            </a:pPr>
            <a:r>
              <a:rPr sz="2250" b="1">
                <a:solidFill>
                  <a:srgbClr val="17212B"/>
                </a:solidFill>
              </a:rPr>
              <a:t>接近一夜</a:t>
            </a:r>
          </a:p>
        </p:txBody>
      </p:sp>
      <p:sp>
        <p:nvSpPr>
          <p:cNvPr id="17" name="metric-mAP@0.5">
            <a:extLst xmlns:a="http://schemas.openxmlformats.org/drawingml/2006/main">
              <a:ext uri="{FF2B5EF4-FFF2-40B4-BE49-F238E27FC236}">
                <a16:creationId xmlns:a16="http://schemas.microsoft.com/office/drawing/2014/main" id="{BF4ED35A-C774-42E6-96FD-D8AA6E48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0975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0E78E5-C3C7-4F6D-917D-66E141E8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097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metric-label-mAP@0.5">
            <a:extLst xmlns:a="http://schemas.openxmlformats.org/drawingml/2006/main">
              <a:ext uri="{FF2B5EF4-FFF2-40B4-BE49-F238E27FC236}">
                <a16:creationId xmlns:a16="http://schemas.microsoft.com/office/drawing/2014/main" id="{F7AE763E-7BDD-4746-89EB-83AD9B7C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62150"/>
            <a:ext cx="2057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mAP@0.5</a:t>
            </a:r>
          </a:p>
        </p:txBody>
      </p:sp>
      <p:sp>
        <p:nvSpPr>
          <p:cNvPr id="20" name="metric-value-mAP@0.5">
            <a:extLst xmlns:a="http://schemas.openxmlformats.org/drawingml/2006/main">
              <a:ext uri="{FF2B5EF4-FFF2-40B4-BE49-F238E27FC236}">
                <a16:creationId xmlns:a16="http://schemas.microsoft.com/office/drawing/2014/main" id="{A3C27F5F-4FFE-4057-BC0D-FB49E498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0980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2B"/>
                </a:solidFill>
              </a:defRPr>
            </a:pPr>
            <a:r>
              <a:rPr sz="2250" b="1">
                <a:solidFill>
                  <a:srgbClr val="17212B"/>
                </a:solidFill>
              </a:rPr>
              <a:t>≈ 0.6093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A0413B-F34B-4B8F-B59B-8F1F7372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50863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346234-8C1F-4F7F-ADFF-3E5A3D3D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19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</a:defRPr>
            </a:pPr>
            <a:r>
              <a:rPr sz="1650" b="1">
                <a:solidFill>
                  <a:srgbClr val="17212B"/>
                </a:solidFill>
              </a:rPr>
              <a:t>这次跑通了什么？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05D5EC-C866-4B65-A0D9-9D0CD5A6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62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ullet-0">
            <a:extLst xmlns:a="http://schemas.openxmlformats.org/drawingml/2006/main">
              <a:ext uri="{FF2B5EF4-FFF2-40B4-BE49-F238E27FC236}">
                <a16:creationId xmlns:a16="http://schemas.microsoft.com/office/drawing/2014/main" id="{397F30B9-6E7F-4B37-8AD4-B916C782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95750"/>
            <a:ext cx="398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数据读取与标签转换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25DD7B-8508-4E38-A54A-EE7D6958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67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ullet-1">
            <a:extLst xmlns:a="http://schemas.openxmlformats.org/drawingml/2006/main">
              <a:ext uri="{FF2B5EF4-FFF2-40B4-BE49-F238E27FC236}">
                <a16:creationId xmlns:a16="http://schemas.microsoft.com/office/drawing/2014/main" id="{20058E42-1460-4DE2-BA78-9AC7F89B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398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MobileNetV2 + Faster R-CNN 前向/反向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3C6E74-FBC4-4C1D-8862-3CB64513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72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ullet-2">
            <a:extLst xmlns:a="http://schemas.openxmlformats.org/drawingml/2006/main">
              <a:ext uri="{FF2B5EF4-FFF2-40B4-BE49-F238E27FC236}">
                <a16:creationId xmlns:a16="http://schemas.microsoft.com/office/drawing/2014/main" id="{3006C98B-53B4-406A-8042-862782A6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05350"/>
            <a:ext cx="398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模型权重能够保存并再次评估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EE9A62-3126-4C6D-9574-83E0DE5C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71850"/>
            <a:ext cx="53149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683194-32F3-41AA-957E-F135894D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19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</a:defRPr>
            </a:pPr>
            <a:r>
              <a:rPr sz="1650" b="1">
                <a:solidFill>
                  <a:srgbClr val="17212B"/>
                </a:solidFill>
              </a:rPr>
              <a:t>还没有解决什么？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1A213C-C471-46ED-93E0-1D24A583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62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ullet-0">
            <a:extLst xmlns:a="http://schemas.openxmlformats.org/drawingml/2006/main">
              <a:ext uri="{FF2B5EF4-FFF2-40B4-BE49-F238E27FC236}">
                <a16:creationId xmlns:a16="http://schemas.microsoft.com/office/drawing/2014/main" id="{5E98D7F4-D95F-4E64-94DF-F17AA423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95750"/>
            <a:ext cx="426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没有按 epoch 记录验证指标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6BA4C2-5739-4206-88D4-EC507435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67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bullet-1">
            <a:extLst xmlns:a="http://schemas.openxmlformats.org/drawingml/2006/main">
              <a:ext uri="{FF2B5EF4-FFF2-40B4-BE49-F238E27FC236}">
                <a16:creationId xmlns:a16="http://schemas.microsoft.com/office/drawing/2014/main" id="{39C9E955-517A-4489-AF8E-627F5DB3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00550"/>
            <a:ext cx="426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没有完整 val loss / 子损失历史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FB4237-65E1-477B-8C91-93110B4A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72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bullet-2">
            <a:extLst xmlns:a="http://schemas.openxmlformats.org/drawingml/2006/main">
              <a:ext uri="{FF2B5EF4-FFF2-40B4-BE49-F238E27FC236}">
                <a16:creationId xmlns:a16="http://schemas.microsoft.com/office/drawing/2014/main" id="{29F18A83-7B69-4622-B1DA-580343CD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05350"/>
            <a:ext cx="426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无法生成要求的全套变化曲线</a:t>
            </a:r>
          </a:p>
        </p:txBody>
      </p:sp>
      <p:sp>
        <p:nvSpPr>
          <p:cNvPr id="37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C55B38F7-055F-47FB-9828-7CA9FDFA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本地基线</a:t>
            </a:r>
          </a:p>
        </p:txBody>
      </p:sp>
      <p:sp>
        <p:nvSpPr>
          <p:cNvPr id="38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C94BA222-F48E-4494-A072-891F535C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86525"/>
            <a:ext cx="426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项目复盘手册 · MobileNetV2 + Faster R-CNN</a:t>
            </a:r>
          </a:p>
        </p:txBody>
      </p:sp>
    </p:spTree>
    <p:extLst>
      <p:ext uri="{BB962C8B-B14F-4D97-AF65-F5344CB8AC3E}">
        <p14:creationId xmlns:p14="http://schemas.microsoft.com/office/powerpoint/2010/main" val="10435461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D5335F35-270D-4316-B033-B27017EE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A8B0"/>
                </a:solidFill>
              </a:defRPr>
            </a:pPr>
            <a:r>
              <a:rPr sz="975" b="1">
                <a:solidFill>
                  <a:srgbClr val="12A8B0"/>
                </a:solidFill>
              </a:rPr>
              <a:t>真实踩坑二 · 日志设计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57FE07-EEE3-48D3-BDF8-D9397CEC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“模型训练成功”与“实验数据可解释”是两件事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9CC6573-5116-48A8-B917-C39D3A0C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3E98522-3A83-42E4-A1AD-311D50AF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286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636CE2-1E63-42F5-B8F1-BDF20B80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191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19050">
            <a:solidFill>
              <a:srgbClr val="2F85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02FC3D-F31F-4B43-9DDB-C304064D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55A"/>
                </a:solidFill>
              </a:defRPr>
            </a:pPr>
            <a:r>
              <a:rPr sz="1650" b="1">
                <a:solidFill>
                  <a:srgbClr val="2F855A"/>
                </a:solidFill>
              </a:rPr>
              <a:t>已有数据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DF57CB-BBF4-4A5E-9528-6E2853AF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0">
            <a:extLst xmlns:a="http://schemas.openxmlformats.org/drawingml/2006/main">
              <a:ext uri="{FF2B5EF4-FFF2-40B4-BE49-F238E27FC236}">
                <a16:creationId xmlns:a16="http://schemas.microsoft.com/office/drawing/2014/main" id="{6AC90973-56ED-404B-BF0E-A263E542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47950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总 loss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9DF591-0D14-4081-92DC-1E6F0C1C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14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B6C18B9E-2B65-449E-8F13-2053973B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最终权重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82623F-1A59-42E3-B82D-B214A271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14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2">
            <a:extLst xmlns:a="http://schemas.openxmlformats.org/drawingml/2006/main">
              <a:ext uri="{FF2B5EF4-FFF2-40B4-BE49-F238E27FC236}">
                <a16:creationId xmlns:a16="http://schemas.microsoft.com/office/drawing/2014/main" id="{79576AB5-8C55-4E08-B196-84417412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48050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一次或少量验证结果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4654E7-8B46-4756-8C01-C7E9EFA3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809750"/>
            <a:ext cx="59436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19050">
            <a:solidFill>
              <a:srgbClr val="F9731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152FE9-C255-4836-9E83-972195B6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1145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97316"/>
                </a:solidFill>
              </a:defRPr>
            </a:pPr>
            <a:r>
              <a:rPr sz="1650" b="1">
                <a:solidFill>
                  <a:srgbClr val="F97316"/>
                </a:solidFill>
              </a:rPr>
              <a:t>要画完整曲线，至少要按 epoch 保存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CC8309-D749-4F9F-9B61-6413B40E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432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epoch · train_loss · val_loss · mAP50 · mAP50_95</a:t>
            </a:r>
          </a:p>
          <a:p xmlns:a="http://schemas.openxmlformats.org/drawingml/2006/main">
            <a:pPr algn="l"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precision · recall · learning_rate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959FD6-93CD-45EA-90A0-C99CA3CE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quote">
            <a:extLst xmlns:a="http://schemas.openxmlformats.org/drawingml/2006/main">
              <a:ext uri="{FF2B5EF4-FFF2-40B4-BE49-F238E27FC236}">
                <a16:creationId xmlns:a16="http://schemas.microsoft.com/office/drawing/2014/main" id="{A88AD18B-88C9-4ACB-BF50-4A898604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67325"/>
            <a:ext cx="960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</a:defRPr>
            </a:pPr>
            <a:r>
              <a:rPr sz="1725" b="1">
                <a:solidFill>
                  <a:srgbClr val="17212B"/>
                </a:solidFill>
              </a:rPr>
              <a:t>补日志比补一张图更重要：图表只是日志的可视化结果。</a:t>
            </a:r>
          </a:p>
        </p:txBody>
      </p:sp>
      <p:sp>
        <p:nvSpPr>
          <p:cNvPr id="18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270F2FC8-6491-4B6B-A21D-F57B6C55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日志设计</a:t>
            </a:r>
          </a:p>
        </p:txBody>
      </p:sp>
      <p:sp>
        <p:nvSpPr>
          <p:cNvPr id="19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7AAE9D65-3336-4F0C-B540-4AA3FA1A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86525"/>
            <a:ext cx="426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项目复盘手册 · MobileNetV2 + Faster R-CNN</a:t>
            </a:r>
          </a:p>
        </p:txBody>
      </p:sp>
    </p:spTree>
    <p:extLst>
      <p:ext uri="{BB962C8B-B14F-4D97-AF65-F5344CB8AC3E}">
        <p14:creationId xmlns:p14="http://schemas.microsoft.com/office/powerpoint/2010/main" val="10662440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icker">
            <a:extLst xmlns:a="http://schemas.openxmlformats.org/drawingml/2006/main">
              <a:ext uri="{FF2B5EF4-FFF2-40B4-BE49-F238E27FC236}">
                <a16:creationId xmlns:a16="http://schemas.microsoft.com/office/drawing/2014/main" id="{5C798EE3-A8FB-4092-A891-35644A09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A8B0"/>
                </a:solidFill>
              </a:defRPr>
            </a:pPr>
            <a:r>
              <a:rPr sz="975" b="1">
                <a:solidFill>
                  <a:srgbClr val="12A8B0"/>
                </a:solidFill>
              </a:rPr>
              <a:t>阶段五 · 云端实验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AAB84C-DF72-479C-B16C-ADC62942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云端训练的决定，不只是为了更快，而是为了把实验做完整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4FDF7BB-D5A3-41FA-8B7B-5CBA3AE0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203734F-3390-47AF-9916-6BDCC2CF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286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07ECDE-07F5-4F9F-8ABC-37F29705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6291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8D72DA-3D9A-4624-84D0-36CCC179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336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D6CDF"/>
                </a:solidFill>
              </a:defRPr>
            </a:pPr>
            <a:r>
              <a:rPr sz="1800" b="1">
                <a:solidFill>
                  <a:srgbClr val="2D6CDF"/>
                </a:solidFill>
              </a:rPr>
              <a:t>本地 RTX 4060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CC0F0D-EBF7-43FA-9775-1A8935D6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2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2B"/>
                </a:solidFill>
              </a:defRPr>
            </a:pPr>
            <a:r>
              <a:rPr sz="2100" b="1">
                <a:solidFill>
                  <a:srgbClr val="17212B"/>
                </a:solidFill>
              </a:rPr>
              <a:t>能跑，但代价高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AEAD80-CF8B-42A9-94D0-89A16CBA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05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0">
            <a:extLst xmlns:a="http://schemas.openxmlformats.org/drawingml/2006/main">
              <a:ext uri="{FF2B5EF4-FFF2-40B4-BE49-F238E27FC236}">
                <a16:creationId xmlns:a16="http://schemas.microsoft.com/office/drawing/2014/main" id="{5E75E2B0-06C3-432C-9820-46DF5E0B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38500"/>
            <a:ext cx="321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batch 较小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612E9C-20A4-4BEE-B2D5-63EEBFE9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29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-1">
            <a:extLst xmlns:a="http://schemas.openxmlformats.org/drawingml/2006/main">
              <a:ext uri="{FF2B5EF4-FFF2-40B4-BE49-F238E27FC236}">
                <a16:creationId xmlns:a16="http://schemas.microsoft.com/office/drawing/2014/main" id="{91A23B88-DFDA-478D-9AA1-3C234BCA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62350"/>
            <a:ext cx="321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单轮时间长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4FF461-8040-4452-A1D0-253CF7EA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52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2">
            <a:extLst xmlns:a="http://schemas.openxmlformats.org/drawingml/2006/main">
              <a:ext uri="{FF2B5EF4-FFF2-40B4-BE49-F238E27FC236}">
                <a16:creationId xmlns:a16="http://schemas.microsoft.com/office/drawing/2014/main" id="{185CBE72-FF58-4869-ACE3-166AEB55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86200"/>
            <a:ext cx="321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10 轮已接近一夜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709003-51A2-4BCB-8922-59E90CB4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76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3">
            <a:extLst xmlns:a="http://schemas.openxmlformats.org/drawingml/2006/main">
              <a:ext uri="{FF2B5EF4-FFF2-40B4-BE49-F238E27FC236}">
                <a16:creationId xmlns:a16="http://schemas.microsoft.com/office/drawing/2014/main" id="{96F35BE7-4A22-4FD7-9594-05ABD63E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10050"/>
            <a:ext cx="321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不适合反复试错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0651C6-40F5-4117-9077-88244763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9560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97316"/>
                </a:solidFill>
              </a:defRPr>
            </a:pPr>
            <a:r>
              <a:rPr sz="2850" b="1">
                <a:solidFill>
                  <a:srgbClr val="F97316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90FD2E-E86B-45AB-B5DC-077573EB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8387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F8"/>
          </a:solidFill>
          <a:ln xmlns:a="http://schemas.openxmlformats.org/drawingml/2006/main" w="19050">
            <a:solidFill>
              <a:srgbClr val="12A8B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EAABC2-F8E5-457A-8667-50DA1C2C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133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A8B0"/>
                </a:solidFill>
              </a:defRPr>
            </a:pPr>
            <a:r>
              <a:rPr sz="1800" b="1">
                <a:solidFill>
                  <a:srgbClr val="12A8B0"/>
                </a:solidFill>
              </a:rPr>
              <a:t>云端 RTX 5090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D0FA2A-F7A7-4556-817E-527B789B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628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2B"/>
                </a:solidFill>
              </a:defRPr>
            </a:pPr>
            <a:r>
              <a:rPr sz="2100" b="1">
                <a:solidFill>
                  <a:srgbClr val="17212B"/>
                </a:solidFill>
              </a:rPr>
              <a:t>一次跑完 100 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EA7060-96B9-4EBA-82BE-67089331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05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ullet-0">
            <a:extLst xmlns:a="http://schemas.openxmlformats.org/drawingml/2006/main">
              <a:ext uri="{FF2B5EF4-FFF2-40B4-BE49-F238E27FC236}">
                <a16:creationId xmlns:a16="http://schemas.microsoft.com/office/drawing/2014/main" id="{C8579F37-BCD3-456B-8572-82E8AB50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38500"/>
            <a:ext cx="350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batch_size = 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3E56CB-A4C1-4CA3-9160-1AC7B14F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29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ullet-1">
            <a:extLst xmlns:a="http://schemas.openxmlformats.org/drawingml/2006/main">
              <a:ext uri="{FF2B5EF4-FFF2-40B4-BE49-F238E27FC236}">
                <a16:creationId xmlns:a16="http://schemas.microsoft.com/office/drawing/2014/main" id="{8D4E4AAC-51D1-4911-A177-CD8D4B31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62350"/>
            <a:ext cx="350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每轮结束验证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C2D34F-DB00-4E3C-8F16-4B477B66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52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ullet-2">
            <a:extLst xmlns:a="http://schemas.openxmlformats.org/drawingml/2006/main">
              <a:ext uri="{FF2B5EF4-FFF2-40B4-BE49-F238E27FC236}">
                <a16:creationId xmlns:a16="http://schemas.microsoft.com/office/drawing/2014/main" id="{330CEE80-21E2-4156-8EDD-47FC4F61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86200"/>
            <a:ext cx="350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记录曲线所需指标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7F384A-7F42-4A2D-A868-F0F2598E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76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ullet-3">
            <a:extLst xmlns:a="http://schemas.openxmlformats.org/drawingml/2006/main">
              <a:ext uri="{FF2B5EF4-FFF2-40B4-BE49-F238E27FC236}">
                <a16:creationId xmlns:a16="http://schemas.microsoft.com/office/drawing/2014/main" id="{9A3D2855-3547-43E5-957D-33D7DBCB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10050"/>
            <a:ext cx="350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最终结果可复现</a:t>
            </a:r>
          </a:p>
        </p:txBody>
      </p:sp>
      <p:sp>
        <p:nvSpPr>
          <p:cNvPr id="28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71AB73E1-3A31-4BDB-8D03-3F845997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云端实验</a:t>
            </a:r>
          </a:p>
        </p:txBody>
      </p:sp>
      <p:sp>
        <p:nvSpPr>
          <p:cNvPr id="29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1178F1D6-B029-429C-BFED-F6738D05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86525"/>
            <a:ext cx="426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项目复盘手册 · MobileNetV2 + Faster R-CNN</a:t>
            </a:r>
          </a:p>
        </p:txBody>
      </p:sp>
    </p:spTree>
    <p:extLst>
      <p:ext uri="{BB962C8B-B14F-4D97-AF65-F5344CB8AC3E}">
        <p14:creationId xmlns:p14="http://schemas.microsoft.com/office/powerpoint/2010/main" val="211847705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">
            <a:extLst xmlns:a="http://schemas.openxmlformats.org/drawingml/2006/main">
              <a:ext uri="{FF2B5EF4-FFF2-40B4-BE49-F238E27FC236}">
                <a16:creationId xmlns:a16="http://schemas.microsoft.com/office/drawing/2014/main" id="{68DEBB85-36AB-48FD-81EE-D5846544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A8B0"/>
                </a:solidFill>
              </a:defRPr>
            </a:pPr>
            <a:r>
              <a:rPr sz="975" b="1">
                <a:solidFill>
                  <a:srgbClr val="12A8B0"/>
                </a:solidFill>
              </a:rPr>
              <a:t>真实踩坑三 · 路径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AF02A8F-15F6-4F40-8F98-557072E0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云端第一次失败：代码在找 /root/train，但数据在 /root/data/train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C169C38-165D-4168-9FBC-E2DDFB43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FA2A2B5-5893-465D-905D-D2424A81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286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15</a:t>
            </a:r>
          </a:p>
        </p:txBody>
      </p:sp>
      <p:sp>
        <p:nvSpPr>
          <p:cNvPr id="5" name="terminal-actual error">
            <a:extLst xmlns:a="http://schemas.openxmlformats.org/drawingml/2006/main">
              <a:ext uri="{FF2B5EF4-FFF2-40B4-BE49-F238E27FC236}">
                <a16:creationId xmlns:a16="http://schemas.microsoft.com/office/drawing/2014/main" id="{B37ACB40-17CC-4277-B27D-BB5574E6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857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CC967C-A482-4D43-AA3D-4952501D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85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8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91B94B-81D5-400B-ABEF-9CA75FF3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77B983-8657-453D-BCF3-74867579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00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9344C0-79F7-4499-B364-01347BE9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rminal-title-actual error">
            <a:extLst xmlns:a="http://schemas.openxmlformats.org/drawingml/2006/main">
              <a:ext uri="{FF2B5EF4-FFF2-40B4-BE49-F238E27FC236}">
                <a16:creationId xmlns:a16="http://schemas.microsoft.com/office/drawing/2014/main" id="{B0C0BC1D-8508-41CC-B2A0-50DFA77A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62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7C4CB"/>
                </a:solidFill>
              </a:defRPr>
            </a:pPr>
            <a:r>
              <a:rPr sz="975" b="0">
                <a:solidFill>
                  <a:srgbClr val="B7C4CB"/>
                </a:solidFill>
              </a:rPr>
              <a:t>actual error</a:t>
            </a:r>
          </a:p>
        </p:txBody>
      </p:sp>
      <p:sp>
        <p:nvSpPr>
          <p:cNvPr id="11" name="terminal-line-actual error-0">
            <a:extLst xmlns:a="http://schemas.openxmlformats.org/drawingml/2006/main">
              <a:ext uri="{FF2B5EF4-FFF2-40B4-BE49-F238E27FC236}">
                <a16:creationId xmlns:a16="http://schemas.microsoft.com/office/drawing/2014/main" id="{7E2138D1-C615-46D1-B2E9-7E56B27D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451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9D9D"/>
                </a:solidFill>
              </a:defRPr>
            </a:pPr>
            <a:r>
              <a:rPr sz="1125" b="0">
                <a:solidFill>
                  <a:srgbClr val="FF9D9D"/>
                </a:solidFill>
              </a:rPr>
              <a:t>❌ 找不到训练集目录：/root/train</a:t>
            </a:r>
          </a:p>
        </p:txBody>
      </p:sp>
      <p:sp>
        <p:nvSpPr>
          <p:cNvPr id="12" name="terminal-line-actual error-1">
            <a:extLst xmlns:a="http://schemas.openxmlformats.org/drawingml/2006/main">
              <a:ext uri="{FF2B5EF4-FFF2-40B4-BE49-F238E27FC236}">
                <a16:creationId xmlns:a16="http://schemas.microsoft.com/office/drawing/2014/main" id="{78CD59F3-C59F-4BCD-AB85-5169C3EA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451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6ED"/>
                </a:solidFill>
              </a:defRPr>
            </a:pPr>
            <a:r>
              <a:rPr sz="1125" b="0">
                <a:solidFill>
                  <a:srgbClr val="D9E6ED"/>
                </a:solidFill>
              </a:rPr>
              <a:t>train.py 以 PROJECT_DIR.parent 为数据根目录</a:t>
            </a:r>
          </a:p>
        </p:txBody>
      </p:sp>
      <p:sp>
        <p:nvSpPr>
          <p:cNvPr id="13" name="terminal-line-actual error-2">
            <a:extLst xmlns:a="http://schemas.openxmlformats.org/drawingml/2006/main">
              <a:ext uri="{FF2B5EF4-FFF2-40B4-BE49-F238E27FC236}">
                <a16:creationId xmlns:a16="http://schemas.microsoft.com/office/drawing/2014/main" id="{B372C0D7-3052-49E0-926F-E9E1B80A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451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6ED"/>
                </a:solidFill>
              </a:defRPr>
            </a:pPr>
            <a:r>
              <a:rPr sz="1125" b="0">
                <a:solidFill>
                  <a:srgbClr val="D9E6ED"/>
                </a:solidFill>
              </a:rPr>
              <a:t>但实际目录多了一层 data/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D8FFF3-D696-40E5-BB7E-9FA44A72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38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4545"/>
                </a:solidFill>
              </a:defRPr>
            </a:pPr>
            <a:r>
              <a:rPr sz="1350" b="1">
                <a:solidFill>
                  <a:srgbClr val="D64545"/>
                </a:solidFill>
              </a:rPr>
              <a:t>错的拼接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09ECA2-4BCB-4893-A602-E9172CDF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003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64545"/>
                </a:solidFill>
              </a:defRPr>
            </a:pPr>
            <a:r>
              <a:rPr sz="1575" b="0">
                <a:solidFill>
                  <a:srgbClr val="D64545"/>
                </a:solidFill>
              </a:rPr>
              <a:t>PROJECT_DIR.parent / train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559918-CF50-4E1D-9995-269C0C82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86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55A"/>
                </a:solidFill>
              </a:defRPr>
            </a:pPr>
            <a:r>
              <a:rPr sz="1350" b="1">
                <a:solidFill>
                  <a:srgbClr val="2F855A"/>
                </a:solidFill>
              </a:rPr>
              <a:t>正确拼接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3B7420-55E0-4A0F-8120-1CBEB77C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480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F855A"/>
                </a:solidFill>
              </a:defRPr>
            </a:pPr>
            <a:r>
              <a:rPr sz="1575" b="0">
                <a:solidFill>
                  <a:srgbClr val="2F855A"/>
                </a:solidFill>
              </a:rPr>
              <a:t>PROJECT_DIR.parent / data / train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8044E8-2E28-4C30-A032-A23DF262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820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81F62C-DC9F-43C0-9ADC-1F6C1096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244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12B"/>
                </a:solidFill>
              </a:defRPr>
            </a:pPr>
            <a:r>
              <a:rPr sz="1650" b="1">
                <a:solidFill>
                  <a:srgbClr val="17212B"/>
                </a:solidFill>
              </a:rPr>
              <a:t>预防动作：上传前先画出服务器目录树，并在脚本启动时打印 TRAIN_DIR / VAL_DIR 的绝对路径。</a:t>
            </a:r>
          </a:p>
        </p:txBody>
      </p:sp>
      <p:sp>
        <p:nvSpPr>
          <p:cNvPr id="20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6A5A61D6-3FD6-4D93-A415-FA701B98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云端路径</a:t>
            </a:r>
          </a:p>
        </p:txBody>
      </p:sp>
      <p:sp>
        <p:nvSpPr>
          <p:cNvPr id="21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2F5F0641-C4FA-4F2D-B479-DDDFDB85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86525"/>
            <a:ext cx="426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项目复盘手册 · MobileNetV2 + Faster R-CNN</a:t>
            </a:r>
          </a:p>
        </p:txBody>
      </p:sp>
    </p:spTree>
    <p:extLst>
      <p:ext uri="{BB962C8B-B14F-4D97-AF65-F5344CB8AC3E}">
        <p14:creationId xmlns:p14="http://schemas.microsoft.com/office/powerpoint/2010/main" val="6864124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EED40540-11E9-41CD-B4A3-CF4E3CB9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A8B0"/>
                </a:solidFill>
              </a:defRPr>
            </a:pPr>
            <a:r>
              <a:rPr sz="975" b="1">
                <a:solidFill>
                  <a:srgbClr val="12A8B0"/>
                </a:solidFill>
              </a:rPr>
              <a:t>真实踩坑三 · 接口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A92FC7-0F36-48F9-AC2E-39E855B9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云端第二次失败：训练脚本和评估脚本“说的不是同一种语言”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493C70B-9D84-43D2-B17E-A3774AD1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A068264-7DBF-4ADC-8D6F-2E55CEB2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286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F92668-46FF-49AD-917E-3D69A25D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6" name="tag-train.py 期待">
            <a:extLst xmlns:a="http://schemas.openxmlformats.org/drawingml/2006/main">
              <a:ext uri="{FF2B5EF4-FFF2-40B4-BE49-F238E27FC236}">
                <a16:creationId xmlns:a16="http://schemas.microsoft.com/office/drawing/2014/main" id="{05CF72CD-D563-499A-8859-8756D558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76450"/>
            <a:ext cx="1257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ag-text-train.py 期待">
            <a:extLst xmlns:a="http://schemas.openxmlformats.org/drawingml/2006/main">
              <a:ext uri="{FF2B5EF4-FFF2-40B4-BE49-F238E27FC236}">
                <a16:creationId xmlns:a16="http://schemas.microsoft.com/office/drawing/2014/main" id="{5FF4EE04-1D48-4ED0-900F-03261D79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train.py 期待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EE1F82-35B5-4C88-89E4-6DBC1403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evaluate_model(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384573-F5EF-4AB9-82CB-402379B9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342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64545"/>
                </a:solidFill>
              </a:defRPr>
            </a:pPr>
            <a:r>
              <a:rPr sz="1500" b="0">
                <a:solidFill>
                  <a:srgbClr val="D64545"/>
                </a:solidFill>
              </a:rPr>
              <a:t>data_root=…</a:t>
            </a:r>
          </a:p>
          <a:p xmlns:a="http://schemas.openxmlformats.org/drawingml/2006/main">
            <a:pPr algn="l">
              <a:defRPr sz="1500" b="0">
                <a:solidFill>
                  <a:srgbClr val="D64545"/>
                </a:solidFill>
              </a:defRPr>
            </a:pPr>
            <a:r>
              <a:rPr sz="1500" b="0">
                <a:solidFill>
                  <a:srgbClr val="D64545"/>
                </a:solidFill>
              </a:rPr>
              <a:t>batch_size=…</a:t>
            </a:r>
          </a:p>
          <a:p xmlns:a="http://schemas.openxmlformats.org/drawingml/2006/main">
            <a:pPr algn="l">
              <a:defRPr sz="1500" b="0">
                <a:solidFill>
                  <a:srgbClr val="D64545"/>
                </a:solidFill>
              </a:defRPr>
            </a:pPr>
            <a:r>
              <a:rPr sz="1500" b="0">
                <a:solidFill>
                  <a:srgbClr val="D64545"/>
                </a:solidFill>
              </a:rPr>
              <a:t>output_path=…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5BAFD3-7151-441D-B782-801E46A5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09750"/>
            <a:ext cx="51625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11" name="tag-evaluate.py 实际提供">
            <a:extLst xmlns:a="http://schemas.openxmlformats.org/drawingml/2006/main">
              <a:ext uri="{FF2B5EF4-FFF2-40B4-BE49-F238E27FC236}">
                <a16:creationId xmlns:a16="http://schemas.microsoft.com/office/drawing/2014/main" id="{58947FB9-643F-4117-9400-7BE39A23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76450"/>
            <a:ext cx="1714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g-text-evaluate.py 实际提供">
            <a:extLst xmlns:a="http://schemas.openxmlformats.org/drawingml/2006/main">
              <a:ext uri="{FF2B5EF4-FFF2-40B4-BE49-F238E27FC236}">
                <a16:creationId xmlns:a16="http://schemas.microsoft.com/office/drawing/2014/main" id="{4CAFE1EB-C198-4BB6-A8B7-66ED81C1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145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evaluate.py 实际提供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F7D705-F8A7-46BC-814A-6853A4D3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670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evaluate_model(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F30B95-833D-4C23-AE07-A5083976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05150"/>
            <a:ext cx="342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97316"/>
                </a:solidFill>
              </a:defRPr>
            </a:pPr>
            <a:r>
              <a:rPr sz="1500" b="0">
                <a:solidFill>
                  <a:srgbClr val="F97316"/>
                </a:solidFill>
              </a:rPr>
              <a:t>model=…</a:t>
            </a:r>
          </a:p>
          <a:p xmlns:a="http://schemas.openxmlformats.org/drawingml/2006/main">
            <a:pPr algn="l">
              <a:defRPr sz="1500" b="0">
                <a:solidFill>
                  <a:srgbClr val="F97316"/>
                </a:solidFill>
              </a:defRPr>
            </a:pPr>
            <a:r>
              <a:rPr sz="1500" b="0">
                <a:solidFill>
                  <a:srgbClr val="F97316"/>
                </a:solidFill>
              </a:rPr>
              <a:t>loader=…</a:t>
            </a:r>
          </a:p>
          <a:p xmlns:a="http://schemas.openxmlformats.org/drawingml/2006/main">
            <a:pPr algn="l">
              <a:defRPr sz="1500" b="0">
                <a:solidFill>
                  <a:srgbClr val="F97316"/>
                </a:solidFill>
              </a:defRPr>
            </a:pPr>
            <a:r>
              <a:rPr sz="1500" b="0">
                <a:solidFill>
                  <a:srgbClr val="F97316"/>
                </a:solidFill>
              </a:rPr>
              <a:t>device=…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033006-0325-4E5E-BFC5-C9EC52F6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quote">
            <a:extLst xmlns:a="http://schemas.openxmlformats.org/drawingml/2006/main">
              <a:ext uri="{FF2B5EF4-FFF2-40B4-BE49-F238E27FC236}">
                <a16:creationId xmlns:a16="http://schemas.microsoft.com/office/drawing/2014/main" id="{D3210367-0C87-4CF3-B919-FB440DB3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81625"/>
            <a:ext cx="1036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</a:defRPr>
            </a:pPr>
            <a:r>
              <a:rPr sz="1725" b="1">
                <a:solidFill>
                  <a:srgbClr val="17212B"/>
                </a:solidFill>
              </a:rPr>
              <a:t>接口不是“文件存在”就算完成；调用方和被调用方必须共享同一份参数与返回值约定。</a:t>
            </a:r>
          </a:p>
        </p:txBody>
      </p:sp>
      <p:sp>
        <p:nvSpPr>
          <p:cNvPr id="17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6DC4426D-5341-4D21-9233-1AC82641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云端接口</a:t>
            </a:r>
          </a:p>
        </p:txBody>
      </p:sp>
      <p:sp>
        <p:nvSpPr>
          <p:cNvPr id="18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9DB1A462-D93F-4B7A-816A-B165AA6F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86525"/>
            <a:ext cx="426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项目复盘手册 · MobileNetV2 + Faster R-CNN</a:t>
            </a:r>
          </a:p>
        </p:txBody>
      </p:sp>
    </p:spTree>
    <p:extLst>
      <p:ext uri="{BB962C8B-B14F-4D97-AF65-F5344CB8AC3E}">
        <p14:creationId xmlns:p14="http://schemas.microsoft.com/office/powerpoint/2010/main" val="190829199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">
            <a:extLst xmlns:a="http://schemas.openxmlformats.org/drawingml/2006/main">
              <a:ext uri="{FF2B5EF4-FFF2-40B4-BE49-F238E27FC236}">
                <a16:creationId xmlns:a16="http://schemas.microsoft.com/office/drawing/2014/main" id="{F0B14AB1-5084-472D-9780-46F90E9E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A8B0"/>
                </a:solidFill>
              </a:defRPr>
            </a:pPr>
            <a:r>
              <a:rPr sz="975" b="1">
                <a:solidFill>
                  <a:srgbClr val="12A8B0"/>
                </a:solidFill>
              </a:rPr>
              <a:t>真实踩坑三 · 接口设计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4D8761-1E47-4293-8BCD-F50E12AB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把 train.py 与 evaluate.py 的接口先写成“合同”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8357971-BB60-47B1-9AAF-D63DD678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73DEF12-FA10-4166-B717-230FCF6E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286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514C2-C9A8-4F15-8884-58E7D5AC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9530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96799-3330-4970-A3B2-8ABE7F3F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6CDF"/>
                </a:solidFill>
              </a:defRPr>
            </a:pPr>
            <a:r>
              <a:rPr sz="1725" b="1">
                <a:solidFill>
                  <a:srgbClr val="2D6CDF"/>
                </a:solidFill>
              </a:rPr>
              <a:t>输入合同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3DEFFA-8EA1-49EA-8644-CD147BB6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33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0">
            <a:extLst xmlns:a="http://schemas.openxmlformats.org/drawingml/2006/main">
              <a:ext uri="{FF2B5EF4-FFF2-40B4-BE49-F238E27FC236}">
                <a16:creationId xmlns:a16="http://schemas.microsoft.com/office/drawing/2014/main" id="{D640DE32-DD1A-474B-8A58-D52DA568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67000"/>
            <a:ext cx="3695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model：当前模型对象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75C0B9-48DB-40CE-9A26-2E28E164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33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E59C4103-C84A-4116-B36F-BE5ED47C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3695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loader：验证集 DataLoader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642805-25C6-420C-BFCA-9BF0DC69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33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2">
            <a:extLst xmlns:a="http://schemas.openxmlformats.org/drawingml/2006/main">
              <a:ext uri="{FF2B5EF4-FFF2-40B4-BE49-F238E27FC236}">
                <a16:creationId xmlns:a16="http://schemas.microsoft.com/office/drawing/2014/main" id="{D8CD18C6-9474-4939-A708-0EFC9421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67100"/>
            <a:ext cx="3695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device：cuda / cpu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026083-57EC-4242-B96C-62E510DF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33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3">
            <a:extLst xmlns:a="http://schemas.openxmlformats.org/drawingml/2006/main">
              <a:ext uri="{FF2B5EF4-FFF2-40B4-BE49-F238E27FC236}">
                <a16:creationId xmlns:a16="http://schemas.microsoft.com/office/drawing/2014/main" id="{3591F672-923D-4118-864F-0B7B750D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67150"/>
            <a:ext cx="3695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score_threshold：默认 0.0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29C647-CB41-4BEB-9F24-E77C8CA3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7655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6727D"/>
                </a:solidFill>
              </a:defRPr>
            </a:pPr>
            <a:r>
              <a:rPr sz="2550" b="1">
                <a:solidFill>
                  <a:srgbClr val="66727D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8E6FA9-57BB-48E6-8E96-9C67AE71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09750"/>
            <a:ext cx="47625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F8"/>
          </a:solidFill>
          <a:ln xmlns:a="http://schemas.openxmlformats.org/drawingml/2006/main" w="19050">
            <a:solidFill>
              <a:srgbClr val="12A8B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51A3AA-626C-47C5-8FF5-9EA1E121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95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A8B0"/>
                </a:solidFill>
              </a:defRPr>
            </a:pPr>
            <a:r>
              <a:rPr sz="1725" b="1">
                <a:solidFill>
                  <a:srgbClr val="12A8B0"/>
                </a:solidFill>
              </a:rPr>
              <a:t>返回合同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13B598-75DA-4028-95EF-CE4AF523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24150"/>
            <a:ext cx="39052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mAP@0.5</a:t>
            </a:r>
          </a:p>
          <a:p xmlns:a="http://schemas.openxmlformats.org/drawingml/2006/main">
            <a:pPr algn="l"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mAP@0.5:0.95</a:t>
            </a:r>
          </a:p>
          <a:p xmlns:a="http://schemas.openxmlformats.org/drawingml/2006/main">
            <a:pPr algn="l"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per_class_AP</a:t>
            </a:r>
          </a:p>
          <a:p xmlns:a="http://schemas.openxmlformats.org/drawingml/2006/main">
            <a:pPr algn="l"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images / predictions / inference_time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CB0E31-6E35-4391-A647-79C854E7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386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27D"/>
                </a:solidFill>
              </a:defRPr>
            </a:pPr>
            <a:r>
              <a:rPr sz="1275" b="0">
                <a:solidFill>
                  <a:srgbClr val="66727D"/>
                </a:solidFill>
              </a:rPr>
              <a:t>字段命名要统一：不要一边叫 mAP50，另一边叫 mAP@0.5。</a:t>
            </a:r>
          </a:p>
        </p:txBody>
      </p:sp>
      <p:sp>
        <p:nvSpPr>
          <p:cNvPr id="20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7034FE4A-C3E4-4A9E-BEF6-B32551B9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接口设计</a:t>
            </a:r>
          </a:p>
        </p:txBody>
      </p:sp>
      <p:sp>
        <p:nvSpPr>
          <p:cNvPr id="21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CA79581B-D0F5-4EBB-BF1A-E5302DA2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86525"/>
            <a:ext cx="426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项目复盘手册 · MobileNetV2 + Faster R-CNN</a:t>
            </a:r>
          </a:p>
        </p:txBody>
      </p:sp>
    </p:spTree>
    <p:extLst>
      <p:ext uri="{BB962C8B-B14F-4D97-AF65-F5344CB8AC3E}">
        <p14:creationId xmlns:p14="http://schemas.microsoft.com/office/powerpoint/2010/main" val="162289778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">
            <a:extLst xmlns:a="http://schemas.openxmlformats.org/drawingml/2006/main">
              <a:ext uri="{FF2B5EF4-FFF2-40B4-BE49-F238E27FC236}">
                <a16:creationId xmlns:a16="http://schemas.microsoft.com/office/drawing/2014/main" id="{BC3ADD07-E593-462D-9B28-D895AD88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A8B0"/>
                </a:solidFill>
              </a:defRPr>
            </a:pPr>
            <a:r>
              <a:rPr sz="975" b="1">
                <a:solidFill>
                  <a:srgbClr val="12A8B0"/>
                </a:solidFill>
              </a:rPr>
              <a:t>阶段五 · 云端实验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7C64C43-97DF-45C5-9E48-23863EFB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当第 1 轮完整跑完，才算进入“长跑模式”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EA67DA2-9623-47FA-B785-FFE2E8F8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0A225F2-3CC2-4EF1-BDC0-A6CA9EE4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286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18</a:t>
            </a:r>
          </a:p>
        </p:txBody>
      </p:sp>
      <p:sp>
        <p:nvSpPr>
          <p:cNvPr id="5" name="metric-GPU 利用率">
            <a:extLst xmlns:a="http://schemas.openxmlformats.org/drawingml/2006/main">
              <a:ext uri="{FF2B5EF4-FFF2-40B4-BE49-F238E27FC236}">
                <a16:creationId xmlns:a16="http://schemas.microsoft.com/office/drawing/2014/main" id="{0625BFA6-4D58-414D-B5D2-DC1F4EEF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47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73D11E-0C16-476C-8354-792F836B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ric-label-GPU 利用率">
            <a:extLst xmlns:a="http://schemas.openxmlformats.org/drawingml/2006/main">
              <a:ext uri="{FF2B5EF4-FFF2-40B4-BE49-F238E27FC236}">
                <a16:creationId xmlns:a16="http://schemas.microsoft.com/office/drawing/2014/main" id="{ABB87B54-E8DE-46AD-AA62-9310327E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6215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GPU 利用率</a:t>
            </a:r>
          </a:p>
        </p:txBody>
      </p:sp>
      <p:sp>
        <p:nvSpPr>
          <p:cNvPr id="8" name="metric-value-GPU 利用率">
            <a:extLst xmlns:a="http://schemas.openxmlformats.org/drawingml/2006/main">
              <a:ext uri="{FF2B5EF4-FFF2-40B4-BE49-F238E27FC236}">
                <a16:creationId xmlns:a16="http://schemas.microsoft.com/office/drawing/2014/main" id="{74EF29AF-DC59-4B48-A62F-D06F6039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2B"/>
                </a:solidFill>
              </a:defRPr>
            </a:pPr>
            <a:r>
              <a:rPr sz="2250" b="1">
                <a:solidFill>
                  <a:srgbClr val="17212B"/>
                </a:solidFill>
              </a:rPr>
              <a:t>60%–100%</a:t>
            </a:r>
          </a:p>
        </p:txBody>
      </p:sp>
      <p:sp>
        <p:nvSpPr>
          <p:cNvPr id="9" name="metric-显存占用">
            <a:extLst xmlns:a="http://schemas.openxmlformats.org/drawingml/2006/main">
              <a:ext uri="{FF2B5EF4-FFF2-40B4-BE49-F238E27FC236}">
                <a16:creationId xmlns:a16="http://schemas.microsoft.com/office/drawing/2014/main" id="{45606828-1061-4123-A895-6662AB80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09750"/>
            <a:ext cx="247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EA3C13-E39C-47EF-B39D-B0843C10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097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etric-label-显存占用">
            <a:extLst xmlns:a="http://schemas.openxmlformats.org/drawingml/2006/main">
              <a:ext uri="{FF2B5EF4-FFF2-40B4-BE49-F238E27FC236}">
                <a16:creationId xmlns:a16="http://schemas.microsoft.com/office/drawing/2014/main" id="{7FFE4DCE-802D-4564-BE01-41DC225F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96215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显存占用</a:t>
            </a:r>
          </a:p>
        </p:txBody>
      </p:sp>
      <p:sp>
        <p:nvSpPr>
          <p:cNvPr id="12" name="metric-value-显存占用">
            <a:extLst xmlns:a="http://schemas.openxmlformats.org/drawingml/2006/main">
              <a:ext uri="{FF2B5EF4-FFF2-40B4-BE49-F238E27FC236}">
                <a16:creationId xmlns:a16="http://schemas.microsoft.com/office/drawing/2014/main" id="{144C698F-D6C7-42EA-A975-97286822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09800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2B"/>
                </a:solidFill>
              </a:defRPr>
            </a:pPr>
            <a:r>
              <a:rPr sz="2250" b="1">
                <a:solidFill>
                  <a:srgbClr val="17212B"/>
                </a:solidFill>
              </a:rPr>
              <a:t>约 30 GB</a:t>
            </a:r>
          </a:p>
        </p:txBody>
      </p:sp>
      <p:sp>
        <p:nvSpPr>
          <p:cNvPr id="13" name="metric-batch size">
            <a:extLst xmlns:a="http://schemas.openxmlformats.org/drawingml/2006/main">
              <a:ext uri="{FF2B5EF4-FFF2-40B4-BE49-F238E27FC236}">
                <a16:creationId xmlns:a16="http://schemas.microsoft.com/office/drawing/2014/main" id="{249774B8-5886-4D4D-81B5-A9C86446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09750"/>
            <a:ext cx="247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EF8BB1-8299-41F0-AD28-B036F7F6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097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etric-label-batch size">
            <a:extLst xmlns:a="http://schemas.openxmlformats.org/drawingml/2006/main">
              <a:ext uri="{FF2B5EF4-FFF2-40B4-BE49-F238E27FC236}">
                <a16:creationId xmlns:a16="http://schemas.microsoft.com/office/drawing/2014/main" id="{CC598BB7-0713-417D-A08B-A3E3A949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6215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batch size</a:t>
            </a:r>
          </a:p>
        </p:txBody>
      </p:sp>
      <p:sp>
        <p:nvSpPr>
          <p:cNvPr id="16" name="metric-value-batch size">
            <a:extLst xmlns:a="http://schemas.openxmlformats.org/drawingml/2006/main">
              <a:ext uri="{FF2B5EF4-FFF2-40B4-BE49-F238E27FC236}">
                <a16:creationId xmlns:a16="http://schemas.microsoft.com/office/drawing/2014/main" id="{41874566-3851-4036-8E51-FB4EB9ED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9800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2B"/>
                </a:solidFill>
              </a:defRPr>
            </a:pPr>
            <a:r>
              <a:rPr sz="2250" b="1">
                <a:solidFill>
                  <a:srgbClr val="17212B"/>
                </a:solidFill>
              </a:rPr>
              <a:t>8</a:t>
            </a:r>
          </a:p>
        </p:txBody>
      </p:sp>
      <p:sp>
        <p:nvSpPr>
          <p:cNvPr id="17" name="metric-训练轮数">
            <a:extLst xmlns:a="http://schemas.openxmlformats.org/drawingml/2006/main">
              <a:ext uri="{FF2B5EF4-FFF2-40B4-BE49-F238E27FC236}">
                <a16:creationId xmlns:a16="http://schemas.microsoft.com/office/drawing/2014/main" id="{3C508534-E940-4639-BE01-22D2F7A1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09750"/>
            <a:ext cx="247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3C5FE5-B97A-464A-8CB5-1CCB6690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097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metric-label-训练轮数">
            <a:extLst xmlns:a="http://schemas.openxmlformats.org/drawingml/2006/main">
              <a:ext uri="{FF2B5EF4-FFF2-40B4-BE49-F238E27FC236}">
                <a16:creationId xmlns:a16="http://schemas.microsoft.com/office/drawing/2014/main" id="{1017CB05-E0D0-44E8-8BED-04B8F3AC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6215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训练轮数</a:t>
            </a:r>
          </a:p>
        </p:txBody>
      </p:sp>
      <p:sp>
        <p:nvSpPr>
          <p:cNvPr id="20" name="metric-value-训练轮数">
            <a:extLst xmlns:a="http://schemas.openxmlformats.org/drawingml/2006/main">
              <a:ext uri="{FF2B5EF4-FFF2-40B4-BE49-F238E27FC236}">
                <a16:creationId xmlns:a16="http://schemas.microsoft.com/office/drawing/2014/main" id="{DE20869D-8E02-4281-85C3-B7E837B5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09800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2B"/>
                </a:solidFill>
              </a:defRPr>
            </a:pPr>
            <a:r>
              <a:rPr sz="2250" b="1">
                <a:solidFill>
                  <a:srgbClr val="17212B"/>
                </a:solidFill>
              </a:rPr>
              <a:t>100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14FC07-FFD1-42ED-B31C-EB3F5828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07061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65CA69-EF17-4544-9C3D-976AC219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监控的意义不是“看起来很专业”，而是确认流水线没有停在某个阶段。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979CFE-3797-4684-B68B-AFDBA2DA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27D"/>
                </a:solidFill>
              </a:defRPr>
            </a:pPr>
            <a:r>
              <a:rPr sz="1350" b="0">
                <a:solidFill>
                  <a:srgbClr val="66727D"/>
                </a:solidFill>
              </a:rPr>
              <a:t>数据加载  →  GPU 前向/反向  →  保存权重  →  验证集推理  →  写入 training_log.json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F85308-6C2F-49E8-A47D-23A1EDB0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57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quote">
            <a:extLst xmlns:a="http://schemas.openxmlformats.org/drawingml/2006/main">
              <a:ext uri="{FF2B5EF4-FFF2-40B4-BE49-F238E27FC236}">
                <a16:creationId xmlns:a16="http://schemas.microsoft.com/office/drawing/2014/main" id="{F47B81D3-CD62-4CF3-A707-C0FA4F37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76875"/>
            <a:ext cx="10458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</a:defRPr>
            </a:pPr>
            <a:r>
              <a:rPr sz="1725" b="1">
                <a:solidFill>
                  <a:srgbClr val="17212B"/>
                </a:solidFill>
              </a:rPr>
              <a:t>训练时间长并不可怕；最怕的是没有日志、没有心跳、没有可确认的中间结果。</a:t>
            </a:r>
          </a:p>
        </p:txBody>
      </p:sp>
      <p:sp>
        <p:nvSpPr>
          <p:cNvPr id="26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88F49F26-B1D9-4DF0-9311-B29078D8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云端实验</a:t>
            </a:r>
          </a:p>
        </p:txBody>
      </p:sp>
      <p:sp>
        <p:nvSpPr>
          <p:cNvPr id="27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69E6E4E9-9013-4DD6-9A01-DB9C7212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86525"/>
            <a:ext cx="426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项目复盘手册 · MobileNetV2 + Faster R-CNN</a:t>
            </a:r>
          </a:p>
        </p:txBody>
      </p:sp>
    </p:spTree>
    <p:extLst>
      <p:ext uri="{BB962C8B-B14F-4D97-AF65-F5344CB8AC3E}">
        <p14:creationId xmlns:p14="http://schemas.microsoft.com/office/powerpoint/2010/main" val="97183828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kicker">
            <a:extLst xmlns:a="http://schemas.openxmlformats.org/drawingml/2006/main">
              <a:ext uri="{FF2B5EF4-FFF2-40B4-BE49-F238E27FC236}">
                <a16:creationId xmlns:a16="http://schemas.microsoft.com/office/drawing/2014/main" id="{1C32B654-96A8-4402-877F-C40A292B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A8B0"/>
                </a:solidFill>
              </a:defRPr>
            </a:pPr>
            <a:r>
              <a:rPr sz="975" b="1">
                <a:solidFill>
                  <a:srgbClr val="12A8B0"/>
                </a:solidFill>
              </a:rPr>
              <a:t>阶段六 · 训练结果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CAE499-8EFB-4DFE-B5D8-B21C180F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真实训练里，loss 下降很快；mAP 在后期进入平台期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B0C880B-9FA5-420C-B20E-0E42B753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EEB1C9D-4DE6-429B-81CB-34DBB3FB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286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80867E-33E1-4512-8E54-D754D3D3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训练 loss（已知 epoch 节点）</a:t>
            </a:r>
          </a:p>
        </p:txBody>
      </p:sp>
      <p:sp>
        <p:nvSpPr>
          <p:cNvPr id="6" name="bar-label-第2轮">
            <a:extLst xmlns:a="http://schemas.openxmlformats.org/drawingml/2006/main">
              <a:ext uri="{FF2B5EF4-FFF2-40B4-BE49-F238E27FC236}">
                <a16:creationId xmlns:a16="http://schemas.microsoft.com/office/drawing/2014/main" id="{AEFEC44F-DA60-41B4-A8CB-CE6F07AE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第2轮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6A2443-7F33-4110-B44C-530C06CE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86000"/>
            <a:ext cx="26670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7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E74D52-2D41-4658-B237-5B166A8B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86000"/>
            <a:ext cx="2500203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ar-value-第2轮">
            <a:extLst xmlns:a="http://schemas.openxmlformats.org/drawingml/2006/main">
              <a:ext uri="{FF2B5EF4-FFF2-40B4-BE49-F238E27FC236}">
                <a16:creationId xmlns:a16="http://schemas.microsoft.com/office/drawing/2014/main" id="{44F6E65F-B34C-4384-AB5F-2031FABA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669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12B"/>
                </a:solidFill>
              </a:defRPr>
            </a:pPr>
            <a:r>
              <a:rPr sz="1125" b="1">
                <a:solidFill>
                  <a:srgbClr val="17212B"/>
                </a:solidFill>
              </a:rPr>
              <a:t>0.159</a:t>
            </a:r>
          </a:p>
        </p:txBody>
      </p:sp>
      <p:sp>
        <p:nvSpPr>
          <p:cNvPr id="10" name="bar-label-第10轮">
            <a:extLst xmlns:a="http://schemas.openxmlformats.org/drawingml/2006/main">
              <a:ext uri="{FF2B5EF4-FFF2-40B4-BE49-F238E27FC236}">
                <a16:creationId xmlns:a16="http://schemas.microsoft.com/office/drawing/2014/main" id="{E76026E0-456C-4E78-879E-A310D471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第10轮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7982FB-6446-428B-B67D-9B102330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05100"/>
            <a:ext cx="26670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7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5B91F8-CD5D-41BE-84E6-2120E979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05100"/>
            <a:ext cx="144109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ar-value-第10轮">
            <a:extLst xmlns:a="http://schemas.openxmlformats.org/drawingml/2006/main">
              <a:ext uri="{FF2B5EF4-FFF2-40B4-BE49-F238E27FC236}">
                <a16:creationId xmlns:a16="http://schemas.microsoft.com/office/drawing/2014/main" id="{EBA7CF36-4CC7-4420-BE4A-5A3F3FA7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860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12B"/>
                </a:solidFill>
              </a:defRPr>
            </a:pPr>
            <a:r>
              <a:rPr sz="1125" b="1">
                <a:solidFill>
                  <a:srgbClr val="17212B"/>
                </a:solidFill>
              </a:rPr>
              <a:t>0.092</a:t>
            </a:r>
          </a:p>
        </p:txBody>
      </p:sp>
      <p:sp>
        <p:nvSpPr>
          <p:cNvPr id="14" name="bar-label-第34轮">
            <a:extLst xmlns:a="http://schemas.openxmlformats.org/drawingml/2006/main">
              <a:ext uri="{FF2B5EF4-FFF2-40B4-BE49-F238E27FC236}">
                <a16:creationId xmlns:a16="http://schemas.microsoft.com/office/drawing/2014/main" id="{0E457D6A-8C2D-41CA-B4CE-6B1DF1A7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第34轮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69252D-0DEB-44C6-8149-7767A9C7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24200"/>
            <a:ext cx="26670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7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A499DB-FD90-4DF3-BC2A-AAAB3B56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24200"/>
            <a:ext cx="651454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r-value-第34轮">
            <a:extLst xmlns:a="http://schemas.openxmlformats.org/drawingml/2006/main">
              <a:ext uri="{FF2B5EF4-FFF2-40B4-BE49-F238E27FC236}">
                <a16:creationId xmlns:a16="http://schemas.microsoft.com/office/drawing/2014/main" id="{97563524-7131-4283-AA8B-46D0CC67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051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12B"/>
                </a:solidFill>
              </a:defRPr>
            </a:pPr>
            <a:r>
              <a:rPr sz="1125" b="1">
                <a:solidFill>
                  <a:srgbClr val="17212B"/>
                </a:solidFill>
              </a:rPr>
              <a:t>0.042</a:t>
            </a:r>
          </a:p>
        </p:txBody>
      </p:sp>
      <p:sp>
        <p:nvSpPr>
          <p:cNvPr id="18" name="bar-label-第100轮">
            <a:extLst xmlns:a="http://schemas.openxmlformats.org/drawingml/2006/main">
              <a:ext uri="{FF2B5EF4-FFF2-40B4-BE49-F238E27FC236}">
                <a16:creationId xmlns:a16="http://schemas.microsoft.com/office/drawing/2014/main" id="{75B094F9-8355-48EB-A3E7-8E613A76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第100轮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2D3B21-EF28-44D2-8C4E-77EEEC47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43300"/>
            <a:ext cx="26670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7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FBD256-2063-44C5-854C-D015EAAF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43300"/>
            <a:ext cx="337501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ar-value-第100轮">
            <a:extLst xmlns:a="http://schemas.openxmlformats.org/drawingml/2006/main">
              <a:ext uri="{FF2B5EF4-FFF2-40B4-BE49-F238E27FC236}">
                <a16:creationId xmlns:a16="http://schemas.microsoft.com/office/drawing/2014/main" id="{CEB9FC8D-E84F-4A49-BCBA-4EF84287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242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12B"/>
                </a:solidFill>
              </a:defRPr>
            </a:pPr>
            <a:r>
              <a:rPr sz="1125" b="1">
                <a:solidFill>
                  <a:srgbClr val="17212B"/>
                </a:solidFill>
              </a:rPr>
              <a:t>0.022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F1D09A-84DE-4176-A73C-FA9B5414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mAP@0.5（训练过程/最终评估节点）</a:t>
            </a:r>
          </a:p>
        </p:txBody>
      </p:sp>
      <p:sp>
        <p:nvSpPr>
          <p:cNvPr id="23" name="bar-label-第10轮">
            <a:extLst xmlns:a="http://schemas.openxmlformats.org/drawingml/2006/main">
              <a:ext uri="{FF2B5EF4-FFF2-40B4-BE49-F238E27FC236}">
                <a16:creationId xmlns:a16="http://schemas.microsoft.com/office/drawing/2014/main" id="{A90D7EA5-D917-4FB8-A0F8-D28ABE7B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第10轮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777C6F-162F-473C-9E08-91C5990C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86000"/>
            <a:ext cx="25717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7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574389-756F-4B11-9B24-B86F2E39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86000"/>
            <a:ext cx="1739714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2A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ar-value-第10轮">
            <a:extLst xmlns:a="http://schemas.openxmlformats.org/drawingml/2006/main">
              <a:ext uri="{FF2B5EF4-FFF2-40B4-BE49-F238E27FC236}">
                <a16:creationId xmlns:a16="http://schemas.microsoft.com/office/drawing/2014/main" id="{228E02A7-3ED1-4963-86F6-569C62DA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2669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12B"/>
                </a:solidFill>
              </a:defRPr>
            </a:pPr>
            <a:r>
              <a:rPr sz="1125" b="1">
                <a:solidFill>
                  <a:srgbClr val="17212B"/>
                </a:solidFill>
              </a:rPr>
              <a:t>0.676</a:t>
            </a:r>
          </a:p>
        </p:txBody>
      </p:sp>
      <p:sp>
        <p:nvSpPr>
          <p:cNvPr id="27" name="bar-label-第34轮">
            <a:extLst xmlns:a="http://schemas.openxmlformats.org/drawingml/2006/main">
              <a:ext uri="{FF2B5EF4-FFF2-40B4-BE49-F238E27FC236}">
                <a16:creationId xmlns:a16="http://schemas.microsoft.com/office/drawing/2014/main" id="{1D1966CC-A7BA-4998-965F-E8EC7CDB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194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第34轮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3D3A6D-A7DE-4D09-8954-043B7B04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38450"/>
            <a:ext cx="25717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7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D7CA77-F423-4D78-8F99-20CE2248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38450"/>
            <a:ext cx="1791494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2A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ar-value-第34轮">
            <a:extLst xmlns:a="http://schemas.openxmlformats.org/drawingml/2006/main">
              <a:ext uri="{FF2B5EF4-FFF2-40B4-BE49-F238E27FC236}">
                <a16:creationId xmlns:a16="http://schemas.microsoft.com/office/drawing/2014/main" id="{4B128C03-DE9D-4513-BAEF-C2A5BC91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8194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12B"/>
                </a:solidFill>
              </a:defRPr>
            </a:pPr>
            <a:r>
              <a:rPr sz="1125" b="1">
                <a:solidFill>
                  <a:srgbClr val="17212B"/>
                </a:solidFill>
              </a:rPr>
              <a:t>0.697</a:t>
            </a:r>
          </a:p>
        </p:txBody>
      </p:sp>
      <p:sp>
        <p:nvSpPr>
          <p:cNvPr id="31" name="bar-label-第100轮 / JSON">
            <a:extLst xmlns:a="http://schemas.openxmlformats.org/drawingml/2006/main">
              <a:ext uri="{FF2B5EF4-FFF2-40B4-BE49-F238E27FC236}">
                <a16:creationId xmlns:a16="http://schemas.microsoft.com/office/drawing/2014/main" id="{84F25166-5878-44AE-B92B-2C8EC53D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71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第100轮 / JSON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04A01C-AFED-4746-B78E-B1536AFC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90900"/>
            <a:ext cx="25717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7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5C163E-D55C-49E9-A82D-F9D4EABA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90900"/>
            <a:ext cx="1796686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2A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bar-value-第100轮 / JSON">
            <a:extLst xmlns:a="http://schemas.openxmlformats.org/drawingml/2006/main">
              <a:ext uri="{FF2B5EF4-FFF2-40B4-BE49-F238E27FC236}">
                <a16:creationId xmlns:a16="http://schemas.microsoft.com/office/drawing/2014/main" id="{A187BB01-0A17-4A5D-9B35-E620BD73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3718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12B"/>
                </a:solidFill>
              </a:defRPr>
            </a:pPr>
            <a:r>
              <a:rPr sz="1125" b="1">
                <a:solidFill>
                  <a:srgbClr val="17212B"/>
                </a:solidFill>
              </a:rPr>
              <a:t>0.699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0186F7-E8A9-4421-9DC3-7478DD55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7061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82090B-5459-42BE-8396-2325F8FE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244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如何解读：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A190E8-38E0-4648-8E5C-BA300DA1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7244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loss 持续下降 ≠ mAP 必然同比上涨；后期提升变慢，说明模型从“学基本特征”转入“微调定位与泛化”。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AF4F3A-E549-4625-871B-8F498A0E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7D"/>
                </a:solidFill>
              </a:defRPr>
            </a:pPr>
            <a:r>
              <a:rPr sz="975" b="0">
                <a:solidFill>
                  <a:srgbClr val="66727D"/>
                </a:solidFill>
              </a:rPr>
              <a:t>注：这里使用的是对话中已记录的关键节点，不是重新伪造完整 epoch 曲线。</a:t>
            </a:r>
          </a:p>
        </p:txBody>
      </p:sp>
      <p:sp>
        <p:nvSpPr>
          <p:cNvPr id="39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2CA63512-1A2A-4624-9F59-3D074713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训练结果</a:t>
            </a:r>
          </a:p>
        </p:txBody>
      </p:sp>
      <p:sp>
        <p:nvSpPr>
          <p:cNvPr id="40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826F4EC8-8462-483A-8DBF-239D47AB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86525"/>
            <a:ext cx="426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项目复盘手册 · MobileNetV2 + Faster R-CNN</a:t>
            </a:r>
          </a:p>
        </p:txBody>
      </p:sp>
    </p:spTree>
    <p:extLst>
      <p:ext uri="{BB962C8B-B14F-4D97-AF65-F5344CB8AC3E}">
        <p14:creationId xmlns:p14="http://schemas.microsoft.com/office/powerpoint/2010/main" val="205047891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kicker">
            <a:extLst xmlns:a="http://schemas.openxmlformats.org/drawingml/2006/main">
              <a:ext uri="{FF2B5EF4-FFF2-40B4-BE49-F238E27FC236}">
                <a16:creationId xmlns:a16="http://schemas.microsoft.com/office/drawing/2014/main" id="{E5AF27E5-5E97-4232-A809-DAD92141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A8B0"/>
                </a:solidFill>
              </a:defRPr>
            </a:pPr>
            <a:r>
              <a:rPr sz="975" b="1">
                <a:solidFill>
                  <a:srgbClr val="12A8B0"/>
                </a:solidFill>
              </a:rPr>
              <a:t>阶段六 · 训练结果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B95BD3-6680-4C35-B6B7-C5EDA7B5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曲线能不能解释，取决于每一条线是不是有真实日志支撑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8E600EE-83FC-482B-ACE7-0AAA6DB5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EB01E60-A6F4-4C98-95DB-74703C3F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286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AECEF0-D52E-4B72-8142-B572DA54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19050">
            <a:solidFill>
              <a:srgbClr val="2F85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DB2E52-B06B-477A-B4A6-10FDC2BB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855A"/>
                </a:solidFill>
              </a:defRPr>
            </a:pPr>
            <a:r>
              <a:rPr sz="1725" b="1">
                <a:solidFill>
                  <a:srgbClr val="2F855A"/>
                </a:solidFill>
              </a:rPr>
              <a:t>可以放心使用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24101B-92B4-4A30-A095-128CF3CA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71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0">
            <a:extLst xmlns:a="http://schemas.openxmlformats.org/drawingml/2006/main">
              <a:ext uri="{FF2B5EF4-FFF2-40B4-BE49-F238E27FC236}">
                <a16:creationId xmlns:a16="http://schemas.microsoft.com/office/drawing/2014/main" id="{9F8C1EF2-A769-4EEA-A0FB-8EF6E64C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05100"/>
            <a:ext cx="3886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train_loss（真实记录）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76F2DB-061A-43D8-B57C-BF49C834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33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2630EF69-7F29-4D34-A746-06764555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3886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learning_rate（固定 1e-4）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FBE8CF-031D-4873-9263-97E9BFE0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95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2">
            <a:extLst xmlns:a="http://schemas.openxmlformats.org/drawingml/2006/main">
              <a:ext uri="{FF2B5EF4-FFF2-40B4-BE49-F238E27FC236}">
                <a16:creationId xmlns:a16="http://schemas.microsoft.com/office/drawing/2014/main" id="{673E2E81-99B6-49C9-A51E-2E68C908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3886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mAP / AP（验证结果）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9E88B5-6552-4D6F-9181-0DBFA3E9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57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3">
            <a:extLst xmlns:a="http://schemas.openxmlformats.org/drawingml/2006/main">
              <a:ext uri="{FF2B5EF4-FFF2-40B4-BE49-F238E27FC236}">
                <a16:creationId xmlns:a16="http://schemas.microsoft.com/office/drawing/2014/main" id="{A3FB305F-6BA2-4E98-B1E6-DE7B717B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3886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独立 evaluation_results.json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419C8B-4493-4D83-968D-D9694464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5219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19050">
            <a:solidFill>
              <a:srgbClr val="F9731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5169EA-717D-4311-8801-FF077EC8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14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97316"/>
                </a:solidFill>
              </a:defRPr>
            </a:pPr>
            <a:r>
              <a:rPr sz="1725" b="1">
                <a:solidFill>
                  <a:srgbClr val="F97316"/>
                </a:solidFill>
              </a:rPr>
              <a:t>必须标注局限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BC1498-87D1-4984-A7B2-7B6BC023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71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ullet-0">
            <a:extLst xmlns:a="http://schemas.openxmlformats.org/drawingml/2006/main">
              <a:ext uri="{FF2B5EF4-FFF2-40B4-BE49-F238E27FC236}">
                <a16:creationId xmlns:a16="http://schemas.microsoft.com/office/drawing/2014/main" id="{33EF6DC2-0B66-4ED3-8063-B5291BF4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05100"/>
            <a:ext cx="413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val_loss = 0 是占位值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33F5CF-9E81-4D2E-8148-71BF1F0C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71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ullet-1">
            <a:extLst xmlns:a="http://schemas.openxmlformats.org/drawingml/2006/main">
              <a:ext uri="{FF2B5EF4-FFF2-40B4-BE49-F238E27FC236}">
                <a16:creationId xmlns:a16="http://schemas.microsoft.com/office/drawing/2014/main" id="{C0EA4743-4454-4AB0-9DD6-A9E43EB2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05150"/>
            <a:ext cx="413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cls_loss / box_loss = 0 未被真实统计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170A82-E271-45DD-8CA2-BF0702F2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71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ullet-2">
            <a:extLst xmlns:a="http://schemas.openxmlformats.org/drawingml/2006/main">
              <a:ext uri="{FF2B5EF4-FFF2-40B4-BE49-F238E27FC236}">
                <a16:creationId xmlns:a16="http://schemas.microsoft.com/office/drawing/2014/main" id="{6B3A3716-4B56-49F2-9F0A-A83099E5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05200"/>
            <a:ext cx="413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不要把占位曲线讲成真实趋势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6C6355-1BDF-4415-99FE-34110707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quote">
            <a:extLst xmlns:a="http://schemas.openxmlformats.org/drawingml/2006/main">
              <a:ext uri="{FF2B5EF4-FFF2-40B4-BE49-F238E27FC236}">
                <a16:creationId xmlns:a16="http://schemas.microsoft.com/office/drawing/2014/main" id="{4CE634C5-6357-4F77-A15B-0BF309B4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29225"/>
            <a:ext cx="988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</a:defRPr>
            </a:pPr>
            <a:r>
              <a:rPr sz="1725" b="1">
                <a:solidFill>
                  <a:srgbClr val="17212B"/>
                </a:solidFill>
              </a:rPr>
              <a:t>一张“看起来完整”的图，不如一张“每个数都知道来源”的图。</a:t>
            </a:r>
          </a:p>
        </p:txBody>
      </p:sp>
      <p:sp>
        <p:nvSpPr>
          <p:cNvPr id="25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7EFEAC72-8DCB-48B8-B9BE-65B4259B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训练结果</a:t>
            </a:r>
          </a:p>
        </p:txBody>
      </p:sp>
      <p:sp>
        <p:nvSpPr>
          <p:cNvPr id="26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FF5F93CA-6DE8-40B7-8CAB-16A346FB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86525"/>
            <a:ext cx="426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项目复盘手册 · MobileNetV2 + Faster R-CNN</a:t>
            </a:r>
          </a:p>
        </p:txBody>
      </p:sp>
    </p:spTree>
    <p:extLst>
      <p:ext uri="{BB962C8B-B14F-4D97-AF65-F5344CB8AC3E}">
        <p14:creationId xmlns:p14="http://schemas.microsoft.com/office/powerpoint/2010/main" val="177575841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kicker">
            <a:extLst xmlns:a="http://schemas.openxmlformats.org/drawingml/2006/main">
              <a:ext uri="{FF2B5EF4-FFF2-40B4-BE49-F238E27FC236}">
                <a16:creationId xmlns:a16="http://schemas.microsoft.com/office/drawing/2014/main" id="{81F9AE19-8D7C-4887-9E10-09CEA444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A8B0"/>
                </a:solidFill>
              </a:defRPr>
            </a:pPr>
            <a:r>
              <a:rPr sz="975" b="1">
                <a:solidFill>
                  <a:srgbClr val="12A8B0"/>
                </a:solidFill>
              </a:rPr>
              <a:t>阶段六 · 指标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1B32A8C-7EFB-4780-8301-8249AAD8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最终独立评估：fire 更容易检出，smoke 更难定位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97C874F-6B1F-4B91-AA24-1BBF07B6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BCCA86F-3BCA-40AF-942F-354F80EB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286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21</a:t>
            </a:r>
          </a:p>
        </p:txBody>
      </p:sp>
      <p:sp>
        <p:nvSpPr>
          <p:cNvPr id="5" name="metric-mAP@0.5">
            <a:extLst xmlns:a="http://schemas.openxmlformats.org/drawingml/2006/main">
              <a:ext uri="{FF2B5EF4-FFF2-40B4-BE49-F238E27FC236}">
                <a16:creationId xmlns:a16="http://schemas.microsoft.com/office/drawing/2014/main" id="{21E9D2F8-578D-4CB4-84A1-80E8E859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77CA8E-6234-4FED-A8F2-4F4F2249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ric-label-mAP@0.5">
            <a:extLst xmlns:a="http://schemas.openxmlformats.org/drawingml/2006/main">
              <a:ext uri="{FF2B5EF4-FFF2-40B4-BE49-F238E27FC236}">
                <a16:creationId xmlns:a16="http://schemas.microsoft.com/office/drawing/2014/main" id="{0714F2FF-7F4D-4157-8548-53BD2028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62150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mAP@0.5</a:t>
            </a:r>
          </a:p>
        </p:txBody>
      </p:sp>
      <p:sp>
        <p:nvSpPr>
          <p:cNvPr id="8" name="metric-value-mAP@0.5">
            <a:extLst xmlns:a="http://schemas.openxmlformats.org/drawingml/2006/main">
              <a:ext uri="{FF2B5EF4-FFF2-40B4-BE49-F238E27FC236}">
                <a16:creationId xmlns:a16="http://schemas.microsoft.com/office/drawing/2014/main" id="{6DABC2BE-4A26-408A-9506-622BE0D1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2B"/>
                </a:solidFill>
              </a:defRPr>
            </a:pPr>
            <a:r>
              <a:rPr sz="2250" b="1">
                <a:solidFill>
                  <a:srgbClr val="17212B"/>
                </a:solidFill>
              </a:rPr>
              <a:t>0.698624</a:t>
            </a:r>
          </a:p>
        </p:txBody>
      </p:sp>
      <p:sp>
        <p:nvSpPr>
          <p:cNvPr id="9" name="metric-mAP@0.5:0.95">
            <a:extLst xmlns:a="http://schemas.openxmlformats.org/drawingml/2006/main">
              <a:ext uri="{FF2B5EF4-FFF2-40B4-BE49-F238E27FC236}">
                <a16:creationId xmlns:a16="http://schemas.microsoft.com/office/drawing/2014/main" id="{B89F0992-39DE-47BC-B7CF-BB61BD81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09750"/>
            <a:ext cx="247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E6767B-6E48-48EF-88F9-6D173271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097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etric-label-mAP@0.5:0.95">
            <a:extLst xmlns:a="http://schemas.openxmlformats.org/drawingml/2006/main">
              <a:ext uri="{FF2B5EF4-FFF2-40B4-BE49-F238E27FC236}">
                <a16:creationId xmlns:a16="http://schemas.microsoft.com/office/drawing/2014/main" id="{0725688A-FC40-468C-A1EE-38AB0A55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6215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mAP@0.5:0.95</a:t>
            </a:r>
          </a:p>
        </p:txBody>
      </p:sp>
      <p:sp>
        <p:nvSpPr>
          <p:cNvPr id="12" name="metric-value-mAP@0.5:0.95">
            <a:extLst xmlns:a="http://schemas.openxmlformats.org/drawingml/2006/main">
              <a:ext uri="{FF2B5EF4-FFF2-40B4-BE49-F238E27FC236}">
                <a16:creationId xmlns:a16="http://schemas.microsoft.com/office/drawing/2014/main" id="{E4272B22-611A-4A34-B604-83BBFF14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09800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2B"/>
                </a:solidFill>
              </a:defRPr>
            </a:pPr>
            <a:r>
              <a:rPr sz="2250" b="1">
                <a:solidFill>
                  <a:srgbClr val="17212B"/>
                </a:solidFill>
              </a:rPr>
              <a:t>0.362444</a:t>
            </a:r>
          </a:p>
        </p:txBody>
      </p:sp>
      <p:sp>
        <p:nvSpPr>
          <p:cNvPr id="13" name="metric-平均推理时间">
            <a:extLst xmlns:a="http://schemas.openxmlformats.org/drawingml/2006/main">
              <a:ext uri="{FF2B5EF4-FFF2-40B4-BE49-F238E27FC236}">
                <a16:creationId xmlns:a16="http://schemas.microsoft.com/office/drawing/2014/main" id="{E2F2A6F5-2128-4D6B-A2AD-1671EAF7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09750"/>
            <a:ext cx="247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C8308B-E4CB-4751-93D3-ED43A10A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097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etric-label-平均推理时间">
            <a:extLst xmlns:a="http://schemas.openxmlformats.org/drawingml/2006/main">
              <a:ext uri="{FF2B5EF4-FFF2-40B4-BE49-F238E27FC236}">
                <a16:creationId xmlns:a16="http://schemas.microsoft.com/office/drawing/2014/main" id="{5945ABB1-14C4-48A2-AC61-92810E8B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平均推理时间</a:t>
            </a:r>
          </a:p>
        </p:txBody>
      </p:sp>
      <p:sp>
        <p:nvSpPr>
          <p:cNvPr id="16" name="metric-value-平均推理时间">
            <a:extLst xmlns:a="http://schemas.openxmlformats.org/drawingml/2006/main">
              <a:ext uri="{FF2B5EF4-FFF2-40B4-BE49-F238E27FC236}">
                <a16:creationId xmlns:a16="http://schemas.microsoft.com/office/drawing/2014/main" id="{F3ADFE99-9A52-4314-BA4D-0290FD92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09800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2B"/>
                </a:solidFill>
              </a:defRPr>
            </a:pPr>
            <a:r>
              <a:rPr sz="2250" b="1">
                <a:solidFill>
                  <a:srgbClr val="17212B"/>
                </a:solidFill>
              </a:rPr>
              <a:t>5.80 ms/image</a:t>
            </a:r>
          </a:p>
        </p:txBody>
      </p:sp>
      <p:sp>
        <p:nvSpPr>
          <p:cNvPr id="17" name="metric-最终来源">
            <a:extLst xmlns:a="http://schemas.openxmlformats.org/drawingml/2006/main">
              <a:ext uri="{FF2B5EF4-FFF2-40B4-BE49-F238E27FC236}">
                <a16:creationId xmlns:a16="http://schemas.microsoft.com/office/drawing/2014/main" id="{D7DE4059-9798-4FF9-B98D-CF2A60B5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09750"/>
            <a:ext cx="2781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46763D-C76C-448C-8DEC-D7120495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097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metric-label-最终来源">
            <a:extLst xmlns:a="http://schemas.openxmlformats.org/drawingml/2006/main">
              <a:ext uri="{FF2B5EF4-FFF2-40B4-BE49-F238E27FC236}">
                <a16:creationId xmlns:a16="http://schemas.microsoft.com/office/drawing/2014/main" id="{3A0F4EFD-187A-48E3-87D7-E79FA3A1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62150"/>
            <a:ext cx="2457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最终来源</a:t>
            </a:r>
          </a:p>
        </p:txBody>
      </p:sp>
      <p:sp>
        <p:nvSpPr>
          <p:cNvPr id="20" name="metric-value-最终来源">
            <a:extLst xmlns:a="http://schemas.openxmlformats.org/drawingml/2006/main">
              <a:ext uri="{FF2B5EF4-FFF2-40B4-BE49-F238E27FC236}">
                <a16:creationId xmlns:a16="http://schemas.microsoft.com/office/drawing/2014/main" id="{8F81CCF2-948B-4712-B8EB-BD3063F3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09800"/>
            <a:ext cx="2457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2B"/>
                </a:solidFill>
              </a:defRPr>
            </a:pPr>
            <a:r>
              <a:rPr sz="2250" b="1">
                <a:solidFill>
                  <a:srgbClr val="17212B"/>
                </a:solidFill>
              </a:rPr>
              <a:t>evaluation_results.json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CBC5FF-B990-4428-9E43-34CE2051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</a:defRPr>
            </a:pPr>
            <a:r>
              <a:rPr sz="1650" b="1">
                <a:solidFill>
                  <a:srgbClr val="17212B"/>
                </a:solidFill>
              </a:rPr>
              <a:t>类别 AP@0.5</a:t>
            </a:r>
          </a:p>
        </p:txBody>
      </p:sp>
      <p:sp>
        <p:nvSpPr>
          <p:cNvPr id="22" name="bar-label-fire">
            <a:extLst xmlns:a="http://schemas.openxmlformats.org/drawingml/2006/main">
              <a:ext uri="{FF2B5EF4-FFF2-40B4-BE49-F238E27FC236}">
                <a16:creationId xmlns:a16="http://schemas.microsoft.com/office/drawing/2014/main" id="{8E023C90-0EDA-410E-920C-712A2925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fire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A8FF40-EB07-438C-A290-F101A1ED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905250"/>
            <a:ext cx="26670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7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9CF68D-207A-4C37-B337-5403F45D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905250"/>
            <a:ext cx="208309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ar-value-fire">
            <a:extLst xmlns:a="http://schemas.openxmlformats.org/drawingml/2006/main">
              <a:ext uri="{FF2B5EF4-FFF2-40B4-BE49-F238E27FC236}">
                <a16:creationId xmlns:a16="http://schemas.microsoft.com/office/drawing/2014/main" id="{C5DAF1A8-368F-4D24-B0B3-3170DEF4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862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12B"/>
                </a:solidFill>
              </a:defRPr>
            </a:pPr>
            <a:r>
              <a:rPr sz="1125" b="1">
                <a:solidFill>
                  <a:srgbClr val="17212B"/>
                </a:solidFill>
              </a:rPr>
              <a:t>0.781</a:t>
            </a:r>
          </a:p>
        </p:txBody>
      </p:sp>
      <p:sp>
        <p:nvSpPr>
          <p:cNvPr id="26" name="bar-label-smoke">
            <a:extLst xmlns:a="http://schemas.openxmlformats.org/drawingml/2006/main">
              <a:ext uri="{FF2B5EF4-FFF2-40B4-BE49-F238E27FC236}">
                <a16:creationId xmlns:a16="http://schemas.microsoft.com/office/drawing/2014/main" id="{DB081EDC-8986-4C63-83F1-DE15940F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smoke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9ADF6E-0720-49CB-BDD3-FA5C6D89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38650"/>
            <a:ext cx="26670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7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73B51B-ED80-4564-A2F2-D77FBC72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38650"/>
            <a:ext cx="1643368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2A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ar-value-smoke">
            <a:extLst xmlns:a="http://schemas.openxmlformats.org/drawingml/2006/main">
              <a:ext uri="{FF2B5EF4-FFF2-40B4-BE49-F238E27FC236}">
                <a16:creationId xmlns:a16="http://schemas.microsoft.com/office/drawing/2014/main" id="{B9EE63A3-0DC0-4E7A-B15F-82E3C7D8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196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12B"/>
                </a:solidFill>
              </a:defRPr>
            </a:pPr>
            <a:r>
              <a:rPr sz="1125" b="1">
                <a:solidFill>
                  <a:srgbClr val="17212B"/>
                </a:solidFill>
              </a:rPr>
              <a:t>0.616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1964A0-8934-4BF5-B8C3-47756409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33750"/>
            <a:ext cx="4953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74579C-100C-4C63-B2AD-A6A7E891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576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</a:defRPr>
            </a:pPr>
            <a:r>
              <a:rPr sz="1725" b="1">
                <a:solidFill>
                  <a:srgbClr val="17212B"/>
                </a:solidFill>
              </a:rPr>
              <a:t>为什么 smoke 更难？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A7059C-BD2D-4E2A-9F0C-B6EF2808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33850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烟雾边界模糊、透明、形态变化大，</a:t>
            </a:r>
          </a:p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同样的框回归难度通常高于火焰。</a:t>
            </a:r>
          </a:p>
        </p:txBody>
      </p:sp>
      <p:sp>
        <p:nvSpPr>
          <p:cNvPr id="33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DC892D5D-2770-435A-B9C0-C336E1BA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指标</a:t>
            </a:r>
          </a:p>
        </p:txBody>
      </p:sp>
      <p:sp>
        <p:nvSpPr>
          <p:cNvPr id="3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FD7939D0-4304-463F-8F4F-C9AD77E4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86525"/>
            <a:ext cx="426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项目复盘手册 · MobileNetV2 + Faster R-CNN</a:t>
            </a:r>
          </a:p>
        </p:txBody>
      </p:sp>
    </p:spTree>
    <p:extLst>
      <p:ext uri="{BB962C8B-B14F-4D97-AF65-F5344CB8AC3E}">
        <p14:creationId xmlns:p14="http://schemas.microsoft.com/office/powerpoint/2010/main" val="10560311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icker">
            <a:extLst xmlns:a="http://schemas.openxmlformats.org/drawingml/2006/main">
              <a:ext uri="{FF2B5EF4-FFF2-40B4-BE49-F238E27FC236}">
                <a16:creationId xmlns:a16="http://schemas.microsoft.com/office/drawing/2014/main" id="{4AB6306E-168C-4066-80AA-057CC820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A8B0"/>
                </a:solidFill>
              </a:defRPr>
            </a:pPr>
            <a:r>
              <a:rPr sz="975" b="1">
                <a:solidFill>
                  <a:srgbClr val="12A8B0"/>
                </a:solidFill>
              </a:rPr>
              <a:t>阶段六 · 指标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3A55F9-2C0E-4BA1-BE04-E4EC8D3E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最终结果要以独立评估文件为准，而不是训练过程中的一行打印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60ADAD5-BB09-48D5-9A17-A8F9E26A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5076ABD-E498-4D39-A64C-740F702F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286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22</a:t>
            </a:r>
          </a:p>
        </p:txBody>
      </p:sp>
      <p:sp>
        <p:nvSpPr>
          <p:cNvPr id="5" name="terminal-train.py output">
            <a:extLst xmlns:a="http://schemas.openxmlformats.org/drawingml/2006/main">
              <a:ext uri="{FF2B5EF4-FFF2-40B4-BE49-F238E27FC236}">
                <a16:creationId xmlns:a16="http://schemas.microsoft.com/office/drawing/2014/main" id="{2637D3DB-6839-4280-AE39-E2C11776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4767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18DA07-2F74-4949-B874-50384BE2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47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8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FBBBEF-27B7-4399-9B93-975A0C32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1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0173D1-BA42-4CCC-8210-2EE2A8D8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81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F7B92F-2D99-4632-9707-8B82341C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81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rminal-title-train.py output">
            <a:extLst xmlns:a="http://schemas.openxmlformats.org/drawingml/2006/main">
              <a:ext uri="{FF2B5EF4-FFF2-40B4-BE49-F238E27FC236}">
                <a16:creationId xmlns:a16="http://schemas.microsoft.com/office/drawing/2014/main" id="{FE06B0C9-1472-455C-806F-3C64987C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43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7C4CB"/>
                </a:solidFill>
              </a:defRPr>
            </a:pPr>
            <a:r>
              <a:rPr sz="975" b="0">
                <a:solidFill>
                  <a:srgbClr val="B7C4CB"/>
                </a:solidFill>
              </a:rPr>
              <a:t>train.py output</a:t>
            </a:r>
          </a:p>
        </p:txBody>
      </p:sp>
      <p:sp>
        <p:nvSpPr>
          <p:cNvPr id="11" name="terminal-line-train.py output-0">
            <a:extLst xmlns:a="http://schemas.openxmlformats.org/drawingml/2006/main">
              <a:ext uri="{FF2B5EF4-FFF2-40B4-BE49-F238E27FC236}">
                <a16:creationId xmlns:a16="http://schemas.microsoft.com/office/drawing/2014/main" id="{A4713D7A-2E46-4B25-99F2-2577F8D6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413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6ED"/>
                </a:solidFill>
              </a:defRPr>
            </a:pPr>
            <a:r>
              <a:rPr sz="1125" b="0">
                <a:solidFill>
                  <a:srgbClr val="D9E6ED"/>
                </a:solidFill>
              </a:rPr>
              <a:t>Epoch 100完成</a:t>
            </a:r>
          </a:p>
        </p:txBody>
      </p:sp>
      <p:sp>
        <p:nvSpPr>
          <p:cNvPr id="12" name="terminal-line-train.py output-1">
            <a:extLst xmlns:a="http://schemas.openxmlformats.org/drawingml/2006/main">
              <a:ext uri="{FF2B5EF4-FFF2-40B4-BE49-F238E27FC236}">
                <a16:creationId xmlns:a16="http://schemas.microsoft.com/office/drawing/2014/main" id="{32E8E781-8FC6-4F1F-816E-F36A9CC8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413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6ED"/>
                </a:solidFill>
              </a:defRPr>
            </a:pPr>
            <a:r>
              <a:rPr sz="1125" b="0">
                <a:solidFill>
                  <a:srgbClr val="D9E6ED"/>
                </a:solidFill>
              </a:rPr>
              <a:t>mAP50 = 0.6986…</a:t>
            </a:r>
          </a:p>
        </p:txBody>
      </p:sp>
      <p:sp>
        <p:nvSpPr>
          <p:cNvPr id="13" name="terminal-line-train.py output-2">
            <a:extLst xmlns:a="http://schemas.openxmlformats.org/drawingml/2006/main">
              <a:ext uri="{FF2B5EF4-FFF2-40B4-BE49-F238E27FC236}">
                <a16:creationId xmlns:a16="http://schemas.microsoft.com/office/drawing/2014/main" id="{8B9DA9CA-9AE4-44EB-8EE2-DA854B7D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413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6ED"/>
                </a:solidFill>
              </a:defRPr>
            </a:pPr>
            <a:r>
              <a:rPr sz="1125" b="0">
                <a:solidFill>
                  <a:srgbClr val="D9E6ED"/>
                </a:solidFill>
              </a:rPr>
              <a:t>训练循环中的阶段性结果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053668-D070-4E64-AA7E-568E4C1B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717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66727D"/>
                </a:solidFill>
              </a:defRPr>
            </a:pPr>
            <a:r>
              <a:rPr sz="2700" b="1">
                <a:solidFill>
                  <a:srgbClr val="66727D"/>
                </a:solidFill>
              </a:rPr>
              <a:t>→</a:t>
            </a:r>
          </a:p>
        </p:txBody>
      </p:sp>
      <p:sp>
        <p:nvSpPr>
          <p:cNvPr id="15" name="terminal-evaluate.py output">
            <a:extLst xmlns:a="http://schemas.openxmlformats.org/drawingml/2006/main">
              <a:ext uri="{FF2B5EF4-FFF2-40B4-BE49-F238E27FC236}">
                <a16:creationId xmlns:a16="http://schemas.microsoft.com/office/drawing/2014/main" id="{4DE49608-E235-4733-A019-F747223B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85950"/>
            <a:ext cx="48577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37F6CE-CF4B-4B99-94FC-A3E4276A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85950"/>
            <a:ext cx="485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8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B14B2C-2D78-4CF2-9172-F7D4D261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81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33DB79-FDED-43CC-9965-A274652E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981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F335E0-D32C-470F-A010-3B3D7DDE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81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rminal-title-evaluate.py output">
            <a:extLst xmlns:a="http://schemas.openxmlformats.org/drawingml/2006/main">
              <a:ext uri="{FF2B5EF4-FFF2-40B4-BE49-F238E27FC236}">
                <a16:creationId xmlns:a16="http://schemas.microsoft.com/office/drawing/2014/main" id="{512DCC86-6E98-4E1C-B55F-3B04FCA3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43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7C4CB"/>
                </a:solidFill>
              </a:defRPr>
            </a:pPr>
            <a:r>
              <a:rPr sz="975" b="0">
                <a:solidFill>
                  <a:srgbClr val="B7C4CB"/>
                </a:solidFill>
              </a:rPr>
              <a:t>evaluate.py output</a:t>
            </a:r>
          </a:p>
        </p:txBody>
      </p:sp>
      <p:sp>
        <p:nvSpPr>
          <p:cNvPr id="21" name="terminal-line-evaluate.py output-0">
            <a:extLst xmlns:a="http://schemas.openxmlformats.org/drawingml/2006/main">
              <a:ext uri="{FF2B5EF4-FFF2-40B4-BE49-F238E27FC236}">
                <a16:creationId xmlns:a16="http://schemas.microsoft.com/office/drawing/2014/main" id="{CA094D76-BCF5-4E43-9F2F-B9D8D036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24100"/>
            <a:ext cx="451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6ED"/>
                </a:solidFill>
              </a:defRPr>
            </a:pPr>
            <a:r>
              <a:rPr sz="1125" b="0">
                <a:solidFill>
                  <a:srgbClr val="D9E6ED"/>
                </a:solidFill>
              </a:rPr>
              <a:t>独立跑完整 val</a:t>
            </a:r>
          </a:p>
        </p:txBody>
      </p:sp>
      <p:sp>
        <p:nvSpPr>
          <p:cNvPr id="22" name="terminal-line-evaluate.py output-1">
            <a:extLst xmlns:a="http://schemas.openxmlformats.org/drawingml/2006/main">
              <a:ext uri="{FF2B5EF4-FFF2-40B4-BE49-F238E27FC236}">
                <a16:creationId xmlns:a16="http://schemas.microsoft.com/office/drawing/2014/main" id="{650859D9-4264-477C-91AB-B1C8EA13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52700"/>
            <a:ext cx="451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6ED"/>
                </a:solidFill>
              </a:defRPr>
            </a:pPr>
            <a:r>
              <a:rPr sz="1125" b="0">
                <a:solidFill>
                  <a:srgbClr val="D9E6ED"/>
                </a:solidFill>
              </a:rPr>
              <a:t>mAP@0.5 = 0.698624</a:t>
            </a:r>
          </a:p>
        </p:txBody>
      </p:sp>
      <p:sp>
        <p:nvSpPr>
          <p:cNvPr id="23" name="terminal-line-evaluate.py output-2">
            <a:extLst xmlns:a="http://schemas.openxmlformats.org/drawingml/2006/main">
              <a:ext uri="{FF2B5EF4-FFF2-40B4-BE49-F238E27FC236}">
                <a16:creationId xmlns:a16="http://schemas.microsoft.com/office/drawing/2014/main" id="{4BD5A2B9-D35E-4681-8BBB-150056C2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81300"/>
            <a:ext cx="451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6ED"/>
                </a:solidFill>
              </a:defRPr>
            </a:pPr>
            <a:r>
              <a:rPr sz="1125" b="0">
                <a:solidFill>
                  <a:srgbClr val="D9E6ED"/>
                </a:solidFill>
              </a:rPr>
              <a:t>mAP@0.5:0.95 = 0.362444</a:t>
            </a:r>
          </a:p>
        </p:txBody>
      </p:sp>
      <p:sp>
        <p:nvSpPr>
          <p:cNvPr id="24" name="terminal-line-evaluate.py output-3">
            <a:extLst xmlns:a="http://schemas.openxmlformats.org/drawingml/2006/main">
              <a:ext uri="{FF2B5EF4-FFF2-40B4-BE49-F238E27FC236}">
                <a16:creationId xmlns:a16="http://schemas.microsoft.com/office/drawing/2014/main" id="{29DC1BE5-4B2F-458D-8A68-78588663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09900"/>
            <a:ext cx="451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6ED"/>
                </a:solidFill>
              </a:defRPr>
            </a:pPr>
            <a:r>
              <a:rPr sz="1125" b="0">
                <a:solidFill>
                  <a:srgbClr val="D9E6ED"/>
                </a:solidFill>
              </a:rPr>
              <a:t>写入 evaluation_results.json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4BD0D1-7140-46A0-9506-A03EC9C6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0820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ED944A-6FA9-4973-9C96-519CFBB0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交付规则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4C31AC-252E-4891-B1C5-95C5F887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863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报告、PPT、README 使用同一个源文件；如果出现小数差异，说明“来源不同”，先查文件和评估命令。</a:t>
            </a:r>
          </a:p>
        </p:txBody>
      </p:sp>
      <p:sp>
        <p:nvSpPr>
          <p:cNvPr id="28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24440D79-626C-44AA-9CC9-31A2CDCF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指标</a:t>
            </a:r>
          </a:p>
        </p:txBody>
      </p:sp>
      <p:sp>
        <p:nvSpPr>
          <p:cNvPr id="29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C8A91061-608D-4985-A129-F3BF60C3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86525"/>
            <a:ext cx="426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项目复盘手册 · MobileNetV2 + Faster R-CNN</a:t>
            </a:r>
          </a:p>
        </p:txBody>
      </p:sp>
    </p:spTree>
    <p:extLst>
      <p:ext uri="{BB962C8B-B14F-4D97-AF65-F5344CB8AC3E}">
        <p14:creationId xmlns:p14="http://schemas.microsoft.com/office/powerpoint/2010/main" val="34524389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kicker">
            <a:extLst xmlns:a="http://schemas.openxmlformats.org/drawingml/2006/main">
              <a:ext uri="{FF2B5EF4-FFF2-40B4-BE49-F238E27FC236}">
                <a16:creationId xmlns:a16="http://schemas.microsoft.com/office/drawing/2014/main" id="{495E0CC7-5818-4541-87CC-D11A173A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A8B0"/>
                </a:solidFill>
              </a:defRPr>
            </a:pPr>
            <a:r>
              <a:rPr sz="975" b="1">
                <a:solidFill>
                  <a:srgbClr val="12A8B0"/>
                </a:solidFill>
              </a:rPr>
              <a:t>阶段七 · GITHUB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F9FBF5-A116-4176-8411-EFEACDD8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工程化交付：代码、结果、权重和数据要分开管理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02E00E9-6272-41E0-AF7A-9F787A8A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D902B13-B619-4CE5-927D-CEFAB694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286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23</a:t>
            </a:r>
          </a:p>
        </p:txBody>
      </p:sp>
      <p:sp>
        <p:nvSpPr>
          <p:cNvPr id="5" name="terminal-repository tree">
            <a:extLst xmlns:a="http://schemas.openxmlformats.org/drawingml/2006/main">
              <a:ext uri="{FF2B5EF4-FFF2-40B4-BE49-F238E27FC236}">
                <a16:creationId xmlns:a16="http://schemas.microsoft.com/office/drawing/2014/main" id="{CC6DB509-37DC-4B29-B6DE-DC7F8AAB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010150" cy="31242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2AF9FE-2DE7-4B1C-9FCA-89ECCA60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01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8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A9F465-0AF5-4B53-98EF-DD25CD86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11C449-A75C-4252-B0F8-95D0984D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85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86E895-E4DE-4E6D-82E7-91B96557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85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rminal-title-repository tree">
            <a:extLst xmlns:a="http://schemas.openxmlformats.org/drawingml/2006/main">
              <a:ext uri="{FF2B5EF4-FFF2-40B4-BE49-F238E27FC236}">
                <a16:creationId xmlns:a16="http://schemas.microsoft.com/office/drawing/2014/main" id="{1A612805-66DD-4F10-B283-8A924A20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847850"/>
            <a:ext cx="415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7C4CB"/>
                </a:solidFill>
              </a:defRPr>
            </a:pPr>
            <a:r>
              <a:rPr sz="975" b="0">
                <a:solidFill>
                  <a:srgbClr val="B7C4CB"/>
                </a:solidFill>
              </a:rPr>
              <a:t>repository tree</a:t>
            </a:r>
          </a:p>
        </p:txBody>
      </p:sp>
      <p:sp>
        <p:nvSpPr>
          <p:cNvPr id="11" name="terminal-line-repository tree-0">
            <a:extLst xmlns:a="http://schemas.openxmlformats.org/drawingml/2006/main">
              <a:ext uri="{FF2B5EF4-FFF2-40B4-BE49-F238E27FC236}">
                <a16:creationId xmlns:a16="http://schemas.microsoft.com/office/drawing/2014/main" id="{8E3C61F3-6BA6-4644-B0F4-817A09B0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466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6ED"/>
                </a:solidFill>
              </a:defRPr>
            </a:pPr>
            <a:r>
              <a:rPr sz="1125" b="0">
                <a:solidFill>
                  <a:srgbClr val="D9E6ED"/>
                </a:solidFill>
              </a:rPr>
              <a:t>README.md</a:t>
            </a:r>
          </a:p>
        </p:txBody>
      </p:sp>
      <p:sp>
        <p:nvSpPr>
          <p:cNvPr id="12" name="terminal-line-repository tree-1">
            <a:extLst xmlns:a="http://schemas.openxmlformats.org/drawingml/2006/main">
              <a:ext uri="{FF2B5EF4-FFF2-40B4-BE49-F238E27FC236}">
                <a16:creationId xmlns:a16="http://schemas.microsoft.com/office/drawing/2014/main" id="{81E527C9-C54A-4D83-A40C-F785AF6C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466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6ED"/>
                </a:solidFill>
              </a:defRPr>
            </a:pPr>
            <a:r>
              <a:rPr sz="1125" b="0">
                <a:solidFill>
                  <a:srgbClr val="D9E6ED"/>
                </a:solidFill>
              </a:rPr>
              <a:t>requirements.txt</a:t>
            </a:r>
          </a:p>
        </p:txBody>
      </p:sp>
      <p:sp>
        <p:nvSpPr>
          <p:cNvPr id="13" name="terminal-line-repository tree-2">
            <a:extLst xmlns:a="http://schemas.openxmlformats.org/drawingml/2006/main">
              <a:ext uri="{FF2B5EF4-FFF2-40B4-BE49-F238E27FC236}">
                <a16:creationId xmlns:a16="http://schemas.microsoft.com/office/drawing/2014/main" id="{8D7B1CB2-F5FA-4BA4-8090-EB0D1A20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466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6ED"/>
                </a:solidFill>
              </a:defRPr>
            </a:pPr>
            <a:r>
              <a:rPr sz="1125" b="0">
                <a:solidFill>
                  <a:srgbClr val="D9E6ED"/>
                </a:solidFill>
              </a:rPr>
              <a:t>.gitignore</a:t>
            </a:r>
          </a:p>
        </p:txBody>
      </p:sp>
      <p:sp>
        <p:nvSpPr>
          <p:cNvPr id="14" name="terminal-line-repository tree-3">
            <a:extLst xmlns:a="http://schemas.openxmlformats.org/drawingml/2006/main">
              <a:ext uri="{FF2B5EF4-FFF2-40B4-BE49-F238E27FC236}">
                <a16:creationId xmlns:a16="http://schemas.microsoft.com/office/drawing/2014/main" id="{4FCE26E8-7CE4-4233-8E4D-AA297C93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466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6ED"/>
                </a:solidFill>
              </a:defRPr>
            </a:pPr>
            <a:r>
              <a:rPr sz="1125" b="0">
                <a:solidFill>
                  <a:srgbClr val="D9E6ED"/>
                </a:solidFill>
              </a:rPr>
              <a:t>src/</a:t>
            </a:r>
          </a:p>
        </p:txBody>
      </p:sp>
      <p:sp>
        <p:nvSpPr>
          <p:cNvPr id="15" name="terminal-line-repository tree-4">
            <a:extLst xmlns:a="http://schemas.openxmlformats.org/drawingml/2006/main">
              <a:ext uri="{FF2B5EF4-FFF2-40B4-BE49-F238E27FC236}">
                <a16:creationId xmlns:a16="http://schemas.microsoft.com/office/drawing/2014/main" id="{C79F58A8-F2F0-4F41-8442-5A0D6953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466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6ED"/>
                </a:solidFill>
              </a:defRPr>
            </a:pPr>
            <a:r>
              <a:rPr sz="1125" b="0">
                <a:solidFill>
                  <a:srgbClr val="D9E6ED"/>
                </a:solidFill>
              </a:rPr>
              <a:t>  train.py / evaluate.py / model.py</a:t>
            </a:r>
          </a:p>
        </p:txBody>
      </p:sp>
      <p:sp>
        <p:nvSpPr>
          <p:cNvPr id="16" name="terminal-line-repository tree-5">
            <a:extLst xmlns:a="http://schemas.openxmlformats.org/drawingml/2006/main">
              <a:ext uri="{FF2B5EF4-FFF2-40B4-BE49-F238E27FC236}">
                <a16:creationId xmlns:a16="http://schemas.microsoft.com/office/drawing/2014/main" id="{DB100BDB-9EF4-4DE7-B66D-494862C0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466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6ED"/>
                </a:solidFill>
              </a:defRPr>
            </a:pPr>
            <a:r>
              <a:rPr sz="1125" b="0">
                <a:solidFill>
                  <a:srgbClr val="D9E6ED"/>
                </a:solidFill>
              </a:rPr>
              <a:t>results/</a:t>
            </a:r>
          </a:p>
        </p:txBody>
      </p:sp>
      <p:sp>
        <p:nvSpPr>
          <p:cNvPr id="17" name="terminal-line-repository tree-6">
            <a:extLst xmlns:a="http://schemas.openxmlformats.org/drawingml/2006/main">
              <a:ext uri="{FF2B5EF4-FFF2-40B4-BE49-F238E27FC236}">
                <a16:creationId xmlns:a16="http://schemas.microsoft.com/office/drawing/2014/main" id="{FAADCB0F-BF30-44F0-902E-75AA40CA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466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6ED"/>
                </a:solidFill>
              </a:defRPr>
            </a:pPr>
            <a:r>
              <a:rPr sz="1125" b="0">
                <a:solidFill>
                  <a:srgbClr val="D9E6ED"/>
                </a:solidFill>
              </a:rPr>
              <a:t>  training_curve.png / *.json</a:t>
            </a:r>
          </a:p>
        </p:txBody>
      </p:sp>
      <p:sp>
        <p:nvSpPr>
          <p:cNvPr id="18" name="terminal-line-repository tree-7">
            <a:extLst xmlns:a="http://schemas.openxmlformats.org/drawingml/2006/main">
              <a:ext uri="{FF2B5EF4-FFF2-40B4-BE49-F238E27FC236}">
                <a16:creationId xmlns:a16="http://schemas.microsoft.com/office/drawing/2014/main" id="{2EE83E30-68A3-4B58-8FE7-6B65C689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466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6ED"/>
                </a:solidFill>
              </a:defRPr>
            </a:pPr>
            <a:r>
              <a:rPr sz="1125" b="0">
                <a:solidFill>
                  <a:srgbClr val="D9E6ED"/>
                </a:solidFill>
              </a:rPr>
              <a:t>weights/README.md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0F39E6-8704-4DC0-B4C5-56C06007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90700"/>
            <a:ext cx="516255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7B435C-256D-4558-9F0E-F5EF467D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145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64545"/>
                </a:solidFill>
              </a:defRPr>
            </a:pPr>
            <a:r>
              <a:rPr sz="1800" b="1">
                <a:solidFill>
                  <a:srgbClr val="D64545"/>
                </a:solidFill>
              </a:rPr>
              <a:t>不公开上传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DE9609-9209-4098-A1BF-409CDF7D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0350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</a:defRPr>
            </a:pPr>
            <a:r>
              <a:rPr sz="1725" b="1">
                <a:solidFill>
                  <a:srgbClr val="17212B"/>
                </a:solidFill>
              </a:rPr>
              <a:t>data/ 训练数据</a:t>
            </a:r>
          </a:p>
          <a:p xmlns:a="http://schemas.openxmlformats.org/drawingml/2006/main">
            <a:pPr algn="l">
              <a:defRPr sz="1725" b="1">
                <a:solidFill>
                  <a:srgbClr val="17212B"/>
                </a:solidFill>
              </a:defRPr>
            </a:pPr>
            <a:r>
              <a:rPr sz="1725" b="1">
                <a:solidFill>
                  <a:srgbClr val="17212B"/>
                </a:solidFill>
              </a:rPr>
              <a:t>*.pth 模型权重</a:t>
            </a:r>
          </a:p>
          <a:p xmlns:a="http://schemas.openxmlformats.org/drawingml/2006/main">
            <a:pPr algn="l">
              <a:defRPr sz="1725" b="1">
                <a:solidFill>
                  <a:srgbClr val="17212B"/>
                </a:solidFill>
              </a:defRPr>
            </a:pPr>
            <a:r>
              <a:rPr sz="1725" b="1">
                <a:solidFill>
                  <a:srgbClr val="17212B"/>
                </a:solidFill>
              </a:rPr>
              <a:t>__pycache__/ 临时缓存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2DF219-745C-4514-AABD-EF06B50B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910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7D"/>
                </a:solidFill>
              </a:defRPr>
            </a:pPr>
            <a:r>
              <a:rPr sz="1350" b="0">
                <a:solidFill>
                  <a:srgbClr val="66727D"/>
                </a:solidFill>
              </a:rPr>
              <a:t>README 里写清楚：数据集不随仓库提供，</a:t>
            </a:r>
          </a:p>
          <a:p xmlns:a="http://schemas.openxmlformats.org/drawingml/2006/main">
            <a:pPr algn="l">
              <a:defRPr sz="1350" b="0">
                <a:solidFill>
                  <a:srgbClr val="66727D"/>
                </a:solidFill>
              </a:defRPr>
            </a:pPr>
            <a:r>
              <a:rPr sz="1350" b="0">
                <a:solidFill>
                  <a:srgbClr val="66727D"/>
                </a:solidFill>
              </a:rPr>
              <a:t>权重体积较大，需要另行获取。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41CBC9-162D-4219-923A-11205731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57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quote">
            <a:extLst xmlns:a="http://schemas.openxmlformats.org/drawingml/2006/main">
              <a:ext uri="{FF2B5EF4-FFF2-40B4-BE49-F238E27FC236}">
                <a16:creationId xmlns:a16="http://schemas.microsoft.com/office/drawing/2014/main" id="{6E2EC362-F545-4218-B0B4-AD996D46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57825"/>
            <a:ext cx="1036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</a:defRPr>
            </a:pPr>
            <a:r>
              <a:rPr sz="1725" b="1">
                <a:solidFill>
                  <a:srgbClr val="17212B"/>
                </a:solidFill>
              </a:rPr>
              <a:t>GitHub 展示的是可理解、可复用的项目结构，不是把服务器硬盘整体搬上去。</a:t>
            </a:r>
          </a:p>
        </p:txBody>
      </p:sp>
      <p:sp>
        <p:nvSpPr>
          <p:cNvPr id="25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A966E9F9-1232-422D-B272-B37B6A3F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GitHub</a:t>
            </a:r>
          </a:p>
        </p:txBody>
      </p:sp>
      <p:sp>
        <p:nvSpPr>
          <p:cNvPr id="26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83CC94D2-CB9C-4603-9F55-1E6EEBC2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86525"/>
            <a:ext cx="426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项目复盘手册 · MobileNetV2 + Faster R-CNN</a:t>
            </a:r>
          </a:p>
        </p:txBody>
      </p:sp>
    </p:spTree>
    <p:extLst>
      <p:ext uri="{BB962C8B-B14F-4D97-AF65-F5344CB8AC3E}">
        <p14:creationId xmlns:p14="http://schemas.microsoft.com/office/powerpoint/2010/main" val="198263034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">
            <a:extLst xmlns:a="http://schemas.openxmlformats.org/drawingml/2006/main">
              <a:ext uri="{FF2B5EF4-FFF2-40B4-BE49-F238E27FC236}">
                <a16:creationId xmlns:a16="http://schemas.microsoft.com/office/drawing/2014/main" id="{120EE676-DF3D-41F3-ADE0-7CAAD815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A8B0"/>
                </a:solidFill>
              </a:defRPr>
            </a:pPr>
            <a:r>
              <a:rPr sz="975" b="1">
                <a:solidFill>
                  <a:srgbClr val="12A8B0"/>
                </a:solidFill>
              </a:rPr>
              <a:t>阶段七 · GITHUB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78F85F-D789-493C-8F59-2E259800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Git 第一次使用，最常见的不是代码错误，而是身份和网络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8317FBC1-69F2-4512-9118-7E272DB0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6D0F36C-4397-4087-9E54-DF902FF0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286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D39F00-03D7-4B1E-96DE-F2DBA760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048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095849-534A-4741-8039-A97B5D7A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9283A7-BFB0-4C37-AE75-161404DD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193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</a:defRPr>
            </a:pPr>
            <a:r>
              <a:rPr sz="1575" b="1">
                <a:solidFill>
                  <a:srgbClr val="17212B"/>
                </a:solidFill>
              </a:rPr>
              <a:t>LF → CRLF warning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67F109-747E-4A10-B1E4-2C91D9D7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27D"/>
                </a:solidFill>
              </a:defRPr>
            </a:pPr>
            <a:r>
              <a:rPr sz="1275" b="0">
                <a:solidFill>
                  <a:srgbClr val="66727D"/>
                </a:solidFill>
              </a:rPr>
              <a:t>换行符提示，不是上传失败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64346C-BF39-48D4-A3E0-7C8AAD9F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5048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674E6F-B18B-45AA-A3CD-E053A46A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73085F-2CDA-4574-B8FD-655949C1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193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</a:defRPr>
            </a:pPr>
            <a:r>
              <a:rPr sz="1575" b="1">
                <a:solidFill>
                  <a:srgbClr val="17212B"/>
                </a:solidFill>
              </a:rPr>
              <a:t>user.name / user.email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C1A3F1-9F8C-47B8-91FD-150670CB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193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27D"/>
                </a:solidFill>
              </a:defRPr>
            </a:pPr>
            <a:r>
              <a:rPr sz="1275" b="0">
                <a:solidFill>
                  <a:srgbClr val="66727D"/>
                </a:solidFill>
              </a:rPr>
              <a:t>第一次 commit 先配置身份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45D687-6E84-4A6C-8E78-21173EAB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5048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F2710F-A822-4960-A2D3-AE1FB6AE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4DE0C0-613E-48EA-938E-3110A2BA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052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</a:defRPr>
            </a:pPr>
            <a:r>
              <a:rPr sz="1575" b="1">
                <a:solidFill>
                  <a:srgbClr val="17212B"/>
                </a:solidFill>
              </a:rPr>
              <a:t>代理端口 7897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12EE3B-88DD-4899-A290-B0C95E22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052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27D"/>
                </a:solidFill>
              </a:defRPr>
            </a:pPr>
            <a:r>
              <a:rPr sz="1275" b="0">
                <a:solidFill>
                  <a:srgbClr val="66727D"/>
                </a:solidFill>
              </a:rPr>
              <a:t>Git 的代理必须和本机代理一致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FE9A01-AD1D-4FD3-9A33-F6324F57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95650"/>
            <a:ext cx="5048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AA8041-453B-4186-8E0C-1DEB3FC6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956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CD4BFC-4777-42EC-9F1B-985FC2EE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052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</a:defRPr>
            </a:pPr>
            <a:r>
              <a:rPr sz="1575" b="1">
                <a:solidFill>
                  <a:srgbClr val="17212B"/>
                </a:solidFill>
              </a:rPr>
              <a:t>分享链接不带 .git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D9E38C-D679-4025-AB83-6009F506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052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27D"/>
                </a:solidFill>
              </a:defRPr>
            </a:pPr>
            <a:r>
              <a:rPr sz="1275" b="0">
                <a:solidFill>
                  <a:srgbClr val="66727D"/>
                </a:solidFill>
              </a:rPr>
              <a:t>浏览器访问用网页地址；.git 用于 clone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F83E85-995F-4A07-AE9D-BC342CBC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最小命令链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2B5C91-32BE-422D-ABBB-1009D202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04825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git init  →  git add .  →  git commit  →  git remote add origin  →  git push</a:t>
            </a:r>
          </a:p>
        </p:txBody>
      </p:sp>
      <p:sp>
        <p:nvSpPr>
          <p:cNvPr id="23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22669DF5-B5B8-4FC1-95A9-B89C264A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GitHub</a:t>
            </a:r>
          </a:p>
        </p:txBody>
      </p:sp>
      <p:sp>
        <p:nvSpPr>
          <p:cNvPr id="2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9AF83D4F-07E6-4FA1-B8C4-EAF39076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86525"/>
            <a:ext cx="426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项目复盘手册 · MobileNetV2 + Faster R-CNN</a:t>
            </a:r>
          </a:p>
        </p:txBody>
      </p:sp>
    </p:spTree>
    <p:extLst>
      <p:ext uri="{BB962C8B-B14F-4D97-AF65-F5344CB8AC3E}">
        <p14:creationId xmlns:p14="http://schemas.microsoft.com/office/powerpoint/2010/main" val="42486527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kicker">
            <a:extLst xmlns:a="http://schemas.openxmlformats.org/drawingml/2006/main">
              <a:ext uri="{FF2B5EF4-FFF2-40B4-BE49-F238E27FC236}">
                <a16:creationId xmlns:a16="http://schemas.microsoft.com/office/drawing/2014/main" id="{D07318A3-C013-48F8-8F26-49D6029F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A8B0"/>
                </a:solidFill>
              </a:defRPr>
            </a:pPr>
            <a:r>
              <a:rPr sz="975" b="1">
                <a:solidFill>
                  <a:srgbClr val="12A8B0"/>
                </a:solidFill>
              </a:rPr>
              <a:t>阶段八 · 交付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DFCCF2-80E5-4D7E-A564-3135A7B3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最终交付不是“把文件发出去”，而是让别人知道怎么读、怎么复现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930F829-085C-4AAF-A4A4-C2032455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1FAED82-1792-4E40-8B76-519BC866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286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C10460-FFAC-4F00-80EF-7EE91B74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F8"/>
          </a:solidFill>
          <a:ln xmlns:a="http://schemas.openxmlformats.org/drawingml/2006/main" w="19050">
            <a:solidFill>
              <a:srgbClr val="12A8B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DEB7F2-6F96-4CD5-91B7-472B8652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336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A8B0"/>
                </a:solidFill>
              </a:defRPr>
            </a:pPr>
            <a:r>
              <a:rPr sz="1725" b="1">
                <a:solidFill>
                  <a:srgbClr val="12A8B0"/>
                </a:solidFill>
              </a:rPr>
              <a:t>必须有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7F08A5-022D-44DE-AA53-998D6750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90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0">
            <a:extLst xmlns:a="http://schemas.openxmlformats.org/drawingml/2006/main">
              <a:ext uri="{FF2B5EF4-FFF2-40B4-BE49-F238E27FC236}">
                <a16:creationId xmlns:a16="http://schemas.microsoft.com/office/drawing/2014/main" id="{E84942D2-F35B-4B85-9D02-1FDC1AB3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24150"/>
            <a:ext cx="236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GitHub 仓库链接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2E3EFC-C023-41DD-A92B-16AB6852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33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DCE07C75-003C-4C91-9FB9-F5E9AEBD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236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README + requirements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47F3B6-20A2-48CD-A8A6-4FC64D08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76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2">
            <a:extLst xmlns:a="http://schemas.openxmlformats.org/drawingml/2006/main">
              <a:ext uri="{FF2B5EF4-FFF2-40B4-BE49-F238E27FC236}">
                <a16:creationId xmlns:a16="http://schemas.microsoft.com/office/drawing/2014/main" id="{3B79B280-4B3A-45F3-A074-2FE60EFB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09950"/>
            <a:ext cx="236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最终 JSON 指标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62E33C-1124-4FE3-B3C3-74003898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9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3">
            <a:extLst xmlns:a="http://schemas.openxmlformats.org/drawingml/2006/main">
              <a:ext uri="{FF2B5EF4-FFF2-40B4-BE49-F238E27FC236}">
                <a16:creationId xmlns:a16="http://schemas.microsoft.com/office/drawing/2014/main" id="{425E3A2B-CB60-4A6D-A0E4-E5C923B7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52850"/>
            <a:ext cx="236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training_curve.png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AFF672-FE37-429C-9766-D6FFC24D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62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ullet-4">
            <a:extLst xmlns:a="http://schemas.openxmlformats.org/drawingml/2006/main">
              <a:ext uri="{FF2B5EF4-FFF2-40B4-BE49-F238E27FC236}">
                <a16:creationId xmlns:a16="http://schemas.microsoft.com/office/drawing/2014/main" id="{8740A66E-0EEE-41F4-A174-1A47687F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95750"/>
            <a:ext cx="236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PPT / 压缩包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AA51-5C16-4398-83C5-76243AF7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09750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10C5B4-3A15-4336-B24E-1173A57D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336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97316"/>
                </a:solidFill>
              </a:defRPr>
            </a:pPr>
            <a:r>
              <a:rPr sz="1725" b="1">
                <a:solidFill>
                  <a:srgbClr val="F97316"/>
                </a:solidFill>
              </a:rPr>
              <a:t>发之前查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BBDE04-3BB5-475C-88FB-A29C1A23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790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ullet-0">
            <a:extLst xmlns:a="http://schemas.openxmlformats.org/drawingml/2006/main">
              <a:ext uri="{FF2B5EF4-FFF2-40B4-BE49-F238E27FC236}">
                <a16:creationId xmlns:a16="http://schemas.microsoft.com/office/drawing/2014/main" id="{409AD390-AE04-4C28-A1E8-8C33F699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2415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指标来源一致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3E0391-886B-42D7-9853-B7AF80F8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90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ullet-1">
            <a:extLst xmlns:a="http://schemas.openxmlformats.org/drawingml/2006/main">
              <a:ext uri="{FF2B5EF4-FFF2-40B4-BE49-F238E27FC236}">
                <a16:creationId xmlns:a16="http://schemas.microsoft.com/office/drawing/2014/main" id="{5DAD077D-388F-41E1-B7DE-AD75E052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2420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图片路径可显示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0701C6-AA14-41EB-ACE7-0037AB4C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590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ullet-2">
            <a:extLst xmlns:a="http://schemas.openxmlformats.org/drawingml/2006/main">
              <a:ext uri="{FF2B5EF4-FFF2-40B4-BE49-F238E27FC236}">
                <a16:creationId xmlns:a16="http://schemas.microsoft.com/office/drawing/2014/main" id="{E42831E9-2F51-49A4-9DAB-7041ACFC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52425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没有误传 .pth / data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CB9B89-3365-492A-8394-487E1D93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90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ullet-3">
            <a:extLst xmlns:a="http://schemas.openxmlformats.org/drawingml/2006/main">
              <a:ext uri="{FF2B5EF4-FFF2-40B4-BE49-F238E27FC236}">
                <a16:creationId xmlns:a16="http://schemas.microsoft.com/office/drawing/2014/main" id="{2EE8D96C-79EA-4B3C-AD72-A8F60291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924300"/>
            <a:ext cx="2362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PPT 能打开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ADA245-CD08-4828-B983-02E38B0A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3528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19050">
            <a:solidFill>
              <a:srgbClr val="2F855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F36FFC-8CAC-42FF-8A30-4B184599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336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855A"/>
                </a:solidFill>
              </a:defRPr>
            </a:pPr>
            <a:r>
              <a:rPr sz="1725" b="1">
                <a:solidFill>
                  <a:srgbClr val="2F855A"/>
                </a:solidFill>
              </a:rPr>
              <a:t>给项目经理讲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AB7C0C-D53C-4F5B-A1EF-CE21B3BB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90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ullet-0">
            <a:extLst xmlns:a="http://schemas.openxmlformats.org/drawingml/2006/main">
              <a:ext uri="{FF2B5EF4-FFF2-40B4-BE49-F238E27FC236}">
                <a16:creationId xmlns:a16="http://schemas.microsoft.com/office/drawing/2014/main" id="{955A38B2-1032-47C6-BF82-51C6E404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2415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为什么选这个模型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A26814-1E28-4F73-9449-690E1D68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90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ullet-1">
            <a:extLst xmlns:a="http://schemas.openxmlformats.org/drawingml/2006/main">
              <a:ext uri="{FF2B5EF4-FFF2-40B4-BE49-F238E27FC236}">
                <a16:creationId xmlns:a16="http://schemas.microsoft.com/office/drawing/2014/main" id="{AC8D6184-3E9E-4486-A0E3-E773E6BE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2420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遇到哪些工程问题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CAEEEF-A3B8-4240-B9B5-E203342D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90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bullet-2">
            <a:extLst xmlns:a="http://schemas.openxmlformats.org/drawingml/2006/main">
              <a:ext uri="{FF2B5EF4-FFF2-40B4-BE49-F238E27FC236}">
                <a16:creationId xmlns:a16="http://schemas.microsoft.com/office/drawing/2014/main" id="{7D222F80-319A-4B84-9709-7A8BABA8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2425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当前指标意味着什么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FF8D52-6253-49FD-8B5F-60E4FC3B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90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bullet-3">
            <a:extLst xmlns:a="http://schemas.openxmlformats.org/drawingml/2006/main">
              <a:ext uri="{FF2B5EF4-FFF2-40B4-BE49-F238E27FC236}">
                <a16:creationId xmlns:a16="http://schemas.microsoft.com/office/drawing/2014/main" id="{6244EA9A-5F62-4045-8A3A-2400BBE1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24300"/>
            <a:ext cx="2362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下一步如何优化</a:t>
            </a:r>
          </a:p>
        </p:txBody>
      </p:sp>
      <p:sp>
        <p:nvSpPr>
          <p:cNvPr id="37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0A1B90C9-3E40-4DB0-8612-2BDE3A42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交付</a:t>
            </a:r>
          </a:p>
        </p:txBody>
      </p:sp>
      <p:sp>
        <p:nvSpPr>
          <p:cNvPr id="38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94D37E61-9AC6-40EC-98C7-DB600A31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86525"/>
            <a:ext cx="426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项目复盘手册 · MobileNetV2 + Faster R-CNN</a:t>
            </a:r>
          </a:p>
        </p:txBody>
      </p:sp>
    </p:spTree>
    <p:extLst>
      <p:ext uri="{BB962C8B-B14F-4D97-AF65-F5344CB8AC3E}">
        <p14:creationId xmlns:p14="http://schemas.microsoft.com/office/powerpoint/2010/main" val="163604738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kicker">
            <a:extLst xmlns:a="http://schemas.openxmlformats.org/drawingml/2006/main">
              <a:ext uri="{FF2B5EF4-FFF2-40B4-BE49-F238E27FC236}">
                <a16:creationId xmlns:a16="http://schemas.microsoft.com/office/drawing/2014/main" id="{727182E2-EFD8-41B9-ACBB-EB7B7306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A8B0"/>
                </a:solidFill>
              </a:defRPr>
            </a:pPr>
            <a:r>
              <a:rPr sz="975" b="1">
                <a:solidFill>
                  <a:srgbClr val="12A8B0"/>
                </a:solidFill>
              </a:rPr>
              <a:t>附录 · 命令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123756-841C-489F-BE08-12214ED9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一页命令模板：下一个项目先按这个顺序走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DDE191D-07A9-413A-A2ED-535DA900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C346E7D-56D3-4C90-B7DA-1C5F2940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286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26</a:t>
            </a:r>
          </a:p>
        </p:txBody>
      </p:sp>
      <p:sp>
        <p:nvSpPr>
          <p:cNvPr id="5" name="terminal-local sanity check">
            <a:extLst xmlns:a="http://schemas.openxmlformats.org/drawingml/2006/main">
              <a:ext uri="{FF2B5EF4-FFF2-40B4-BE49-F238E27FC236}">
                <a16:creationId xmlns:a16="http://schemas.microsoft.com/office/drawing/2014/main" id="{77827AC3-08AE-4BC3-B2A0-9B54F09D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048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944934-B1BB-4663-8B9C-619DDE08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04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8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0E20DD-8299-4C8A-84B4-94EF5040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8F162A-6059-4F12-B50D-17E30B64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05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1489F4-504D-43B0-895B-C1DC4CE6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05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rminal-title-local sanity check">
            <a:extLst xmlns:a="http://schemas.openxmlformats.org/drawingml/2006/main">
              <a:ext uri="{FF2B5EF4-FFF2-40B4-BE49-F238E27FC236}">
                <a16:creationId xmlns:a16="http://schemas.microsoft.com/office/drawing/2014/main" id="{B22274D1-C814-4ECC-A1CE-E4C50221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8669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7C4CB"/>
                </a:solidFill>
              </a:defRPr>
            </a:pPr>
            <a:r>
              <a:rPr sz="975" b="0">
                <a:solidFill>
                  <a:srgbClr val="B7C4CB"/>
                </a:solidFill>
              </a:rPr>
              <a:t>local sanity check</a:t>
            </a:r>
          </a:p>
        </p:txBody>
      </p:sp>
      <p:sp>
        <p:nvSpPr>
          <p:cNvPr id="11" name="terminal-line-local sanity check-0">
            <a:extLst xmlns:a="http://schemas.openxmlformats.org/drawingml/2006/main">
              <a:ext uri="{FF2B5EF4-FFF2-40B4-BE49-F238E27FC236}">
                <a16:creationId xmlns:a16="http://schemas.microsoft.com/office/drawing/2014/main" id="{07C22607-0A3A-4ABF-8044-005312D2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470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6ED"/>
                </a:solidFill>
              </a:defRPr>
            </a:pPr>
            <a:r>
              <a:rPr sz="1125" b="0">
                <a:solidFill>
                  <a:srgbClr val="D9E6ED"/>
                </a:solidFill>
              </a:rPr>
              <a:t>python -c "import torch; print(torch.cuda.is_available())"</a:t>
            </a:r>
          </a:p>
        </p:txBody>
      </p:sp>
      <p:sp>
        <p:nvSpPr>
          <p:cNvPr id="12" name="terminal-line-local sanity check-1">
            <a:extLst xmlns:a="http://schemas.openxmlformats.org/drawingml/2006/main">
              <a:ext uri="{FF2B5EF4-FFF2-40B4-BE49-F238E27FC236}">
                <a16:creationId xmlns:a16="http://schemas.microsoft.com/office/drawing/2014/main" id="{E51A9C35-31E0-4BDD-A548-3EE83EAB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470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6ED"/>
                </a:solidFill>
              </a:defRPr>
            </a:pPr>
            <a:r>
              <a:rPr sz="1125" b="0">
                <a:solidFill>
                  <a:srgbClr val="D9E6ED"/>
                </a:solidFill>
              </a:rPr>
              <a:t>python -c "import torch; print(torch.__version__)"</a:t>
            </a:r>
          </a:p>
        </p:txBody>
      </p:sp>
      <p:sp>
        <p:nvSpPr>
          <p:cNvPr id="13" name="terminal-line-local sanity check-2">
            <a:extLst xmlns:a="http://schemas.openxmlformats.org/drawingml/2006/main">
              <a:ext uri="{FF2B5EF4-FFF2-40B4-BE49-F238E27FC236}">
                <a16:creationId xmlns:a16="http://schemas.microsoft.com/office/drawing/2014/main" id="{FFA2E219-CEB7-45E6-93B5-BED77E8E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470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6ED"/>
                </a:solidFill>
              </a:defRPr>
            </a:pPr>
            <a:r>
              <a:rPr sz="1125" b="0">
                <a:solidFill>
                  <a:srgbClr val="D9E6ED"/>
                </a:solidFill>
              </a:rPr>
              <a:t>python src/plot.py</a:t>
            </a:r>
          </a:p>
        </p:txBody>
      </p:sp>
      <p:sp>
        <p:nvSpPr>
          <p:cNvPr id="14" name="terminal-cloud training">
            <a:extLst xmlns:a="http://schemas.openxmlformats.org/drawingml/2006/main">
              <a:ext uri="{FF2B5EF4-FFF2-40B4-BE49-F238E27FC236}">
                <a16:creationId xmlns:a16="http://schemas.microsoft.com/office/drawing/2014/main" id="{A30BD809-CDE0-41EC-9873-54D016D4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09750"/>
            <a:ext cx="51625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88FA5A-D568-41A8-AD76-C0DF038A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09750"/>
            <a:ext cx="516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8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4686F3-7EEE-4ADB-BA42-3075C03D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DBD73E-72CA-48A9-A60C-E95A6BE6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05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2F5D88-A41A-440A-94C4-BECE035A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05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rminal-title-cloud training">
            <a:extLst xmlns:a="http://schemas.openxmlformats.org/drawingml/2006/main">
              <a:ext uri="{FF2B5EF4-FFF2-40B4-BE49-F238E27FC236}">
                <a16:creationId xmlns:a16="http://schemas.microsoft.com/office/drawing/2014/main" id="{65DC83D1-92F1-4AA3-86B5-0AEBB91A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430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7C4CB"/>
                </a:solidFill>
              </a:defRPr>
            </a:pPr>
            <a:r>
              <a:rPr sz="975" b="0">
                <a:solidFill>
                  <a:srgbClr val="B7C4CB"/>
                </a:solidFill>
              </a:rPr>
              <a:t>cloud training</a:t>
            </a:r>
          </a:p>
        </p:txBody>
      </p:sp>
      <p:sp>
        <p:nvSpPr>
          <p:cNvPr id="20" name="terminal-line-cloud training-0">
            <a:extLst xmlns:a="http://schemas.openxmlformats.org/drawingml/2006/main">
              <a:ext uri="{FF2B5EF4-FFF2-40B4-BE49-F238E27FC236}">
                <a16:creationId xmlns:a16="http://schemas.microsoft.com/office/drawing/2014/main" id="{1B2BBEDE-A50E-4926-AEE2-97754697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47900"/>
            <a:ext cx="481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6ED"/>
                </a:solidFill>
              </a:defRPr>
            </a:pPr>
            <a:r>
              <a:rPr sz="1125" b="0">
                <a:solidFill>
                  <a:srgbClr val="D9E6ED"/>
                </a:solidFill>
              </a:rPr>
              <a:t>nvidia-smi</a:t>
            </a:r>
          </a:p>
        </p:txBody>
      </p:sp>
      <p:sp>
        <p:nvSpPr>
          <p:cNvPr id="21" name="terminal-line-cloud training-1">
            <a:extLst xmlns:a="http://schemas.openxmlformats.org/drawingml/2006/main">
              <a:ext uri="{FF2B5EF4-FFF2-40B4-BE49-F238E27FC236}">
                <a16:creationId xmlns:a16="http://schemas.microsoft.com/office/drawing/2014/main" id="{E2B3BE30-C3C1-4C24-A857-233AA6BA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76500"/>
            <a:ext cx="481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6ED"/>
                </a:solidFill>
              </a:defRPr>
            </a:pPr>
            <a:r>
              <a:rPr sz="1125" b="0">
                <a:solidFill>
                  <a:srgbClr val="D9E6ED"/>
                </a:solidFill>
              </a:rPr>
              <a:t>cd /root/mobilenetv2_project</a:t>
            </a:r>
          </a:p>
        </p:txBody>
      </p:sp>
      <p:sp>
        <p:nvSpPr>
          <p:cNvPr id="22" name="terminal-line-cloud training-2">
            <a:extLst xmlns:a="http://schemas.openxmlformats.org/drawingml/2006/main">
              <a:ext uri="{FF2B5EF4-FFF2-40B4-BE49-F238E27FC236}">
                <a16:creationId xmlns:a16="http://schemas.microsoft.com/office/drawing/2014/main" id="{ED99E888-69AF-40A0-8047-49FAD52C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05100"/>
            <a:ext cx="481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6ED"/>
                </a:solidFill>
              </a:defRPr>
            </a:pPr>
            <a:r>
              <a:rPr sz="1125" b="0">
                <a:solidFill>
                  <a:srgbClr val="D9E6ED"/>
                </a:solidFill>
              </a:rPr>
              <a:t>python train.py</a:t>
            </a:r>
          </a:p>
        </p:txBody>
      </p:sp>
      <p:sp>
        <p:nvSpPr>
          <p:cNvPr id="23" name="terminal-line-cloud training-3">
            <a:extLst xmlns:a="http://schemas.openxmlformats.org/drawingml/2006/main">
              <a:ext uri="{FF2B5EF4-FFF2-40B4-BE49-F238E27FC236}">
                <a16:creationId xmlns:a16="http://schemas.microsoft.com/office/drawing/2014/main" id="{0FB4D31F-D6D6-4588-A32E-2E489AC7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33700"/>
            <a:ext cx="481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6ED"/>
                </a:solidFill>
              </a:defRPr>
            </a:pPr>
            <a:r>
              <a:rPr sz="1125" b="0">
                <a:solidFill>
                  <a:srgbClr val="D9E6ED"/>
                </a:solidFill>
              </a:rPr>
              <a:t>python plot.py</a:t>
            </a:r>
          </a:p>
        </p:txBody>
      </p:sp>
      <p:sp>
        <p:nvSpPr>
          <p:cNvPr id="24" name="terminal-final evaluation">
            <a:extLst xmlns:a="http://schemas.openxmlformats.org/drawingml/2006/main">
              <a:ext uri="{FF2B5EF4-FFF2-40B4-BE49-F238E27FC236}">
                <a16:creationId xmlns:a16="http://schemas.microsoft.com/office/drawing/2014/main" id="{9CDC6674-18DC-409A-B005-F4B19163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5048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86150E-5F10-4F7E-989F-105719A7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504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8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947599-C70A-4F3A-80CD-03C7D7DB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2E4254-0886-43E3-837E-FFFA6D9E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DD181F-8384-45D3-94AB-9CB92F80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95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rminal-title-final evaluation">
            <a:extLst xmlns:a="http://schemas.openxmlformats.org/drawingml/2006/main">
              <a:ext uri="{FF2B5EF4-FFF2-40B4-BE49-F238E27FC236}">
                <a16:creationId xmlns:a16="http://schemas.microsoft.com/office/drawing/2014/main" id="{06F0BEB9-00C6-4417-A677-D9BD601B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5765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7C4CB"/>
                </a:solidFill>
              </a:defRPr>
            </a:pPr>
            <a:r>
              <a:rPr sz="975" b="0">
                <a:solidFill>
                  <a:srgbClr val="B7C4CB"/>
                </a:solidFill>
              </a:rPr>
              <a:t>final evaluation</a:t>
            </a:r>
          </a:p>
        </p:txBody>
      </p:sp>
      <p:sp>
        <p:nvSpPr>
          <p:cNvPr id="30" name="terminal-line-final evaluation-0">
            <a:extLst xmlns:a="http://schemas.openxmlformats.org/drawingml/2006/main">
              <a:ext uri="{FF2B5EF4-FFF2-40B4-BE49-F238E27FC236}">
                <a16:creationId xmlns:a16="http://schemas.microsoft.com/office/drawing/2014/main" id="{C8C0DA79-8189-4043-AAA2-6E0B2382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470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6ED"/>
                </a:solidFill>
              </a:defRPr>
            </a:pPr>
            <a:r>
              <a:rPr sz="1125" b="0">
                <a:solidFill>
                  <a:srgbClr val="D9E6ED"/>
                </a:solidFill>
              </a:rPr>
              <a:t>python evaluate.py --device cuda --batch-size 8 --data-root /root/data</a:t>
            </a:r>
          </a:p>
        </p:txBody>
      </p:sp>
      <p:sp>
        <p:nvSpPr>
          <p:cNvPr id="31" name="terminal-line-final evaluation-1">
            <a:extLst xmlns:a="http://schemas.openxmlformats.org/drawingml/2006/main">
              <a:ext uri="{FF2B5EF4-FFF2-40B4-BE49-F238E27FC236}">
                <a16:creationId xmlns:a16="http://schemas.microsoft.com/office/drawing/2014/main" id="{DC4D259B-79FA-4255-9FC9-023BA46B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470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6ED"/>
                </a:solidFill>
              </a:defRPr>
            </a:pPr>
            <a:r>
              <a:rPr sz="1125" b="0">
                <a:solidFill>
                  <a:srgbClr val="D9E6ED"/>
                </a:solidFill>
              </a:rPr>
              <a:t>检查 evaluation_results.json</a:t>
            </a:r>
          </a:p>
        </p:txBody>
      </p:sp>
      <p:sp>
        <p:nvSpPr>
          <p:cNvPr id="32" name="terminal-git delivery">
            <a:extLst xmlns:a="http://schemas.openxmlformats.org/drawingml/2006/main">
              <a:ext uri="{FF2B5EF4-FFF2-40B4-BE49-F238E27FC236}">
                <a16:creationId xmlns:a16="http://schemas.microsoft.com/office/drawing/2014/main" id="{81355367-ABF3-4C35-8C42-C7A4E0B7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00500"/>
            <a:ext cx="51625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43786D-7509-4783-BB80-FECBB307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00500"/>
            <a:ext cx="516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8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095A41-D2E1-4802-AFB1-55EBA7FD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E02578-45F2-4FA2-B832-2CCB6F59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95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C0EA30-E515-4F5C-8F42-E9B00EF8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95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erminal-title-git delivery">
            <a:extLst xmlns:a="http://schemas.openxmlformats.org/drawingml/2006/main">
              <a:ext uri="{FF2B5EF4-FFF2-40B4-BE49-F238E27FC236}">
                <a16:creationId xmlns:a16="http://schemas.microsoft.com/office/drawing/2014/main" id="{34F174CC-AD1C-4130-9C4C-03C29A44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57650"/>
            <a:ext cx="430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7C4CB"/>
                </a:solidFill>
              </a:defRPr>
            </a:pPr>
            <a:r>
              <a:rPr sz="975" b="0">
                <a:solidFill>
                  <a:srgbClr val="B7C4CB"/>
                </a:solidFill>
              </a:rPr>
              <a:t>git delivery</a:t>
            </a:r>
          </a:p>
        </p:txBody>
      </p:sp>
      <p:sp>
        <p:nvSpPr>
          <p:cNvPr id="38" name="terminal-line-git delivery-0">
            <a:extLst xmlns:a="http://schemas.openxmlformats.org/drawingml/2006/main">
              <a:ext uri="{FF2B5EF4-FFF2-40B4-BE49-F238E27FC236}">
                <a16:creationId xmlns:a16="http://schemas.microsoft.com/office/drawing/2014/main" id="{1E79046E-8889-4083-A9D3-D6CD80E0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38650"/>
            <a:ext cx="481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6ED"/>
                </a:solidFill>
              </a:defRPr>
            </a:pPr>
            <a:r>
              <a:rPr sz="1125" b="0">
                <a:solidFill>
                  <a:srgbClr val="D9E6ED"/>
                </a:solidFill>
              </a:rPr>
              <a:t>git status</a:t>
            </a:r>
          </a:p>
        </p:txBody>
      </p:sp>
      <p:sp>
        <p:nvSpPr>
          <p:cNvPr id="39" name="terminal-line-git delivery-1">
            <a:extLst xmlns:a="http://schemas.openxmlformats.org/drawingml/2006/main">
              <a:ext uri="{FF2B5EF4-FFF2-40B4-BE49-F238E27FC236}">
                <a16:creationId xmlns:a16="http://schemas.microsoft.com/office/drawing/2014/main" id="{EA87DBBE-98B8-46A7-BE13-99AEC9AD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67250"/>
            <a:ext cx="481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6ED"/>
                </a:solidFill>
              </a:defRPr>
            </a:pPr>
            <a:r>
              <a:rPr sz="1125" b="0">
                <a:solidFill>
                  <a:srgbClr val="D9E6ED"/>
                </a:solidFill>
              </a:rPr>
              <a:t>git add .</a:t>
            </a:r>
          </a:p>
        </p:txBody>
      </p:sp>
      <p:sp>
        <p:nvSpPr>
          <p:cNvPr id="40" name="terminal-line-git delivery-2">
            <a:extLst xmlns:a="http://schemas.openxmlformats.org/drawingml/2006/main">
              <a:ext uri="{FF2B5EF4-FFF2-40B4-BE49-F238E27FC236}">
                <a16:creationId xmlns:a16="http://schemas.microsoft.com/office/drawing/2014/main" id="{47C8C85C-66DC-4998-B55B-9F945681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95850"/>
            <a:ext cx="481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6ED"/>
                </a:solidFill>
              </a:defRPr>
            </a:pPr>
            <a:r>
              <a:rPr sz="1125" b="0">
                <a:solidFill>
                  <a:srgbClr val="D9E6ED"/>
                </a:solidFill>
              </a:rPr>
              <a:t>git commit -m "initial project"</a:t>
            </a:r>
          </a:p>
        </p:txBody>
      </p:sp>
      <p:sp>
        <p:nvSpPr>
          <p:cNvPr id="41" name="terminal-line-git delivery-3">
            <a:extLst xmlns:a="http://schemas.openxmlformats.org/drawingml/2006/main">
              <a:ext uri="{FF2B5EF4-FFF2-40B4-BE49-F238E27FC236}">
                <a16:creationId xmlns:a16="http://schemas.microsoft.com/office/drawing/2014/main" id="{4237F1BD-7D21-435B-981B-F0EAC96E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24450"/>
            <a:ext cx="481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6ED"/>
                </a:solidFill>
              </a:defRPr>
            </a:pPr>
            <a:r>
              <a:rPr sz="1125" b="0">
                <a:solidFill>
                  <a:srgbClr val="D9E6ED"/>
                </a:solidFill>
              </a:rPr>
              <a:t>git push -u origin main</a:t>
            </a:r>
          </a:p>
        </p:txBody>
      </p:sp>
      <p:sp>
        <p:nvSpPr>
          <p:cNvPr id="42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B87B894D-FA40-4039-AEBA-2F624C69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附录</a:t>
            </a:r>
          </a:p>
        </p:txBody>
      </p:sp>
      <p:sp>
        <p:nvSpPr>
          <p:cNvPr id="43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4A448575-0137-482B-BC97-CCFFE9A6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86525"/>
            <a:ext cx="426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项目复盘手册 · MobileNetV2 + Faster R-CNN</a:t>
            </a:r>
          </a:p>
        </p:txBody>
      </p:sp>
    </p:spTree>
    <p:extLst>
      <p:ext uri="{BB962C8B-B14F-4D97-AF65-F5344CB8AC3E}">
        <p14:creationId xmlns:p14="http://schemas.microsoft.com/office/powerpoint/2010/main" val="95017024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D2B901-C65C-42F2-B1B0-33C1F50B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26DC2D5F-4FE7-4374-9DB7-4028EAAE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E9EC"/>
                </a:solidFill>
              </a:defRPr>
            </a:pPr>
            <a:r>
              <a:rPr sz="1200" b="1">
                <a:solidFill>
                  <a:srgbClr val="8FE9EC"/>
                </a:solidFill>
              </a:rPr>
              <a:t>对话复盘附录</a:t>
            </a:r>
          </a:p>
        </p:txBody>
      </p:sp>
      <p:sp>
        <p:nvSpPr>
          <p:cNvPr id="3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BE9E170E-E732-4DB5-AC11-A393BD89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857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把“听不懂”的瞬间，变成可复用的理解方法</a:t>
            </a:r>
          </a:p>
        </p:txBody>
      </p:sp>
      <p:sp>
        <p:nvSpPr>
          <p:cNvPr id="4" name="section-subtitle">
            <a:extLst xmlns:a="http://schemas.openxmlformats.org/drawingml/2006/main">
              <a:ext uri="{FF2B5EF4-FFF2-40B4-BE49-F238E27FC236}">
                <a16:creationId xmlns:a16="http://schemas.microsoft.com/office/drawing/2014/main" id="{4F65801F-9CC0-4B04-8E9D-D4928DDD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E3E7"/>
                </a:solidFill>
              </a:defRPr>
            </a:pPr>
            <a:r>
              <a:rPr sz="1800" b="0">
                <a:solidFill>
                  <a:srgbClr val="D8E3E7"/>
                </a:solidFill>
              </a:rPr>
              <a:t>下面这些问题，都是项目推进中真实出现过的卡点。每一页只保留一个问题、一个校准、一个结论。</a:t>
            </a:r>
          </a:p>
        </p:txBody>
      </p:sp>
      <p:sp>
        <p:nvSpPr>
          <p:cNvPr id="5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8F52A3DD-EB38-4B64-88AB-6EAB9FAF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7BF"/>
                </a:solidFill>
              </a:defRPr>
            </a:pPr>
            <a:r>
              <a:rPr sz="1050" b="0">
                <a:solidFill>
                  <a:srgbClr val="A8B7BF"/>
                </a:solidFill>
              </a:rPr>
              <a:t>项目复盘手册</a:t>
            </a:r>
          </a:p>
        </p:txBody>
      </p:sp>
    </p:spTree>
    <p:extLst>
      <p:ext uri="{BB962C8B-B14F-4D97-AF65-F5344CB8AC3E}">
        <p14:creationId xmlns:p14="http://schemas.microsoft.com/office/powerpoint/2010/main" val="84668283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F1333DFF-0B51-4632-884B-586808D6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A8B0"/>
                </a:solidFill>
              </a:defRPr>
            </a:pPr>
            <a:r>
              <a:rPr sz="975" b="1">
                <a:solidFill>
                  <a:srgbClr val="12A8B0"/>
                </a:solidFill>
              </a:rPr>
              <a:t>对话复盘 · CNN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7BF7B23-257F-4D85-958A-1AFED77B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1×1 卷积是不是一道“整理工序”？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61DDDFB-5FA5-4A3A-A066-AE7734D1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978D57F-8E9E-4C38-952F-189DE2B2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286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28</a:t>
            </a:r>
          </a:p>
        </p:txBody>
      </p:sp>
      <p:sp>
        <p:nvSpPr>
          <p:cNvPr id="5" name="user-dialog">
            <a:extLst xmlns:a="http://schemas.openxmlformats.org/drawingml/2006/main">
              <a:ext uri="{FF2B5EF4-FFF2-40B4-BE49-F238E27FC236}">
                <a16:creationId xmlns:a16="http://schemas.microsoft.com/office/drawing/2014/main" id="{1EDAC3D1-71A7-4AF8-A1E1-147A2FEE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6" name="tag-用户提问">
            <a:extLst xmlns:a="http://schemas.openxmlformats.org/drawingml/2006/main">
              <a:ext uri="{FF2B5EF4-FFF2-40B4-BE49-F238E27FC236}">
                <a16:creationId xmlns:a16="http://schemas.microsoft.com/office/drawing/2014/main" id="{9BDBED37-F0D7-4F82-9854-17E91D2C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76450"/>
            <a:ext cx="990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ag-text-用户提问">
            <a:extLst xmlns:a="http://schemas.openxmlformats.org/drawingml/2006/main">
              <a:ext uri="{FF2B5EF4-FFF2-40B4-BE49-F238E27FC236}">
                <a16:creationId xmlns:a16="http://schemas.microsoft.com/office/drawing/2014/main" id="{211BA68D-4EE1-4B4B-A90B-604BB9A9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用户提问</a:t>
            </a:r>
          </a:p>
        </p:txBody>
      </p:sp>
      <p:sp>
        <p:nvSpPr>
          <p:cNvPr id="8" name="user-quote">
            <a:extLst xmlns:a="http://schemas.openxmlformats.org/drawingml/2006/main">
              <a:ext uri="{FF2B5EF4-FFF2-40B4-BE49-F238E27FC236}">
                <a16:creationId xmlns:a16="http://schemas.microsoft.com/office/drawing/2014/main" id="{366EB683-C4CD-43D0-B930-5967E7CA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“加入 1×1 后，计算量为什么反而变少？”</a:t>
            </a:r>
          </a:p>
        </p:txBody>
      </p:sp>
      <p:sp>
        <p:nvSpPr>
          <p:cNvPr id="9" name="assistant-dialog">
            <a:extLst xmlns:a="http://schemas.openxmlformats.org/drawingml/2006/main">
              <a:ext uri="{FF2B5EF4-FFF2-40B4-BE49-F238E27FC236}">
                <a16:creationId xmlns:a16="http://schemas.microsoft.com/office/drawing/2014/main" id="{6C0593F1-CE03-4B8E-B4CB-A415CF76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52959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F8"/>
          </a:solidFill>
          <a:ln xmlns:a="http://schemas.openxmlformats.org/drawingml/2006/main" w="19050">
            <a:solidFill>
              <a:srgbClr val="12A8B0"/>
            </a:solidFill>
            <a:prstDash val="solid"/>
          </a:ln>
        </p:spPr>
      </p:sp>
      <p:sp>
        <p:nvSpPr>
          <p:cNvPr id="10" name="tag-解释与校准">
            <a:extLst xmlns:a="http://schemas.openxmlformats.org/drawingml/2006/main">
              <a:ext uri="{FF2B5EF4-FFF2-40B4-BE49-F238E27FC236}">
                <a16:creationId xmlns:a16="http://schemas.microsoft.com/office/drawing/2014/main" id="{9EC77455-A6E2-4443-9DAB-CAAA03AF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76450"/>
            <a:ext cx="1104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A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g-text-解释与校准">
            <a:extLst xmlns:a="http://schemas.openxmlformats.org/drawingml/2006/main">
              <a:ext uri="{FF2B5EF4-FFF2-40B4-BE49-F238E27FC236}">
                <a16:creationId xmlns:a16="http://schemas.microsoft.com/office/drawing/2014/main" id="{DD7886C8-6C5D-44FB-BC3B-9BA2B5B8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1455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解释与校准</a:t>
            </a:r>
          </a:p>
        </p:txBody>
      </p:sp>
      <p:sp>
        <p:nvSpPr>
          <p:cNvPr id="12" name="assistant-answer">
            <a:extLst xmlns:a="http://schemas.openxmlformats.org/drawingml/2006/main">
              <a:ext uri="{FF2B5EF4-FFF2-40B4-BE49-F238E27FC236}">
                <a16:creationId xmlns:a16="http://schemas.microsoft.com/office/drawing/2014/main" id="{785BE2B4-49B1-4777-945B-B94E574A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28900"/>
            <a:ext cx="4610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它先在同一个空间位置融合并压缩通道，例如 192 → 96，再把更轻的特征交给 3×3 卷积处理。</a:t>
            </a:r>
          </a:p>
        </p:txBody>
      </p:sp>
      <p:sp>
        <p:nvSpPr>
          <p:cNvPr id="13" name="dialog-takeaway">
            <a:extLst xmlns:a="http://schemas.openxmlformats.org/drawingml/2006/main">
              <a:ext uri="{FF2B5EF4-FFF2-40B4-BE49-F238E27FC236}">
                <a16:creationId xmlns:a16="http://schemas.microsoft.com/office/drawing/2014/main" id="{670E9CDC-A5D0-45A3-A03B-14C9A52B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D42F8F-D8BA-4473-B152-ADA94BC0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A8B0"/>
                </a:solidFill>
              </a:defRPr>
            </a:pPr>
            <a:r>
              <a:rPr sz="1350" b="1">
                <a:solidFill>
                  <a:srgbClr val="12A8B0"/>
                </a:solidFill>
              </a:rPr>
              <a:t>这一问真正要记住：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85308C-BCD2-4FEA-A34E-8B361944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149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</a:defRPr>
            </a:pPr>
            <a:r>
              <a:rPr sz="1575" b="1">
                <a:solidFill>
                  <a:srgbClr val="17212B"/>
                </a:solidFill>
              </a:rPr>
              <a:t>1×1 卷积不是简单删除特征，而是低成本地“重新组合 + 瘦身”。</a:t>
            </a:r>
          </a:p>
        </p:txBody>
      </p:sp>
      <p:sp>
        <p:nvSpPr>
          <p:cNvPr id="16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01E069BC-AEE7-429A-AC9E-2C74B221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对话复盘</a:t>
            </a:r>
          </a:p>
        </p:txBody>
      </p:sp>
      <p:sp>
        <p:nvSpPr>
          <p:cNvPr id="17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89DBD56B-137A-47EC-B61D-560F678B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86525"/>
            <a:ext cx="426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项目复盘手册 · MobileNetV2 + Faster R-CNN</a:t>
            </a:r>
          </a:p>
        </p:txBody>
      </p:sp>
    </p:spTree>
    <p:extLst>
      <p:ext uri="{BB962C8B-B14F-4D97-AF65-F5344CB8AC3E}">
        <p14:creationId xmlns:p14="http://schemas.microsoft.com/office/powerpoint/2010/main" val="134449093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">
            <a:extLst xmlns:a="http://schemas.openxmlformats.org/drawingml/2006/main">
              <a:ext uri="{FF2B5EF4-FFF2-40B4-BE49-F238E27FC236}">
                <a16:creationId xmlns:a16="http://schemas.microsoft.com/office/drawing/2014/main" id="{5A16DE33-23ED-4E2E-976F-63F44BDC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A8B0"/>
                </a:solidFill>
              </a:defRPr>
            </a:pPr>
            <a:r>
              <a:rPr sz="975" b="1">
                <a:solidFill>
                  <a:srgbClr val="12A8B0"/>
                </a:solidFill>
              </a:rPr>
              <a:t>对话复盘 · CNN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D78CBB-56C7-46C4-A788-4C5ECB64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对话继续：192 个通道到底装的是什么？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3DFED4B-E490-4777-8CA5-46E316C9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7A8B53E-708B-4A2B-AEC7-469E2A09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286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E7AC71-5357-43A4-8654-F520BCBC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2B"/>
                </a:solidFill>
              </a:defRPr>
            </a:pPr>
            <a:r>
              <a:rPr sz="2100" b="1">
                <a:solidFill>
                  <a:srgbClr val="17212B"/>
                </a:solidFill>
              </a:rPr>
              <a:t>不是 192 种颜色，而是 192 张特征图。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B45BB9-D503-4ADD-BF2D-280BBE4C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F8"/>
          </a:solidFill>
          <a:ln xmlns:a="http://schemas.openxmlformats.org/drawingml/2006/main" w="19050">
            <a:solidFill>
              <a:srgbClr val="12A8B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50DB5D-D912-4F1C-AA95-7742435F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1465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A8B0"/>
                </a:solidFill>
              </a:defRPr>
            </a:pPr>
            <a:r>
              <a:rPr sz="1725" b="1">
                <a:solidFill>
                  <a:srgbClr val="12A8B0"/>
                </a:solidFill>
              </a:rPr>
              <a:t>输入图片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2BB56F-B55B-4171-BCDD-2430FA8A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RGB = 3 个颜色通道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91A984-FCCC-4058-A6D6-96C8FF8D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0861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6727D"/>
                </a:solidFill>
              </a:defRPr>
            </a:pPr>
            <a:r>
              <a:rPr sz="2550" b="1">
                <a:solidFill>
                  <a:srgbClr val="66727D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B73F47-926B-4E4B-A2BC-AD209CF5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86000"/>
            <a:ext cx="285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F"/>
          </a:solidFill>
          <a:ln xmlns:a="http://schemas.openxmlformats.org/drawingml/2006/main" w="19050">
            <a:solidFill>
              <a:srgbClr val="2D6C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7DC59-74A2-4752-AC6C-B7685BD0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2890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6CDF"/>
                </a:solidFill>
              </a:defRPr>
            </a:pPr>
            <a:r>
              <a:rPr sz="1725" b="1">
                <a:solidFill>
                  <a:srgbClr val="2D6CDF"/>
                </a:solidFill>
              </a:rPr>
              <a:t>中间层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C7FF18-4D45-4C7E-80D1-099E5EE7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43250"/>
            <a:ext cx="2247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64 / 128 / 192 张特征图</a:t>
            </a:r>
          </a:p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边缘、纹理、形状组合……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BEE49A-EEC0-48CC-BE10-0FD7ABC6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861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6727D"/>
                </a:solidFill>
              </a:defRPr>
            </a:pPr>
            <a:r>
              <a:rPr sz="2550" b="1">
                <a:solidFill>
                  <a:srgbClr val="66727D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C3A5DC-BC1A-452C-A42A-ADC621AD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7175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19050">
            <a:solidFill>
              <a:srgbClr val="F9731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C0D314-DA1E-442F-9006-E04AD01E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97316"/>
                </a:solidFill>
              </a:defRPr>
            </a:pPr>
            <a:r>
              <a:rPr sz="1725" b="1">
                <a:solidFill>
                  <a:srgbClr val="F97316"/>
                </a:solidFill>
              </a:rPr>
              <a:t>深层语义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26A566-5DBB-455B-A9B0-F5AB7EB7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9090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局部零件 → 物体概念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B7E9DA-8530-44E0-8112-D0829C5A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quote">
            <a:extLst xmlns:a="http://schemas.openxmlformats.org/drawingml/2006/main">
              <a:ext uri="{FF2B5EF4-FFF2-40B4-BE49-F238E27FC236}">
                <a16:creationId xmlns:a16="http://schemas.microsoft.com/office/drawing/2014/main" id="{CB846D8F-3132-457E-8B21-35FA7A17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00625"/>
            <a:ext cx="10267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</a:defRPr>
            </a:pPr>
            <a:r>
              <a:rPr sz="1725" b="1">
                <a:solidFill>
                  <a:srgbClr val="17212B"/>
                </a:solidFill>
              </a:rPr>
              <a:t>通道数越多，表示模型保留的“观察维度”越丰富；但计算量和显存也会一起增加。</a:t>
            </a:r>
          </a:p>
        </p:txBody>
      </p:sp>
      <p:sp>
        <p:nvSpPr>
          <p:cNvPr id="19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4CEAD736-30E0-407A-B850-DF7FEA6F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对话复盘</a:t>
            </a:r>
          </a:p>
        </p:txBody>
      </p:sp>
      <p:sp>
        <p:nvSpPr>
          <p:cNvPr id="20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ED509916-0850-4864-B7AF-51C94772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86525"/>
            <a:ext cx="426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项目复盘手册 · MobileNetV2 + Faster R-CNN</a:t>
            </a:r>
          </a:p>
        </p:txBody>
      </p:sp>
    </p:spTree>
    <p:extLst>
      <p:ext uri="{BB962C8B-B14F-4D97-AF65-F5344CB8AC3E}">
        <p14:creationId xmlns:p14="http://schemas.microsoft.com/office/powerpoint/2010/main" val="34475390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833F1EB9-04C8-4181-B0D5-B6999CD2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A8B0"/>
                </a:solidFill>
              </a:defRPr>
            </a:pPr>
            <a:r>
              <a:rPr sz="975" b="1">
                <a:solidFill>
                  <a:srgbClr val="12A8B0"/>
                </a:solidFill>
              </a:rPr>
              <a:t>对话复盘 · RESNET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5BD62A2-DA14-44D8-94B7-54D96C21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网络退化是不是“传递中的噪音太大”？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8B21CFE-25FE-450E-B4E0-36FBBCB7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D71583B-3CC7-48A5-9FDE-CB90E62B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286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30</a:t>
            </a:r>
          </a:p>
        </p:txBody>
      </p:sp>
      <p:sp>
        <p:nvSpPr>
          <p:cNvPr id="5" name="user-dialog">
            <a:extLst xmlns:a="http://schemas.openxmlformats.org/drawingml/2006/main">
              <a:ext uri="{FF2B5EF4-FFF2-40B4-BE49-F238E27FC236}">
                <a16:creationId xmlns:a16="http://schemas.microsoft.com/office/drawing/2014/main" id="{DC7C21BE-DA7D-4365-8318-A839CDCF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6" name="tag-用户提问">
            <a:extLst xmlns:a="http://schemas.openxmlformats.org/drawingml/2006/main">
              <a:ext uri="{FF2B5EF4-FFF2-40B4-BE49-F238E27FC236}">
                <a16:creationId xmlns:a16="http://schemas.microsoft.com/office/drawing/2014/main" id="{EF2D43F0-A198-4E84-8B01-E0828136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76450"/>
            <a:ext cx="990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ag-text-用户提问">
            <a:extLst xmlns:a="http://schemas.openxmlformats.org/drawingml/2006/main">
              <a:ext uri="{FF2B5EF4-FFF2-40B4-BE49-F238E27FC236}">
                <a16:creationId xmlns:a16="http://schemas.microsoft.com/office/drawing/2014/main" id="{573972EC-5032-4846-8F1F-E555B51A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用户提问</a:t>
            </a:r>
          </a:p>
        </p:txBody>
      </p:sp>
      <p:sp>
        <p:nvSpPr>
          <p:cNvPr id="8" name="user-quote">
            <a:extLst xmlns:a="http://schemas.openxmlformats.org/drawingml/2006/main">
              <a:ext uri="{FF2B5EF4-FFF2-40B4-BE49-F238E27FC236}">
                <a16:creationId xmlns:a16="http://schemas.microsoft.com/office/drawing/2014/main" id="{1B595136-EB4D-458D-8F84-42C75C1F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“56 层比 20 层还差，是不是因为噪音一路累积？”</a:t>
            </a:r>
          </a:p>
        </p:txBody>
      </p:sp>
      <p:sp>
        <p:nvSpPr>
          <p:cNvPr id="9" name="assistant-dialog">
            <a:extLst xmlns:a="http://schemas.openxmlformats.org/drawingml/2006/main">
              <a:ext uri="{FF2B5EF4-FFF2-40B4-BE49-F238E27FC236}">
                <a16:creationId xmlns:a16="http://schemas.microsoft.com/office/drawing/2014/main" id="{69253CB5-849D-49B6-9E61-8AFA59D2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52959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19050">
            <a:solidFill>
              <a:srgbClr val="F97316"/>
            </a:solidFill>
            <a:prstDash val="solid"/>
          </a:ln>
        </p:spPr>
      </p:sp>
      <p:sp>
        <p:nvSpPr>
          <p:cNvPr id="10" name="tag-解释与校准">
            <a:extLst xmlns:a="http://schemas.openxmlformats.org/drawingml/2006/main">
              <a:ext uri="{FF2B5EF4-FFF2-40B4-BE49-F238E27FC236}">
                <a16:creationId xmlns:a16="http://schemas.microsoft.com/office/drawing/2014/main" id="{81408752-5A88-40B5-ADC8-61241117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76450"/>
            <a:ext cx="1104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g-text-解释与校准">
            <a:extLst xmlns:a="http://schemas.openxmlformats.org/drawingml/2006/main">
              <a:ext uri="{FF2B5EF4-FFF2-40B4-BE49-F238E27FC236}">
                <a16:creationId xmlns:a16="http://schemas.microsoft.com/office/drawing/2014/main" id="{5603C0A4-0C0D-4829-8803-14584282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1455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解释与校准</a:t>
            </a:r>
          </a:p>
        </p:txBody>
      </p:sp>
      <p:sp>
        <p:nvSpPr>
          <p:cNvPr id="12" name="assistant-answer">
            <a:extLst xmlns:a="http://schemas.openxmlformats.org/drawingml/2006/main">
              <a:ext uri="{FF2B5EF4-FFF2-40B4-BE49-F238E27FC236}">
                <a16:creationId xmlns:a16="http://schemas.microsoft.com/office/drawing/2014/main" id="{F2351203-5905-4FDE-AA01-DF4DD686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28900"/>
            <a:ext cx="4610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不完全是。更核心的是普通深层网络更难优化：梯度传播困难，新增层也不容易学成“什么都不改”。</a:t>
            </a:r>
          </a:p>
        </p:txBody>
      </p:sp>
      <p:sp>
        <p:nvSpPr>
          <p:cNvPr id="13" name="dialog-takeaway">
            <a:extLst xmlns:a="http://schemas.openxmlformats.org/drawingml/2006/main">
              <a:ext uri="{FF2B5EF4-FFF2-40B4-BE49-F238E27FC236}">
                <a16:creationId xmlns:a16="http://schemas.microsoft.com/office/drawing/2014/main" id="{5B1CF2E6-0E85-41D5-8D89-452E5E75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32C4B8-1B41-498F-917A-BEEEE95F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97316"/>
                </a:solidFill>
              </a:defRPr>
            </a:pPr>
            <a:r>
              <a:rPr sz="1350" b="1">
                <a:solidFill>
                  <a:srgbClr val="F97316"/>
                </a:solidFill>
              </a:rPr>
              <a:t>这一问真正要记住：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17728D-FC4F-4149-BD39-9E540EDC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149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</a:defRPr>
            </a:pPr>
            <a:r>
              <a:rPr sz="1575" b="1">
                <a:solidFill>
                  <a:srgbClr val="17212B"/>
                </a:solidFill>
              </a:rPr>
              <a:t>网络退化首先是优化问题，不要和过拟合混为一谈。</a:t>
            </a:r>
          </a:p>
        </p:txBody>
      </p:sp>
      <p:sp>
        <p:nvSpPr>
          <p:cNvPr id="16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1DF03AEE-1F70-4F04-A2B0-E3CB88C1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对话复盘</a:t>
            </a:r>
          </a:p>
        </p:txBody>
      </p:sp>
      <p:sp>
        <p:nvSpPr>
          <p:cNvPr id="17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DD4BCC1C-F24F-44FB-BC66-C5AFD5DC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86525"/>
            <a:ext cx="426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项目复盘手册 · MobileNetV2 + Faster R-CNN</a:t>
            </a:r>
          </a:p>
        </p:txBody>
      </p:sp>
    </p:spTree>
    <p:extLst>
      <p:ext uri="{BB962C8B-B14F-4D97-AF65-F5344CB8AC3E}">
        <p14:creationId xmlns:p14="http://schemas.microsoft.com/office/powerpoint/2010/main" val="169143379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151E7BC6-4600-428F-8445-4270AE1A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A8B0"/>
                </a:solidFill>
              </a:defRPr>
            </a:pPr>
            <a:r>
              <a:rPr sz="975" b="1">
                <a:solidFill>
                  <a:srgbClr val="12A8B0"/>
                </a:solidFill>
              </a:rPr>
              <a:t>对话复盘 · 模型成本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236BD1-F631-4C86-8B06-0893640A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参数量和计算量，是不是一回事？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7FE6016-B491-47B9-9B61-CC2B05B8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8E76C0A-5A4B-4706-9676-8D373D30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286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31</a:t>
            </a:r>
          </a:p>
        </p:txBody>
      </p:sp>
      <p:sp>
        <p:nvSpPr>
          <p:cNvPr id="5" name="user-dialog">
            <a:extLst xmlns:a="http://schemas.openxmlformats.org/drawingml/2006/main">
              <a:ext uri="{FF2B5EF4-FFF2-40B4-BE49-F238E27FC236}">
                <a16:creationId xmlns:a16="http://schemas.microsoft.com/office/drawing/2014/main" id="{E8D78CEC-220D-44F1-BABF-B7BE11CF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6" name="tag-用户提问">
            <a:extLst xmlns:a="http://schemas.openxmlformats.org/drawingml/2006/main">
              <a:ext uri="{FF2B5EF4-FFF2-40B4-BE49-F238E27FC236}">
                <a16:creationId xmlns:a16="http://schemas.microsoft.com/office/drawing/2014/main" id="{39745083-5C84-4E62-A84A-216739B6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76450"/>
            <a:ext cx="990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ag-text-用户提问">
            <a:extLst xmlns:a="http://schemas.openxmlformats.org/drawingml/2006/main">
              <a:ext uri="{FF2B5EF4-FFF2-40B4-BE49-F238E27FC236}">
                <a16:creationId xmlns:a16="http://schemas.microsoft.com/office/drawing/2014/main" id="{161EA7F6-AACB-4431-8B18-ED5EC8E8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用户提问</a:t>
            </a:r>
          </a:p>
        </p:txBody>
      </p:sp>
      <p:sp>
        <p:nvSpPr>
          <p:cNvPr id="8" name="user-quote">
            <a:extLst xmlns:a="http://schemas.openxmlformats.org/drawingml/2006/main">
              <a:ext uri="{FF2B5EF4-FFF2-40B4-BE49-F238E27FC236}">
                <a16:creationId xmlns:a16="http://schemas.microsoft.com/office/drawing/2014/main" id="{6F9AB712-C0E9-4342-A979-BAB419DD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“参数少了，运行时间就一定按比例变短吗？”</a:t>
            </a:r>
          </a:p>
        </p:txBody>
      </p:sp>
      <p:sp>
        <p:nvSpPr>
          <p:cNvPr id="9" name="assistant-dialog">
            <a:extLst xmlns:a="http://schemas.openxmlformats.org/drawingml/2006/main">
              <a:ext uri="{FF2B5EF4-FFF2-40B4-BE49-F238E27FC236}">
                <a16:creationId xmlns:a16="http://schemas.microsoft.com/office/drawing/2014/main" id="{E2C57CEC-1CED-4229-AE3B-5D76257C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52959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F8"/>
          </a:solidFill>
          <a:ln xmlns:a="http://schemas.openxmlformats.org/drawingml/2006/main" w="19050">
            <a:solidFill>
              <a:srgbClr val="2D6CDF"/>
            </a:solidFill>
            <a:prstDash val="solid"/>
          </a:ln>
        </p:spPr>
      </p:sp>
      <p:sp>
        <p:nvSpPr>
          <p:cNvPr id="10" name="tag-解释与校准">
            <a:extLst xmlns:a="http://schemas.openxmlformats.org/drawingml/2006/main">
              <a:ext uri="{FF2B5EF4-FFF2-40B4-BE49-F238E27FC236}">
                <a16:creationId xmlns:a16="http://schemas.microsoft.com/office/drawing/2014/main" id="{BBCA2518-8DBF-4418-83B7-C94A376F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76450"/>
            <a:ext cx="1104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D6C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g-text-解释与校准">
            <a:extLst xmlns:a="http://schemas.openxmlformats.org/drawingml/2006/main">
              <a:ext uri="{FF2B5EF4-FFF2-40B4-BE49-F238E27FC236}">
                <a16:creationId xmlns:a16="http://schemas.microsoft.com/office/drawing/2014/main" id="{58BB60FA-965F-45DD-8181-DDAEBA76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1455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解释与校准</a:t>
            </a:r>
          </a:p>
        </p:txBody>
      </p:sp>
      <p:sp>
        <p:nvSpPr>
          <p:cNvPr id="12" name="assistant-answer">
            <a:extLst xmlns:a="http://schemas.openxmlformats.org/drawingml/2006/main">
              <a:ext uri="{FF2B5EF4-FFF2-40B4-BE49-F238E27FC236}">
                <a16:creationId xmlns:a16="http://schemas.microsoft.com/office/drawing/2014/main" id="{38F386DB-0FB8-4D6C-B403-4E21B29E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28900"/>
            <a:ext cx="4610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参数量是模型里有多少个可训练数字；计算量是处理一次输入要执行多少次操作。硬件、内存读写和并行效率都会影响实际耗时。</a:t>
            </a:r>
          </a:p>
        </p:txBody>
      </p:sp>
      <p:sp>
        <p:nvSpPr>
          <p:cNvPr id="13" name="dialog-takeaway">
            <a:extLst xmlns:a="http://schemas.openxmlformats.org/drawingml/2006/main">
              <a:ext uri="{FF2B5EF4-FFF2-40B4-BE49-F238E27FC236}">
                <a16:creationId xmlns:a16="http://schemas.microsoft.com/office/drawing/2014/main" id="{EB2E916E-4AD6-445D-870A-6B0EB005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B8DE43-29C7-4500-975F-9B7B53FC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6CDF"/>
                </a:solidFill>
              </a:defRPr>
            </a:pPr>
            <a:r>
              <a:rPr sz="1350" b="1">
                <a:solidFill>
                  <a:srgbClr val="2D6CDF"/>
                </a:solidFill>
              </a:rPr>
              <a:t>这一问真正要记住：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E7F3DA-EE13-49E5-9E3F-66515D86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149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</a:defRPr>
            </a:pPr>
            <a:r>
              <a:rPr sz="1575" b="1">
                <a:solidFill>
                  <a:srgbClr val="17212B"/>
                </a:solidFill>
              </a:rPr>
              <a:t>参数量像“规则数量”，计算量像“规则被重复执行多少次”。</a:t>
            </a:r>
          </a:p>
        </p:txBody>
      </p:sp>
      <p:sp>
        <p:nvSpPr>
          <p:cNvPr id="16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2A5A30BA-D93A-43F2-BB1A-CA95A2F8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对话复盘</a:t>
            </a:r>
          </a:p>
        </p:txBody>
      </p:sp>
      <p:sp>
        <p:nvSpPr>
          <p:cNvPr id="17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E608DD01-5D03-4836-B70C-8CA6499B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86525"/>
            <a:ext cx="426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项目复盘手册 · MobileNetV2 + Faster R-CNN</a:t>
            </a:r>
          </a:p>
        </p:txBody>
      </p:sp>
    </p:spTree>
    <p:extLst>
      <p:ext uri="{BB962C8B-B14F-4D97-AF65-F5344CB8AC3E}">
        <p14:creationId xmlns:p14="http://schemas.microsoft.com/office/powerpoint/2010/main" val="58788010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E9940663-7F4C-485A-BCBC-E8E8E9C3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A8B0"/>
                </a:solidFill>
              </a:defRPr>
            </a:pPr>
            <a:r>
              <a:rPr sz="975" b="1">
                <a:solidFill>
                  <a:srgbClr val="12A8B0"/>
                </a:solidFill>
              </a:rPr>
              <a:t>对话复盘 · 概念边界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3C9B402-8105-4A81-BD6E-8DA07638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CNN 和图像分类，谁是任务谁是工具？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84F30FE5-1B66-48A4-930C-449F0213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322747D-6404-4109-A6A8-02A88A99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286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32</a:t>
            </a:r>
          </a:p>
        </p:txBody>
      </p:sp>
      <p:sp>
        <p:nvSpPr>
          <p:cNvPr id="5" name="user-dialog">
            <a:extLst xmlns:a="http://schemas.openxmlformats.org/drawingml/2006/main">
              <a:ext uri="{FF2B5EF4-FFF2-40B4-BE49-F238E27FC236}">
                <a16:creationId xmlns:a16="http://schemas.microsoft.com/office/drawing/2014/main" id="{CEF65640-8EB1-4707-8DFF-3D8E3A50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6" name="tag-用户提问">
            <a:extLst xmlns:a="http://schemas.openxmlformats.org/drawingml/2006/main">
              <a:ext uri="{FF2B5EF4-FFF2-40B4-BE49-F238E27FC236}">
                <a16:creationId xmlns:a16="http://schemas.microsoft.com/office/drawing/2014/main" id="{57BCE402-B0FF-4C7B-8697-AB01CBA5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76450"/>
            <a:ext cx="990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ag-text-用户提问">
            <a:extLst xmlns:a="http://schemas.openxmlformats.org/drawingml/2006/main">
              <a:ext uri="{FF2B5EF4-FFF2-40B4-BE49-F238E27FC236}">
                <a16:creationId xmlns:a16="http://schemas.microsoft.com/office/drawing/2014/main" id="{E236A15B-F0CB-4037-9126-0E2EEED7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用户提问</a:t>
            </a:r>
          </a:p>
        </p:txBody>
      </p:sp>
      <p:sp>
        <p:nvSpPr>
          <p:cNvPr id="8" name="user-quote">
            <a:extLst xmlns:a="http://schemas.openxmlformats.org/drawingml/2006/main">
              <a:ext uri="{FF2B5EF4-FFF2-40B4-BE49-F238E27FC236}">
                <a16:creationId xmlns:a16="http://schemas.microsoft.com/office/drawing/2014/main" id="{09E991C8-BD40-408E-9D43-A376CB38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“CNN 是不是就是图像分类？”</a:t>
            </a:r>
          </a:p>
        </p:txBody>
      </p:sp>
      <p:sp>
        <p:nvSpPr>
          <p:cNvPr id="9" name="assistant-dialog">
            <a:extLst xmlns:a="http://schemas.openxmlformats.org/drawingml/2006/main">
              <a:ext uri="{FF2B5EF4-FFF2-40B4-BE49-F238E27FC236}">
                <a16:creationId xmlns:a16="http://schemas.microsoft.com/office/drawing/2014/main" id="{A64EB5E7-3C0E-4E8B-8094-22D4A520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52959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F8"/>
          </a:solidFill>
          <a:ln xmlns:a="http://schemas.openxmlformats.org/drawingml/2006/main" w="19050">
            <a:solidFill>
              <a:srgbClr val="12A8B0"/>
            </a:solidFill>
            <a:prstDash val="solid"/>
          </a:ln>
        </p:spPr>
      </p:sp>
      <p:sp>
        <p:nvSpPr>
          <p:cNvPr id="10" name="tag-解释与校准">
            <a:extLst xmlns:a="http://schemas.openxmlformats.org/drawingml/2006/main">
              <a:ext uri="{FF2B5EF4-FFF2-40B4-BE49-F238E27FC236}">
                <a16:creationId xmlns:a16="http://schemas.microsoft.com/office/drawing/2014/main" id="{3F36D65C-5109-4383-B9F5-C79D7C96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76450"/>
            <a:ext cx="1104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A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g-text-解释与校准">
            <a:extLst xmlns:a="http://schemas.openxmlformats.org/drawingml/2006/main">
              <a:ext uri="{FF2B5EF4-FFF2-40B4-BE49-F238E27FC236}">
                <a16:creationId xmlns:a16="http://schemas.microsoft.com/office/drawing/2014/main" id="{A76FC61D-FE10-46C8-83E7-CB75E755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1455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解释与校准</a:t>
            </a:r>
          </a:p>
        </p:txBody>
      </p:sp>
      <p:sp>
        <p:nvSpPr>
          <p:cNvPr id="12" name="assistant-answer">
            <a:extLst xmlns:a="http://schemas.openxmlformats.org/drawingml/2006/main">
              <a:ext uri="{FF2B5EF4-FFF2-40B4-BE49-F238E27FC236}">
                <a16:creationId xmlns:a16="http://schemas.microsoft.com/office/drawing/2014/main" id="{8CFB8FE1-4767-4470-8B21-A4E3DB11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28900"/>
            <a:ext cx="4610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图像分类是任务：判断整张图属于什么类别；CNN 是模型结构：可以用来提取图像特征，也能服务于检测、分割等任务。</a:t>
            </a:r>
          </a:p>
        </p:txBody>
      </p:sp>
      <p:sp>
        <p:nvSpPr>
          <p:cNvPr id="13" name="dialog-takeaway">
            <a:extLst xmlns:a="http://schemas.openxmlformats.org/drawingml/2006/main">
              <a:ext uri="{FF2B5EF4-FFF2-40B4-BE49-F238E27FC236}">
                <a16:creationId xmlns:a16="http://schemas.microsoft.com/office/drawing/2014/main" id="{6CE5C6E0-BBD2-4A93-8B1D-271EC880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772A42-3023-42CA-823F-0DCC7D3D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A8B0"/>
                </a:solidFill>
              </a:defRPr>
            </a:pPr>
            <a:r>
              <a:rPr sz="1350" b="1">
                <a:solidFill>
                  <a:srgbClr val="12A8B0"/>
                </a:solidFill>
              </a:rPr>
              <a:t>这一问真正要记住：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729D62-A310-443F-ACAA-211C13C5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149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</a:defRPr>
            </a:pPr>
            <a:r>
              <a:rPr sz="1575" b="1">
                <a:solidFill>
                  <a:srgbClr val="17212B"/>
                </a:solidFill>
              </a:rPr>
              <a:t>不要把任务、模型、数据格式、评估指标混成同一个概念。</a:t>
            </a:r>
          </a:p>
        </p:txBody>
      </p:sp>
      <p:sp>
        <p:nvSpPr>
          <p:cNvPr id="16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94C1349D-D1D8-4160-B767-6F99807F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对话复盘</a:t>
            </a:r>
          </a:p>
        </p:txBody>
      </p:sp>
      <p:sp>
        <p:nvSpPr>
          <p:cNvPr id="17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B8783CBA-9E74-4753-9F8A-13DDC944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86525"/>
            <a:ext cx="426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项目复盘手册 · MobileNetV2 + Faster R-CNN</a:t>
            </a:r>
          </a:p>
        </p:txBody>
      </p:sp>
    </p:spTree>
    <p:extLst>
      <p:ext uri="{BB962C8B-B14F-4D97-AF65-F5344CB8AC3E}">
        <p14:creationId xmlns:p14="http://schemas.microsoft.com/office/powerpoint/2010/main" val="191112945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AB7F20C0-F8BE-44D8-9BB7-F8EE4CED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A8B0"/>
                </a:solidFill>
              </a:defRPr>
            </a:pPr>
            <a:r>
              <a:rPr sz="975" b="1">
                <a:solidFill>
                  <a:srgbClr val="12A8B0"/>
                </a:solidFill>
              </a:rPr>
              <a:t>对话复盘 · 目标检测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EAE4EC-65B9-4036-8BD8-18CED12F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R-CNN 是不是“力大砖飞”？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7D74DC5-34FD-41FE-A865-B1010F13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C931956-D868-4AAE-87DA-C4430032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286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33</a:t>
            </a:r>
          </a:p>
        </p:txBody>
      </p:sp>
      <p:sp>
        <p:nvSpPr>
          <p:cNvPr id="5" name="user-dialog">
            <a:extLst xmlns:a="http://schemas.openxmlformats.org/drawingml/2006/main">
              <a:ext uri="{FF2B5EF4-FFF2-40B4-BE49-F238E27FC236}">
                <a16:creationId xmlns:a16="http://schemas.microsoft.com/office/drawing/2014/main" id="{840FB1C8-6519-40C6-8E1E-B7801DE0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6" name="tag-用户提问">
            <a:extLst xmlns:a="http://schemas.openxmlformats.org/drawingml/2006/main">
              <a:ext uri="{FF2B5EF4-FFF2-40B4-BE49-F238E27FC236}">
                <a16:creationId xmlns:a16="http://schemas.microsoft.com/office/drawing/2014/main" id="{016E59A0-B019-4B11-A9C2-5B9F3EC2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76450"/>
            <a:ext cx="990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ag-text-用户提问">
            <a:extLst xmlns:a="http://schemas.openxmlformats.org/drawingml/2006/main">
              <a:ext uri="{FF2B5EF4-FFF2-40B4-BE49-F238E27FC236}">
                <a16:creationId xmlns:a16="http://schemas.microsoft.com/office/drawing/2014/main" id="{751DFAED-50FD-43CA-8596-FFA641FA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用户提问</a:t>
            </a:r>
          </a:p>
        </p:txBody>
      </p:sp>
      <p:sp>
        <p:nvSpPr>
          <p:cNvPr id="8" name="user-quote">
            <a:extLst xmlns:a="http://schemas.openxmlformats.org/drawingml/2006/main">
              <a:ext uri="{FF2B5EF4-FFF2-40B4-BE49-F238E27FC236}">
                <a16:creationId xmlns:a16="http://schemas.microsoft.com/office/drawing/2014/main" id="{E1075853-356D-430A-B301-7D8614A5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“一张图 2000 个候选区域，不就是穷举吗？”</a:t>
            </a:r>
          </a:p>
        </p:txBody>
      </p:sp>
      <p:sp>
        <p:nvSpPr>
          <p:cNvPr id="9" name="assistant-dialog">
            <a:extLst xmlns:a="http://schemas.openxmlformats.org/drawingml/2006/main">
              <a:ext uri="{FF2B5EF4-FFF2-40B4-BE49-F238E27FC236}">
                <a16:creationId xmlns:a16="http://schemas.microsoft.com/office/drawing/2014/main" id="{157BC2F1-D6BC-4AB9-A0AE-E16C9151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52959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F8"/>
          </a:solidFill>
          <a:ln xmlns:a="http://schemas.openxmlformats.org/drawingml/2006/main" w="19050">
            <a:solidFill>
              <a:srgbClr val="D64545"/>
            </a:solidFill>
            <a:prstDash val="solid"/>
          </a:ln>
        </p:spPr>
      </p:sp>
      <p:sp>
        <p:nvSpPr>
          <p:cNvPr id="10" name="tag-解释与校准">
            <a:extLst xmlns:a="http://schemas.openxmlformats.org/drawingml/2006/main">
              <a:ext uri="{FF2B5EF4-FFF2-40B4-BE49-F238E27FC236}">
                <a16:creationId xmlns:a16="http://schemas.microsoft.com/office/drawing/2014/main" id="{79A2474C-91BB-41C8-B856-965C04E1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76450"/>
            <a:ext cx="1104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g-text-解释与校准">
            <a:extLst xmlns:a="http://schemas.openxmlformats.org/drawingml/2006/main">
              <a:ext uri="{FF2B5EF4-FFF2-40B4-BE49-F238E27FC236}">
                <a16:creationId xmlns:a16="http://schemas.microsoft.com/office/drawing/2014/main" id="{026E0EF8-0C29-4D0A-B968-44741395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1455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解释与校准</a:t>
            </a:r>
          </a:p>
        </p:txBody>
      </p:sp>
      <p:sp>
        <p:nvSpPr>
          <p:cNvPr id="12" name="assistant-answer">
            <a:extLst xmlns:a="http://schemas.openxmlformats.org/drawingml/2006/main">
              <a:ext uri="{FF2B5EF4-FFF2-40B4-BE49-F238E27FC236}">
                <a16:creationId xmlns:a16="http://schemas.microsoft.com/office/drawing/2014/main" id="{FC7FC6A2-BA1A-492A-A521-965DC43C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28900"/>
            <a:ext cx="4610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这个判断抓住了 R-CNN 的主要缺点：候选框多、重复计算严重。它的历史价值在于证明 CNN 能同时用于“识别 + 定位”，后续 Fast/Faster R-CNN 都是在减少重复劳动。</a:t>
            </a:r>
          </a:p>
        </p:txBody>
      </p:sp>
      <p:sp>
        <p:nvSpPr>
          <p:cNvPr id="13" name="dialog-takeaway">
            <a:extLst xmlns:a="http://schemas.openxmlformats.org/drawingml/2006/main">
              <a:ext uri="{FF2B5EF4-FFF2-40B4-BE49-F238E27FC236}">
                <a16:creationId xmlns:a16="http://schemas.microsoft.com/office/drawing/2014/main" id="{9A115A6B-9F91-41FD-A796-8A37893B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5146B9-B581-4D15-9720-8962724B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4545"/>
                </a:solidFill>
              </a:defRPr>
            </a:pPr>
            <a:r>
              <a:rPr sz="1350" b="1">
                <a:solidFill>
                  <a:srgbClr val="D64545"/>
                </a:solidFill>
              </a:rPr>
              <a:t>这一问真正要记住：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D30008-8E82-403D-AF45-9084B403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149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</a:defRPr>
            </a:pPr>
            <a:r>
              <a:rPr sz="1575" b="1">
                <a:solidFill>
                  <a:srgbClr val="17212B"/>
                </a:solidFill>
              </a:rPr>
              <a:t>把一个旧模型放进“它解决了什么、又留下什么问题”的进化链里理解。</a:t>
            </a:r>
          </a:p>
        </p:txBody>
      </p:sp>
      <p:sp>
        <p:nvSpPr>
          <p:cNvPr id="16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A705B5BA-8128-4262-8B45-C8CA5BB8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对话复盘</a:t>
            </a:r>
          </a:p>
        </p:txBody>
      </p:sp>
      <p:sp>
        <p:nvSpPr>
          <p:cNvPr id="17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C7ABD3C3-AE98-423B-82FD-A96D51FF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86525"/>
            <a:ext cx="426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项目复盘手册 · MobileNetV2 + Faster R-CNN</a:t>
            </a:r>
          </a:p>
        </p:txBody>
      </p:sp>
    </p:spTree>
    <p:extLst>
      <p:ext uri="{BB962C8B-B14F-4D97-AF65-F5344CB8AC3E}">
        <p14:creationId xmlns:p14="http://schemas.microsoft.com/office/powerpoint/2010/main" val="39430439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5A808354-BD91-4E30-9BB9-194F6910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A8B0"/>
                </a:solidFill>
              </a:defRPr>
            </a:pPr>
            <a:r>
              <a:rPr sz="975" b="1">
                <a:solidFill>
                  <a:srgbClr val="12A8B0"/>
                </a:solidFill>
              </a:rPr>
              <a:t>对话复盘 · 代码阅读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C0C124-3DDB-4A52-A4E9-893DA181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demo_main 需要逐行完全理解吗？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339131D-1E4E-43DE-ABD0-BA2C5BF1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467C0BC-ACE4-45FC-A898-050D833D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286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34</a:t>
            </a:r>
          </a:p>
        </p:txBody>
      </p:sp>
      <p:sp>
        <p:nvSpPr>
          <p:cNvPr id="5" name="user-dialog">
            <a:extLst xmlns:a="http://schemas.openxmlformats.org/drawingml/2006/main">
              <a:ext uri="{FF2B5EF4-FFF2-40B4-BE49-F238E27FC236}">
                <a16:creationId xmlns:a16="http://schemas.microsoft.com/office/drawing/2014/main" id="{5AF29935-8B4D-499E-8C88-D9DE2C60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6" name="tag-用户提问">
            <a:extLst xmlns:a="http://schemas.openxmlformats.org/drawingml/2006/main">
              <a:ext uri="{FF2B5EF4-FFF2-40B4-BE49-F238E27FC236}">
                <a16:creationId xmlns:a16="http://schemas.microsoft.com/office/drawing/2014/main" id="{CF4E6B4E-4360-4E8A-A156-37A1FB07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76450"/>
            <a:ext cx="990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ag-text-用户提问">
            <a:extLst xmlns:a="http://schemas.openxmlformats.org/drawingml/2006/main">
              <a:ext uri="{FF2B5EF4-FFF2-40B4-BE49-F238E27FC236}">
                <a16:creationId xmlns:a16="http://schemas.microsoft.com/office/drawing/2014/main" id="{DF33DFFD-AF41-4CBB-A97E-89B8536E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用户提问</a:t>
            </a:r>
          </a:p>
        </p:txBody>
      </p:sp>
      <p:sp>
        <p:nvSpPr>
          <p:cNvPr id="8" name="user-quote">
            <a:extLst xmlns:a="http://schemas.openxmlformats.org/drawingml/2006/main">
              <a:ext uri="{FF2B5EF4-FFF2-40B4-BE49-F238E27FC236}">
                <a16:creationId xmlns:a16="http://schemas.microsoft.com/office/drawing/2014/main" id="{F049C2D1-D66B-4636-9AC5-C3182615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“这段预处理、checkpoint、Tensor 代码太长了，必须全部啃下来吗？”</a:t>
            </a:r>
          </a:p>
        </p:txBody>
      </p:sp>
      <p:sp>
        <p:nvSpPr>
          <p:cNvPr id="9" name="assistant-dialog">
            <a:extLst xmlns:a="http://schemas.openxmlformats.org/drawingml/2006/main">
              <a:ext uri="{FF2B5EF4-FFF2-40B4-BE49-F238E27FC236}">
                <a16:creationId xmlns:a16="http://schemas.microsoft.com/office/drawing/2014/main" id="{DE523CBD-932C-4439-AE48-2C028798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52959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F8"/>
          </a:solidFill>
          <a:ln xmlns:a="http://schemas.openxmlformats.org/drawingml/2006/main" w="19050">
            <a:solidFill>
              <a:srgbClr val="2F855A"/>
            </a:solidFill>
            <a:prstDash val="solid"/>
          </a:ln>
        </p:spPr>
      </p:sp>
      <p:sp>
        <p:nvSpPr>
          <p:cNvPr id="10" name="tag-解释与校准">
            <a:extLst xmlns:a="http://schemas.openxmlformats.org/drawingml/2006/main">
              <a:ext uri="{FF2B5EF4-FFF2-40B4-BE49-F238E27FC236}">
                <a16:creationId xmlns:a16="http://schemas.microsoft.com/office/drawing/2014/main" id="{688236BB-C00D-4B4D-87A5-079294D4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76450"/>
            <a:ext cx="1104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g-text-解释与校准">
            <a:extLst xmlns:a="http://schemas.openxmlformats.org/drawingml/2006/main">
              <a:ext uri="{FF2B5EF4-FFF2-40B4-BE49-F238E27FC236}">
                <a16:creationId xmlns:a16="http://schemas.microsoft.com/office/drawing/2014/main" id="{3B1E05DF-B122-4E61-B6AD-F0562E82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1455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解释与校准</a:t>
            </a:r>
          </a:p>
        </p:txBody>
      </p:sp>
      <p:sp>
        <p:nvSpPr>
          <p:cNvPr id="12" name="assistant-answer">
            <a:extLst xmlns:a="http://schemas.openxmlformats.org/drawingml/2006/main">
              <a:ext uri="{FF2B5EF4-FFF2-40B4-BE49-F238E27FC236}">
                <a16:creationId xmlns:a16="http://schemas.microsoft.com/office/drawing/2014/main" id="{F6A9E5FB-1071-4ED0-B7B0-BF3AC28B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28900"/>
            <a:ext cx="4610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当前阶段先掌握数据流：图片 → resize/crop/normalize → Tensor → ResNet → 类别输出。库内部实现、权重读取细节和每个 API 参数可以后补。</a:t>
            </a:r>
          </a:p>
        </p:txBody>
      </p:sp>
      <p:sp>
        <p:nvSpPr>
          <p:cNvPr id="13" name="dialog-takeaway">
            <a:extLst xmlns:a="http://schemas.openxmlformats.org/drawingml/2006/main">
              <a:ext uri="{FF2B5EF4-FFF2-40B4-BE49-F238E27FC236}">
                <a16:creationId xmlns:a16="http://schemas.microsoft.com/office/drawing/2014/main" id="{5BA2193A-F977-4B2F-B183-6DCD427D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4F7970-9551-4FAF-8FEC-40CF630F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55A"/>
                </a:solidFill>
              </a:defRPr>
            </a:pPr>
            <a:r>
              <a:rPr sz="1350" b="1">
                <a:solidFill>
                  <a:srgbClr val="2F855A"/>
                </a:solidFill>
              </a:rPr>
              <a:t>这一问真正要记住：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9AA5A6-8541-4367-8663-8033F9CD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149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</a:defRPr>
            </a:pPr>
            <a:r>
              <a:rPr sz="1575" b="1">
                <a:solidFill>
                  <a:srgbClr val="17212B"/>
                </a:solidFill>
              </a:rPr>
              <a:t>代码阅读先抓输入、输出和数据流，不要一上来钻库源码。</a:t>
            </a:r>
          </a:p>
        </p:txBody>
      </p:sp>
      <p:sp>
        <p:nvSpPr>
          <p:cNvPr id="16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B86DA3FB-6739-40D6-9C2C-F1709348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对话复盘</a:t>
            </a:r>
          </a:p>
        </p:txBody>
      </p:sp>
      <p:sp>
        <p:nvSpPr>
          <p:cNvPr id="17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10C50094-848D-4DC0-9C59-CF3850EA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86525"/>
            <a:ext cx="426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项目复盘手册 · MobileNetV2 + Faster R-CNN</a:t>
            </a:r>
          </a:p>
        </p:txBody>
      </p:sp>
    </p:spTree>
    <p:extLst>
      <p:ext uri="{BB962C8B-B14F-4D97-AF65-F5344CB8AC3E}">
        <p14:creationId xmlns:p14="http://schemas.microsoft.com/office/powerpoint/2010/main" val="186123905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521BD96E-7949-43CB-8204-AB76F0FB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A8B0"/>
                </a:solidFill>
              </a:defRPr>
            </a:pPr>
            <a:r>
              <a:rPr sz="975" b="1">
                <a:solidFill>
                  <a:srgbClr val="12A8B0"/>
                </a:solidFill>
              </a:rPr>
              <a:t>对话复盘 · 数学直觉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ED5824-17CC-4A92-99B2-0DDB5A77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梯度下降是不是越来越接近 0？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CEB8697-8EAF-470B-A698-3FA75E3B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5A31010-0160-4BB1-9D8B-9A3D52C6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286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35</a:t>
            </a:r>
          </a:p>
        </p:txBody>
      </p:sp>
      <p:sp>
        <p:nvSpPr>
          <p:cNvPr id="5" name="user-dialog">
            <a:extLst xmlns:a="http://schemas.openxmlformats.org/drawingml/2006/main">
              <a:ext uri="{FF2B5EF4-FFF2-40B4-BE49-F238E27FC236}">
                <a16:creationId xmlns:a16="http://schemas.microsoft.com/office/drawing/2014/main" id="{1500D073-9413-4B40-8710-12165F94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6" name="tag-用户提问">
            <a:extLst xmlns:a="http://schemas.openxmlformats.org/drawingml/2006/main">
              <a:ext uri="{FF2B5EF4-FFF2-40B4-BE49-F238E27FC236}">
                <a16:creationId xmlns:a16="http://schemas.microsoft.com/office/drawing/2014/main" id="{A10FBE0F-FD32-420B-A0FE-35809567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76450"/>
            <a:ext cx="990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ag-text-用户提问">
            <a:extLst xmlns:a="http://schemas.openxmlformats.org/drawingml/2006/main">
              <a:ext uri="{FF2B5EF4-FFF2-40B4-BE49-F238E27FC236}">
                <a16:creationId xmlns:a16="http://schemas.microsoft.com/office/drawing/2014/main" id="{45115289-DFA7-4BAC-88CA-42EE87E7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用户提问</a:t>
            </a:r>
          </a:p>
        </p:txBody>
      </p:sp>
      <p:sp>
        <p:nvSpPr>
          <p:cNvPr id="8" name="user-quote">
            <a:extLst xmlns:a="http://schemas.openxmlformats.org/drawingml/2006/main">
              <a:ext uri="{FF2B5EF4-FFF2-40B4-BE49-F238E27FC236}">
                <a16:creationId xmlns:a16="http://schemas.microsoft.com/office/drawing/2014/main" id="{DAC76D55-D0F2-42CE-9CA5-26833454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“教材里的参数一直往 0 靠，是不是梯度下降就是找 0？”</a:t>
            </a:r>
          </a:p>
        </p:txBody>
      </p:sp>
      <p:sp>
        <p:nvSpPr>
          <p:cNvPr id="9" name="assistant-dialog">
            <a:extLst xmlns:a="http://schemas.openxmlformats.org/drawingml/2006/main">
              <a:ext uri="{FF2B5EF4-FFF2-40B4-BE49-F238E27FC236}">
                <a16:creationId xmlns:a16="http://schemas.microsoft.com/office/drawing/2014/main" id="{0920F30B-76C1-4BC0-BB13-4299764B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52959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F8"/>
          </a:solidFill>
          <a:ln xmlns:a="http://schemas.openxmlformats.org/drawingml/2006/main" w="19050">
            <a:solidFill>
              <a:srgbClr val="2D6CDF"/>
            </a:solidFill>
            <a:prstDash val="solid"/>
          </a:ln>
        </p:spPr>
      </p:sp>
      <p:sp>
        <p:nvSpPr>
          <p:cNvPr id="10" name="tag-解释与校准">
            <a:extLst xmlns:a="http://schemas.openxmlformats.org/drawingml/2006/main">
              <a:ext uri="{FF2B5EF4-FFF2-40B4-BE49-F238E27FC236}">
                <a16:creationId xmlns:a16="http://schemas.microsoft.com/office/drawing/2014/main" id="{34737A06-66A7-471C-A580-1AD2DE54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76450"/>
            <a:ext cx="1104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D6C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g-text-解释与校准">
            <a:extLst xmlns:a="http://schemas.openxmlformats.org/drawingml/2006/main">
              <a:ext uri="{FF2B5EF4-FFF2-40B4-BE49-F238E27FC236}">
                <a16:creationId xmlns:a16="http://schemas.microsoft.com/office/drawing/2014/main" id="{C92CAD88-CA26-4C69-AF4F-9143F87B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1455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解释与校准</a:t>
            </a:r>
          </a:p>
        </p:txBody>
      </p:sp>
      <p:sp>
        <p:nvSpPr>
          <p:cNvPr id="12" name="assistant-answer">
            <a:extLst xmlns:a="http://schemas.openxmlformats.org/drawingml/2006/main">
              <a:ext uri="{FF2B5EF4-FFF2-40B4-BE49-F238E27FC236}">
                <a16:creationId xmlns:a16="http://schemas.microsoft.com/office/drawing/2014/main" id="{04418FD5-50BB-44D1-A157-04B1E9F1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28900"/>
            <a:ext cx="4610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不是。0 只是教材示例函数的最优点。梯度下降真正做的是寻找让 loss 最小的参数位置，最优参数不一定是 0。</a:t>
            </a:r>
          </a:p>
        </p:txBody>
      </p:sp>
      <p:sp>
        <p:nvSpPr>
          <p:cNvPr id="13" name="dialog-takeaway">
            <a:extLst xmlns:a="http://schemas.openxmlformats.org/drawingml/2006/main">
              <a:ext uri="{FF2B5EF4-FFF2-40B4-BE49-F238E27FC236}">
                <a16:creationId xmlns:a16="http://schemas.microsoft.com/office/drawing/2014/main" id="{DB9939F6-AFFB-42ED-9C7D-769FE8DB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7A9FDE-66DA-4C8E-AC59-87885BF9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6CDF"/>
                </a:solidFill>
              </a:defRPr>
            </a:pPr>
            <a:r>
              <a:rPr sz="1350" b="1">
                <a:solidFill>
                  <a:srgbClr val="2D6CDF"/>
                </a:solidFill>
              </a:rPr>
              <a:t>这一问真正要记住：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FF65A2-C1D9-4C14-8BDE-EE603ADD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149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</a:defRPr>
            </a:pPr>
            <a:r>
              <a:rPr sz="1575" b="1">
                <a:solidFill>
                  <a:srgbClr val="17212B"/>
                </a:solidFill>
              </a:rPr>
              <a:t>梯度下降是在逼近最优解，不是在机械地把所有参数变成 0。</a:t>
            </a:r>
          </a:p>
        </p:txBody>
      </p:sp>
      <p:sp>
        <p:nvSpPr>
          <p:cNvPr id="16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0428F038-C53A-4F01-9B7D-65A8A775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对话复盘</a:t>
            </a:r>
          </a:p>
        </p:txBody>
      </p:sp>
      <p:sp>
        <p:nvSpPr>
          <p:cNvPr id="17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CE4C0975-4CB8-4E63-BAA6-FDFB4CB8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86525"/>
            <a:ext cx="426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项目复盘手册 · MobileNetV2 + Faster R-CNN</a:t>
            </a:r>
          </a:p>
        </p:txBody>
      </p:sp>
    </p:spTree>
    <p:extLst>
      <p:ext uri="{BB962C8B-B14F-4D97-AF65-F5344CB8AC3E}">
        <p14:creationId xmlns:p14="http://schemas.microsoft.com/office/powerpoint/2010/main" val="11186534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C216A334-C753-4034-B92A-6407ACC3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A8B0"/>
                </a:solidFill>
              </a:defRPr>
            </a:pPr>
            <a:r>
              <a:rPr sz="975" b="1">
                <a:solidFill>
                  <a:srgbClr val="12A8B0"/>
                </a:solidFill>
              </a:rPr>
              <a:t>对话复盘 · 学习节奏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B4EB6BE-A1A8-4EAA-932C-C2366CA5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信息摄入太多，是不是应该立刻停下来？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D9280EC-B846-476D-991F-823F0A13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4BAD584-9670-49A9-AA18-090A628D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286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36</a:t>
            </a:r>
          </a:p>
        </p:txBody>
      </p:sp>
      <p:sp>
        <p:nvSpPr>
          <p:cNvPr id="5" name="user-dialog">
            <a:extLst xmlns:a="http://schemas.openxmlformats.org/drawingml/2006/main">
              <a:ext uri="{FF2B5EF4-FFF2-40B4-BE49-F238E27FC236}">
                <a16:creationId xmlns:a16="http://schemas.microsoft.com/office/drawing/2014/main" id="{1C780F27-C011-4974-8D8E-7F66D943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6" name="tag-用户提问">
            <a:extLst xmlns:a="http://schemas.openxmlformats.org/drawingml/2006/main">
              <a:ext uri="{FF2B5EF4-FFF2-40B4-BE49-F238E27FC236}">
                <a16:creationId xmlns:a16="http://schemas.microsoft.com/office/drawing/2014/main" id="{168B7B52-ABB6-4A88-AFF8-445BC2EE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76450"/>
            <a:ext cx="990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ag-text-用户提问">
            <a:extLst xmlns:a="http://schemas.openxmlformats.org/drawingml/2006/main">
              <a:ext uri="{FF2B5EF4-FFF2-40B4-BE49-F238E27FC236}">
                <a16:creationId xmlns:a16="http://schemas.microsoft.com/office/drawing/2014/main" id="{45F0390F-719F-4961-84C8-27191E24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用户提问</a:t>
            </a:r>
          </a:p>
        </p:txBody>
      </p:sp>
      <p:sp>
        <p:nvSpPr>
          <p:cNvPr id="8" name="user-quote">
            <a:extLst xmlns:a="http://schemas.openxmlformats.org/drawingml/2006/main">
              <a:ext uri="{FF2B5EF4-FFF2-40B4-BE49-F238E27FC236}">
                <a16:creationId xmlns:a16="http://schemas.microsoft.com/office/drawing/2014/main" id="{F2BD87A2-7022-4716-B22E-3DF00AF7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“如果这一节没完全消化，还要不要继续刷后面的课？”</a:t>
            </a:r>
          </a:p>
        </p:txBody>
      </p:sp>
      <p:sp>
        <p:nvSpPr>
          <p:cNvPr id="9" name="assistant-dialog">
            <a:extLst xmlns:a="http://schemas.openxmlformats.org/drawingml/2006/main">
              <a:ext uri="{FF2B5EF4-FFF2-40B4-BE49-F238E27FC236}">
                <a16:creationId xmlns:a16="http://schemas.microsoft.com/office/drawing/2014/main" id="{4E6F3692-E9B0-49B7-88F6-1BF3B385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52959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19050">
            <a:solidFill>
              <a:srgbClr val="F97316"/>
            </a:solidFill>
            <a:prstDash val="solid"/>
          </a:ln>
        </p:spPr>
      </p:sp>
      <p:sp>
        <p:nvSpPr>
          <p:cNvPr id="10" name="tag-解释与校准">
            <a:extLst xmlns:a="http://schemas.openxmlformats.org/drawingml/2006/main">
              <a:ext uri="{FF2B5EF4-FFF2-40B4-BE49-F238E27FC236}">
                <a16:creationId xmlns:a16="http://schemas.microsoft.com/office/drawing/2014/main" id="{CFCEAF03-F925-40DA-BB85-884F3E23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76450"/>
            <a:ext cx="1104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g-text-解释与校准">
            <a:extLst xmlns:a="http://schemas.openxmlformats.org/drawingml/2006/main">
              <a:ext uri="{FF2B5EF4-FFF2-40B4-BE49-F238E27FC236}">
                <a16:creationId xmlns:a16="http://schemas.microsoft.com/office/drawing/2014/main" id="{536CF90F-EB3B-4097-93B7-8E5F2284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1455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解释与校准</a:t>
            </a:r>
          </a:p>
        </p:txBody>
      </p:sp>
      <p:sp>
        <p:nvSpPr>
          <p:cNvPr id="12" name="assistant-answer">
            <a:extLst xmlns:a="http://schemas.openxmlformats.org/drawingml/2006/main">
              <a:ext uri="{FF2B5EF4-FFF2-40B4-BE49-F238E27FC236}">
                <a16:creationId xmlns:a16="http://schemas.microsoft.com/office/drawing/2014/main" id="{2214C053-DB22-4258-8CB2-AFCA8D7A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28900"/>
            <a:ext cx="4610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可以采用“两轮学习”：第一遍建立地图、只记录关键词和疑问；第二遍再回头补概念和做练习。关键是保留一个“待回收列表”。</a:t>
            </a:r>
          </a:p>
        </p:txBody>
      </p:sp>
      <p:sp>
        <p:nvSpPr>
          <p:cNvPr id="13" name="dialog-takeaway">
            <a:extLst xmlns:a="http://schemas.openxmlformats.org/drawingml/2006/main">
              <a:ext uri="{FF2B5EF4-FFF2-40B4-BE49-F238E27FC236}">
                <a16:creationId xmlns:a16="http://schemas.microsoft.com/office/drawing/2014/main" id="{4FCD905E-A8AD-4CAC-B6DE-6FB4B57C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522477-A398-4FBF-965C-E376AA81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97316"/>
                </a:solidFill>
              </a:defRPr>
            </a:pPr>
            <a:r>
              <a:rPr sz="1350" b="1">
                <a:solidFill>
                  <a:srgbClr val="F97316"/>
                </a:solidFill>
              </a:rPr>
              <a:t>这一问真正要记住：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E1692A-1943-4AE3-A4FB-E1989AC4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149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</a:defRPr>
            </a:pPr>
            <a:r>
              <a:rPr sz="1575" b="1">
                <a:solidFill>
                  <a:srgbClr val="17212B"/>
                </a:solidFill>
              </a:rPr>
              <a:t>先建立地图，再填细节；但不要让“知道词”伪装成“已经理解”。</a:t>
            </a:r>
          </a:p>
        </p:txBody>
      </p:sp>
      <p:sp>
        <p:nvSpPr>
          <p:cNvPr id="16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08BD3638-828F-460C-9191-690EBC1E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对话复盘</a:t>
            </a:r>
          </a:p>
        </p:txBody>
      </p:sp>
      <p:sp>
        <p:nvSpPr>
          <p:cNvPr id="17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18D49009-13B8-4FB6-A823-B9055490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86525"/>
            <a:ext cx="426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项目复盘手册 · MobileNetV2 + Faster R-CNN</a:t>
            </a:r>
          </a:p>
        </p:txBody>
      </p:sp>
    </p:spTree>
    <p:extLst>
      <p:ext uri="{BB962C8B-B14F-4D97-AF65-F5344CB8AC3E}">
        <p14:creationId xmlns:p14="http://schemas.microsoft.com/office/powerpoint/2010/main" val="43879293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C539E790-827B-498D-AE71-0D62AE89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A8B0"/>
                </a:solidFill>
              </a:defRPr>
            </a:pPr>
            <a:r>
              <a:rPr sz="975" b="1">
                <a:solidFill>
                  <a:srgbClr val="12A8B0"/>
                </a:solidFill>
              </a:rPr>
              <a:t>对话复盘 · 学习记录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526F5C9-5306-46FD-AC92-676863CE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课程已经有共享笔记，还要不要自己记？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71A666D-20FC-4A39-998F-D22FB0BE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AB68577-0C00-4728-8F11-D6326C52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286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37</a:t>
            </a:r>
          </a:p>
        </p:txBody>
      </p:sp>
      <p:sp>
        <p:nvSpPr>
          <p:cNvPr id="5" name="user-dialog">
            <a:extLst xmlns:a="http://schemas.openxmlformats.org/drawingml/2006/main">
              <a:ext uri="{FF2B5EF4-FFF2-40B4-BE49-F238E27FC236}">
                <a16:creationId xmlns:a16="http://schemas.microsoft.com/office/drawing/2014/main" id="{2B67B4EA-7965-459F-8955-51E1E072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6" name="tag-用户提问">
            <a:extLst xmlns:a="http://schemas.openxmlformats.org/drawingml/2006/main">
              <a:ext uri="{FF2B5EF4-FFF2-40B4-BE49-F238E27FC236}">
                <a16:creationId xmlns:a16="http://schemas.microsoft.com/office/drawing/2014/main" id="{6D1D42EE-49BB-4484-96D6-3AEF928D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76450"/>
            <a:ext cx="990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ag-text-用户提问">
            <a:extLst xmlns:a="http://schemas.openxmlformats.org/drawingml/2006/main">
              <a:ext uri="{FF2B5EF4-FFF2-40B4-BE49-F238E27FC236}">
                <a16:creationId xmlns:a16="http://schemas.microsoft.com/office/drawing/2014/main" id="{5049EC2F-BACA-4003-811A-B741A79B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用户提问</a:t>
            </a:r>
          </a:p>
        </p:txBody>
      </p:sp>
      <p:sp>
        <p:nvSpPr>
          <p:cNvPr id="8" name="user-quote">
            <a:extLst xmlns:a="http://schemas.openxmlformats.org/drawingml/2006/main">
              <a:ext uri="{FF2B5EF4-FFF2-40B4-BE49-F238E27FC236}">
                <a16:creationId xmlns:a16="http://schemas.microsoft.com/office/drawing/2014/main" id="{1D64F249-107F-4DEB-9FA3-F4CB0DA8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“老师的笔记已经很完整了，我是不是不用再写？”</a:t>
            </a:r>
          </a:p>
        </p:txBody>
      </p:sp>
      <p:sp>
        <p:nvSpPr>
          <p:cNvPr id="9" name="assistant-dialog">
            <a:extLst xmlns:a="http://schemas.openxmlformats.org/drawingml/2006/main">
              <a:ext uri="{FF2B5EF4-FFF2-40B4-BE49-F238E27FC236}">
                <a16:creationId xmlns:a16="http://schemas.microsoft.com/office/drawing/2014/main" id="{1ECC64AD-1029-4747-BC89-49396119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52959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F8"/>
          </a:solidFill>
          <a:ln xmlns:a="http://schemas.openxmlformats.org/drawingml/2006/main" w="19050">
            <a:solidFill>
              <a:srgbClr val="2F855A"/>
            </a:solidFill>
            <a:prstDash val="solid"/>
          </a:ln>
        </p:spPr>
      </p:sp>
      <p:sp>
        <p:nvSpPr>
          <p:cNvPr id="10" name="tag-解释与校准">
            <a:extLst xmlns:a="http://schemas.openxmlformats.org/drawingml/2006/main">
              <a:ext uri="{FF2B5EF4-FFF2-40B4-BE49-F238E27FC236}">
                <a16:creationId xmlns:a16="http://schemas.microsoft.com/office/drawing/2014/main" id="{A4FA6AAA-EE46-418E-9BFC-824A8CF9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76450"/>
            <a:ext cx="1104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g-text-解释与校准">
            <a:extLst xmlns:a="http://schemas.openxmlformats.org/drawingml/2006/main">
              <a:ext uri="{FF2B5EF4-FFF2-40B4-BE49-F238E27FC236}">
                <a16:creationId xmlns:a16="http://schemas.microsoft.com/office/drawing/2014/main" id="{8A0FFC0D-E3A5-4547-B958-0671F971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1455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解释与校准</a:t>
            </a:r>
          </a:p>
        </p:txBody>
      </p:sp>
      <p:sp>
        <p:nvSpPr>
          <p:cNvPr id="12" name="assistant-answer">
            <a:extLst xmlns:a="http://schemas.openxmlformats.org/drawingml/2006/main">
              <a:ext uri="{FF2B5EF4-FFF2-40B4-BE49-F238E27FC236}">
                <a16:creationId xmlns:a16="http://schemas.microsoft.com/office/drawing/2014/main" id="{753BBBEE-11DC-4560-AA67-60C08EDD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28900"/>
            <a:ext cx="4610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共享笔记负责“标准内容”，个人笔记负责“我卡在哪里、我怎么理解、哪些地方易错、作业怎么解决”。不要重复抄教材，要记录自己的学习痕迹。</a:t>
            </a:r>
          </a:p>
        </p:txBody>
      </p:sp>
      <p:sp>
        <p:nvSpPr>
          <p:cNvPr id="13" name="dialog-takeaway">
            <a:extLst xmlns:a="http://schemas.openxmlformats.org/drawingml/2006/main">
              <a:ext uri="{FF2B5EF4-FFF2-40B4-BE49-F238E27FC236}">
                <a16:creationId xmlns:a16="http://schemas.microsoft.com/office/drawing/2014/main" id="{EC275838-6158-4397-8BB1-B6C433CD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49F0DB-2176-4F99-BBF3-F5D6D576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55A"/>
                </a:solidFill>
              </a:defRPr>
            </a:pPr>
            <a:r>
              <a:rPr sz="1350" b="1">
                <a:solidFill>
                  <a:srgbClr val="2F855A"/>
                </a:solidFill>
              </a:rPr>
              <a:t>这一问真正要记住：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2B83FB-AE13-4371-8C6B-5D61DCC7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149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</a:defRPr>
            </a:pPr>
            <a:r>
              <a:rPr sz="1575" b="1">
                <a:solidFill>
                  <a:srgbClr val="17212B"/>
                </a:solidFill>
              </a:rPr>
              <a:t>共享笔记负责完整，你的笔记负责理解和复盘。</a:t>
            </a:r>
          </a:p>
        </p:txBody>
      </p:sp>
      <p:sp>
        <p:nvSpPr>
          <p:cNvPr id="16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220C71A1-756C-41FE-813F-0960CD00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对话复盘</a:t>
            </a:r>
          </a:p>
        </p:txBody>
      </p:sp>
      <p:sp>
        <p:nvSpPr>
          <p:cNvPr id="17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FE28C7FC-CF14-43B5-B4C4-65A25CDB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86525"/>
            <a:ext cx="426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项目复盘手册 · MobileNetV2 + Faster R-CNN</a:t>
            </a:r>
          </a:p>
        </p:txBody>
      </p:sp>
    </p:spTree>
    <p:extLst>
      <p:ext uri="{BB962C8B-B14F-4D97-AF65-F5344CB8AC3E}">
        <p14:creationId xmlns:p14="http://schemas.microsoft.com/office/powerpoint/2010/main" val="23653789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">
            <a:extLst xmlns:a="http://schemas.openxmlformats.org/drawingml/2006/main">
              <a:ext uri="{FF2B5EF4-FFF2-40B4-BE49-F238E27FC236}">
                <a16:creationId xmlns:a16="http://schemas.microsoft.com/office/drawing/2014/main" id="{4D0CAFEB-043D-4BAD-9FFE-81AE8B72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A8B0"/>
                </a:solidFill>
              </a:defRPr>
            </a:pPr>
            <a:r>
              <a:rPr sz="975" b="1">
                <a:solidFill>
                  <a:srgbClr val="12A8B0"/>
                </a:solidFill>
              </a:rPr>
              <a:t>对话复盘 · 易混概念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4E3FC98-88C0-46A2-B2FB-EFFB6762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对话复盘：小白最容易把这四件事混在一起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6C2EDAF-9328-4201-ABE0-5B18F98B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7E64BEA-3D5C-4971-A6D2-EBB1B98C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286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29B550-22D4-4842-B2CB-D0D0BD4C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7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27D"/>
                </a:solidFill>
              </a:defRPr>
            </a:pPr>
            <a:r>
              <a:rPr sz="1350" b="1">
                <a:solidFill>
                  <a:srgbClr val="66727D"/>
                </a:solidFill>
              </a:rPr>
              <a:t>概念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71895-AE8C-4531-B62D-E8B7E57B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478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27D"/>
                </a:solidFill>
              </a:defRPr>
            </a:pPr>
            <a:r>
              <a:rPr sz="1350" b="1">
                <a:solidFill>
                  <a:srgbClr val="66727D"/>
                </a:solidFill>
              </a:rPr>
              <a:t>人话解释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1DE51D-B688-4622-A3D7-D48D3415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47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27D"/>
                </a:solidFill>
              </a:defRPr>
            </a:pPr>
            <a:r>
              <a:rPr sz="1350" b="1">
                <a:solidFill>
                  <a:srgbClr val="66727D"/>
                </a:solidFill>
              </a:rPr>
              <a:t>关注什么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478083-F325-4587-AAE3-F9D4F115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3BC48B-BAE3-4D52-AE08-E7AA4599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6CDF"/>
                </a:solidFill>
              </a:defRPr>
            </a:pPr>
            <a:r>
              <a:rPr sz="1500" b="1">
                <a:solidFill>
                  <a:srgbClr val="2D6CDF"/>
                </a:solidFill>
              </a:rPr>
              <a:t>参数量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3BE8B8-267C-4F10-9C98-717C8DB7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384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模型里有多少个可训练数字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DA6884-F7C5-4F46-AB89-501E79438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384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7D"/>
                </a:solidFill>
              </a:defRPr>
            </a:pPr>
            <a:r>
              <a:rPr sz="1350" b="0">
                <a:solidFill>
                  <a:srgbClr val="66727D"/>
                </a:solidFill>
              </a:rPr>
              <a:t>存储 / 模型容量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378F78-7D86-4603-9653-BD45506C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BA329B-3E18-487C-AC7F-535414FD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62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6CDF"/>
                </a:solidFill>
              </a:defRPr>
            </a:pPr>
            <a:r>
              <a:rPr sz="1500" b="1">
                <a:solidFill>
                  <a:srgbClr val="2D6CDF"/>
                </a:solidFill>
              </a:rPr>
              <a:t>计算量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B7E80A-6694-4DFC-91A0-DE8EAB10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623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处理一次输入要执行多少运算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E22965-7C14-47A8-83A3-1A14740B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623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7D"/>
                </a:solidFill>
              </a:defRPr>
            </a:pPr>
            <a:r>
              <a:rPr sz="1350" b="0">
                <a:solidFill>
                  <a:srgbClr val="66727D"/>
                </a:solidFill>
              </a:rPr>
              <a:t>速度 / 显存 / 成本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9A40C5-6157-482E-A799-04BC69D8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DB682B-CDF9-4F15-BD7A-DE8E611D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97316"/>
                </a:solidFill>
              </a:defRPr>
            </a:pPr>
            <a:r>
              <a:rPr sz="1500" b="1">
                <a:solidFill>
                  <a:srgbClr val="F97316"/>
                </a:solidFill>
              </a:rPr>
              <a:t>网络退化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9B813E-8871-42D7-B0D7-7592D2DD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862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训练集表现都变差，深层网络更难优化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5A1E2D-7D66-4CF9-BB69-C8D39B9C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862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7D"/>
                </a:solidFill>
              </a:defRPr>
            </a:pPr>
            <a:r>
              <a:rPr sz="1350" b="0">
                <a:solidFill>
                  <a:srgbClr val="66727D"/>
                </a:solidFill>
              </a:rPr>
              <a:t>优化问题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A46B3C-E249-44E1-A27E-AB15A17C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C1B631-FDF2-4566-906E-EA69103B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97316"/>
                </a:solidFill>
              </a:defRPr>
            </a:pPr>
            <a:r>
              <a:rPr sz="1500" b="1">
                <a:solidFill>
                  <a:srgbClr val="F97316"/>
                </a:solidFill>
              </a:rPr>
              <a:t>过拟合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658730-406A-4650-8535-106C3E3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6101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训练集好，测试集差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FFAB70-C70C-424A-B244-0C58E18B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101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7D"/>
                </a:solidFill>
              </a:defRPr>
            </a:pPr>
            <a:r>
              <a:rPr sz="1350" b="0">
                <a:solidFill>
                  <a:srgbClr val="66727D"/>
                </a:solidFill>
              </a:rPr>
              <a:t>泛化问题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EFC8D9-E11E-4284-A641-693470FE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57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quote">
            <a:extLst xmlns:a="http://schemas.openxmlformats.org/drawingml/2006/main">
              <a:ext uri="{FF2B5EF4-FFF2-40B4-BE49-F238E27FC236}">
                <a16:creationId xmlns:a16="http://schemas.microsoft.com/office/drawing/2014/main" id="{8227FEC8-3C19-4F1B-A592-C9B991D5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72125"/>
            <a:ext cx="1026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</a:defRPr>
            </a:pPr>
            <a:r>
              <a:rPr sz="1725" b="1">
                <a:solidFill>
                  <a:srgbClr val="17212B"/>
                </a:solidFill>
              </a:rPr>
              <a:t>遇到新术语先问：它描述的是模型本身、运行成本，还是泛化效果？</a:t>
            </a:r>
          </a:p>
        </p:txBody>
      </p:sp>
      <p:sp>
        <p:nvSpPr>
          <p:cNvPr id="26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52667B09-DCCA-4951-BFD1-52004C69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对话复盘</a:t>
            </a:r>
          </a:p>
        </p:txBody>
      </p:sp>
      <p:sp>
        <p:nvSpPr>
          <p:cNvPr id="27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DA73FF31-2962-4A44-9B96-089A2EF3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86525"/>
            <a:ext cx="426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项目复盘手册 · MobileNetV2 + Faster R-CNN</a:t>
            </a:r>
          </a:p>
        </p:txBody>
      </p:sp>
    </p:spTree>
    <p:extLst>
      <p:ext uri="{BB962C8B-B14F-4D97-AF65-F5344CB8AC3E}">
        <p14:creationId xmlns:p14="http://schemas.microsoft.com/office/powerpoint/2010/main" val="209923220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0EA81569-2B5E-4633-8663-D7BB5276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A8B0"/>
                </a:solidFill>
              </a:defRPr>
            </a:pPr>
            <a:r>
              <a:rPr sz="975" b="1">
                <a:solidFill>
                  <a:srgbClr val="12A8B0"/>
                </a:solidFill>
              </a:rPr>
              <a:t>对话复盘 · 实验设计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62C8AC-E067-4FFB-A3CC-CFB18163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为什么“训练成功”还不等于“曲线可交付”？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3241EF6-EDFE-401E-A031-E272AAD4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E8023D2-244E-4C50-89C9-23607616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286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39</a:t>
            </a:r>
          </a:p>
        </p:txBody>
      </p:sp>
      <p:sp>
        <p:nvSpPr>
          <p:cNvPr id="5" name="user-dialog">
            <a:extLst xmlns:a="http://schemas.openxmlformats.org/drawingml/2006/main">
              <a:ext uri="{FF2B5EF4-FFF2-40B4-BE49-F238E27FC236}">
                <a16:creationId xmlns:a16="http://schemas.microsoft.com/office/drawing/2014/main" id="{0C249A97-9B08-4C55-8A11-2E7568C9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6" name="tag-用户提问">
            <a:extLst xmlns:a="http://schemas.openxmlformats.org/drawingml/2006/main">
              <a:ext uri="{FF2B5EF4-FFF2-40B4-BE49-F238E27FC236}">
                <a16:creationId xmlns:a16="http://schemas.microsoft.com/office/drawing/2014/main" id="{A6B20A3F-C590-4F7D-BD01-2D10E47D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76450"/>
            <a:ext cx="990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ag-text-用户提问">
            <a:extLst xmlns:a="http://schemas.openxmlformats.org/drawingml/2006/main">
              <a:ext uri="{FF2B5EF4-FFF2-40B4-BE49-F238E27FC236}">
                <a16:creationId xmlns:a16="http://schemas.microsoft.com/office/drawing/2014/main" id="{58534825-25D4-4237-BF29-1E798340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用户提问</a:t>
            </a:r>
          </a:p>
        </p:txBody>
      </p:sp>
      <p:sp>
        <p:nvSpPr>
          <p:cNvPr id="8" name="user-quote">
            <a:extLst xmlns:a="http://schemas.openxmlformats.org/drawingml/2006/main">
              <a:ext uri="{FF2B5EF4-FFF2-40B4-BE49-F238E27FC236}">
                <a16:creationId xmlns:a16="http://schemas.microsoft.com/office/drawing/2014/main" id="{4EC26077-214A-4585-9812-0BD85654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“模型已经跑完了，为什么还要重新改 train.py？”</a:t>
            </a:r>
          </a:p>
        </p:txBody>
      </p:sp>
      <p:sp>
        <p:nvSpPr>
          <p:cNvPr id="9" name="assistant-dialog">
            <a:extLst xmlns:a="http://schemas.openxmlformats.org/drawingml/2006/main">
              <a:ext uri="{FF2B5EF4-FFF2-40B4-BE49-F238E27FC236}">
                <a16:creationId xmlns:a16="http://schemas.microsoft.com/office/drawing/2014/main" id="{F1B0461E-E79F-4AE6-82DA-1A229531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52959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F8"/>
          </a:solidFill>
          <a:ln xmlns:a="http://schemas.openxmlformats.org/drawingml/2006/main" w="19050">
            <a:solidFill>
              <a:srgbClr val="D64545"/>
            </a:solidFill>
            <a:prstDash val="solid"/>
          </a:ln>
        </p:spPr>
      </p:sp>
      <p:sp>
        <p:nvSpPr>
          <p:cNvPr id="10" name="tag-解释与校准">
            <a:extLst xmlns:a="http://schemas.openxmlformats.org/drawingml/2006/main">
              <a:ext uri="{FF2B5EF4-FFF2-40B4-BE49-F238E27FC236}">
                <a16:creationId xmlns:a16="http://schemas.microsoft.com/office/drawing/2014/main" id="{F3DE37D5-B50D-483F-9960-04C0F13B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76450"/>
            <a:ext cx="1104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g-text-解释与校准">
            <a:extLst xmlns:a="http://schemas.openxmlformats.org/drawingml/2006/main">
              <a:ext uri="{FF2B5EF4-FFF2-40B4-BE49-F238E27FC236}">
                <a16:creationId xmlns:a16="http://schemas.microsoft.com/office/drawing/2014/main" id="{6F9E88E0-1427-4030-B868-7BEEC086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1455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解释与校准</a:t>
            </a:r>
          </a:p>
        </p:txBody>
      </p:sp>
      <p:sp>
        <p:nvSpPr>
          <p:cNvPr id="12" name="assistant-answer">
            <a:extLst xmlns:a="http://schemas.openxmlformats.org/drawingml/2006/main">
              <a:ext uri="{FF2B5EF4-FFF2-40B4-BE49-F238E27FC236}">
                <a16:creationId xmlns:a16="http://schemas.microsoft.com/office/drawing/2014/main" id="{07393355-1E2F-4FA0-A28B-F8CEECA4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28900"/>
            <a:ext cx="4610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因为第一次训练只记录了总 loss 和权重，后续想画 val loss、mAP、precision、recall，必须在每个 epoch 结束时记录验证结果。</a:t>
            </a:r>
          </a:p>
        </p:txBody>
      </p:sp>
      <p:sp>
        <p:nvSpPr>
          <p:cNvPr id="13" name="dialog-takeaway">
            <a:extLst xmlns:a="http://schemas.openxmlformats.org/drawingml/2006/main">
              <a:ext uri="{FF2B5EF4-FFF2-40B4-BE49-F238E27FC236}">
                <a16:creationId xmlns:a16="http://schemas.microsoft.com/office/drawing/2014/main" id="{16EA7395-62A9-473F-B079-C7242C1C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C11E24-8B67-4301-A5F6-1D11C836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4545"/>
                </a:solidFill>
              </a:defRPr>
            </a:pPr>
            <a:r>
              <a:rPr sz="1350" b="1">
                <a:solidFill>
                  <a:srgbClr val="D64545"/>
                </a:solidFill>
              </a:rPr>
              <a:t>这一问真正要记住：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558CAA-B97E-4DFD-8365-1D7165FE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149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</a:defRPr>
            </a:pPr>
            <a:r>
              <a:rPr sz="1575" b="1">
                <a:solidFill>
                  <a:srgbClr val="17212B"/>
                </a:solidFill>
              </a:rPr>
              <a:t>先设计日志字段，再设计 plot.py；不要训练完才发现数据没保存。</a:t>
            </a:r>
          </a:p>
        </p:txBody>
      </p:sp>
      <p:sp>
        <p:nvSpPr>
          <p:cNvPr id="16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146315C4-FD92-4410-ACF0-DD5B6CB1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对话复盘</a:t>
            </a:r>
          </a:p>
        </p:txBody>
      </p:sp>
      <p:sp>
        <p:nvSpPr>
          <p:cNvPr id="17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F1286D10-4D42-4015-BAFB-ADCAA3A9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86525"/>
            <a:ext cx="426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项目复盘手册 · MobileNetV2 + Faster R-CNN</a:t>
            </a:r>
          </a:p>
        </p:txBody>
      </p:sp>
    </p:spTree>
    <p:extLst>
      <p:ext uri="{BB962C8B-B14F-4D97-AF65-F5344CB8AC3E}">
        <p14:creationId xmlns:p14="http://schemas.microsoft.com/office/powerpoint/2010/main" val="124971966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4518632A-B257-42B4-A101-BA13D566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A8B0"/>
                </a:solidFill>
              </a:defRPr>
            </a:pPr>
            <a:r>
              <a:rPr sz="975" b="1">
                <a:solidFill>
                  <a:srgbClr val="12A8B0"/>
                </a:solidFill>
              </a:rPr>
              <a:t>对话复盘 · 指标口径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756C9C4-BCE6-41E2-AD9A-A6836F93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为什么训练中打印的 mAP 和最终 JSON 有细小差异？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8D4DD37A-4306-40C6-97A1-05B7F88C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E4E89DA-8FA4-4BF2-8707-C8F6AB43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286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40</a:t>
            </a:r>
          </a:p>
        </p:txBody>
      </p:sp>
      <p:sp>
        <p:nvSpPr>
          <p:cNvPr id="5" name="user-dialog">
            <a:extLst xmlns:a="http://schemas.openxmlformats.org/drawingml/2006/main">
              <a:ext uri="{FF2B5EF4-FFF2-40B4-BE49-F238E27FC236}">
                <a16:creationId xmlns:a16="http://schemas.microsoft.com/office/drawing/2014/main" id="{D67C7635-1798-4ADC-9875-A247F018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6" name="tag-用户提问">
            <a:extLst xmlns:a="http://schemas.openxmlformats.org/drawingml/2006/main">
              <a:ext uri="{FF2B5EF4-FFF2-40B4-BE49-F238E27FC236}">
                <a16:creationId xmlns:a16="http://schemas.microsoft.com/office/drawing/2014/main" id="{069525FC-4572-4C2B-B102-CE72BCF1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76450"/>
            <a:ext cx="990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ag-text-用户提问">
            <a:extLst xmlns:a="http://schemas.openxmlformats.org/drawingml/2006/main">
              <a:ext uri="{FF2B5EF4-FFF2-40B4-BE49-F238E27FC236}">
                <a16:creationId xmlns:a16="http://schemas.microsoft.com/office/drawing/2014/main" id="{FA851F76-7913-4DA8-BD76-4E586BEF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用户提问</a:t>
            </a:r>
          </a:p>
        </p:txBody>
      </p:sp>
      <p:sp>
        <p:nvSpPr>
          <p:cNvPr id="8" name="user-quote">
            <a:extLst xmlns:a="http://schemas.openxmlformats.org/drawingml/2006/main">
              <a:ext uri="{FF2B5EF4-FFF2-40B4-BE49-F238E27FC236}">
                <a16:creationId xmlns:a16="http://schemas.microsoft.com/office/drawing/2014/main" id="{A694466D-DBBE-4CE3-B9AE-AAC0CDF6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“一个是 0.696824，一个是 0.698624，到底信哪个？”</a:t>
            </a:r>
          </a:p>
        </p:txBody>
      </p:sp>
      <p:sp>
        <p:nvSpPr>
          <p:cNvPr id="9" name="assistant-dialog">
            <a:extLst xmlns:a="http://schemas.openxmlformats.org/drawingml/2006/main">
              <a:ext uri="{FF2B5EF4-FFF2-40B4-BE49-F238E27FC236}">
                <a16:creationId xmlns:a16="http://schemas.microsoft.com/office/drawing/2014/main" id="{105C3456-1B0D-4D59-A41A-553D9F7C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52959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F8"/>
          </a:solidFill>
          <a:ln xmlns:a="http://schemas.openxmlformats.org/drawingml/2006/main" w="19050">
            <a:solidFill>
              <a:srgbClr val="12A8B0"/>
            </a:solidFill>
            <a:prstDash val="solid"/>
          </a:ln>
        </p:spPr>
      </p:sp>
      <p:sp>
        <p:nvSpPr>
          <p:cNvPr id="10" name="tag-解释与校准">
            <a:extLst xmlns:a="http://schemas.openxmlformats.org/drawingml/2006/main">
              <a:ext uri="{FF2B5EF4-FFF2-40B4-BE49-F238E27FC236}">
                <a16:creationId xmlns:a16="http://schemas.microsoft.com/office/drawing/2014/main" id="{F94D9547-6D7C-41D6-B276-393DB1DD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76450"/>
            <a:ext cx="1104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A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g-text-解释与校准">
            <a:extLst xmlns:a="http://schemas.openxmlformats.org/drawingml/2006/main">
              <a:ext uri="{FF2B5EF4-FFF2-40B4-BE49-F238E27FC236}">
                <a16:creationId xmlns:a16="http://schemas.microsoft.com/office/drawing/2014/main" id="{E7C329A6-15D3-44C5-9855-B26C9FC7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1455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解释与校准</a:t>
            </a:r>
          </a:p>
        </p:txBody>
      </p:sp>
      <p:sp>
        <p:nvSpPr>
          <p:cNvPr id="12" name="assistant-answer">
            <a:extLst xmlns:a="http://schemas.openxmlformats.org/drawingml/2006/main">
              <a:ext uri="{FF2B5EF4-FFF2-40B4-BE49-F238E27FC236}">
                <a16:creationId xmlns:a16="http://schemas.microsoft.com/office/drawing/2014/main" id="{9BCA2F93-D850-4A07-86FC-AB4E8DBF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28900"/>
            <a:ext cx="4610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训练过程中的数字是某个时点、某个调用链下的结果；最终独立评估文件是完整验证集重新计算后的结果。交付时统一以 evaluation_results.json 为源头。</a:t>
            </a:r>
          </a:p>
        </p:txBody>
      </p:sp>
      <p:sp>
        <p:nvSpPr>
          <p:cNvPr id="13" name="dialog-takeaway">
            <a:extLst xmlns:a="http://schemas.openxmlformats.org/drawingml/2006/main">
              <a:ext uri="{FF2B5EF4-FFF2-40B4-BE49-F238E27FC236}">
                <a16:creationId xmlns:a16="http://schemas.microsoft.com/office/drawing/2014/main" id="{6DD266C0-0182-4C16-985F-9C94334B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BF1296-1B6D-4670-93CF-8F25D7E1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A8B0"/>
                </a:solidFill>
              </a:defRPr>
            </a:pPr>
            <a:r>
              <a:rPr sz="1350" b="1">
                <a:solidFill>
                  <a:srgbClr val="12A8B0"/>
                </a:solidFill>
              </a:rPr>
              <a:t>这一问真正要记住：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46F176-B4AE-4F32-BC94-1B197721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149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</a:defRPr>
            </a:pPr>
            <a:r>
              <a:rPr sz="1575" b="1">
                <a:solidFill>
                  <a:srgbClr val="17212B"/>
                </a:solidFill>
              </a:rPr>
              <a:t>数字有差异时先查来源，不要直接平均或凭感觉选一个。</a:t>
            </a:r>
          </a:p>
        </p:txBody>
      </p:sp>
      <p:sp>
        <p:nvSpPr>
          <p:cNvPr id="16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96EFD61A-41AB-443C-81F9-0C2460D0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对话复盘</a:t>
            </a:r>
          </a:p>
        </p:txBody>
      </p:sp>
      <p:sp>
        <p:nvSpPr>
          <p:cNvPr id="17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B3FF4097-AC0C-4151-948E-681D42C5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86525"/>
            <a:ext cx="426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项目复盘手册 · MobileNetV2 + Faster R-CNN</a:t>
            </a:r>
          </a:p>
        </p:txBody>
      </p:sp>
    </p:spTree>
    <p:extLst>
      <p:ext uri="{BB962C8B-B14F-4D97-AF65-F5344CB8AC3E}">
        <p14:creationId xmlns:p14="http://schemas.microsoft.com/office/powerpoint/2010/main" val="11544201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CF3E0928-45C7-4730-BA71-90E456CC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A8B0"/>
                </a:solidFill>
              </a:defRPr>
            </a:pPr>
            <a:r>
              <a:rPr sz="975" b="1">
                <a:solidFill>
                  <a:srgbClr val="12A8B0"/>
                </a:solidFill>
              </a:rPr>
              <a:t>对话复盘 · 训练配置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0865D30-4446-4B8C-AE0F-9FB7A0AF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为什么把 batch_size 改成 8？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9DD26EC-FBE9-4670-B66E-CC6A2C14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D55A9BB-4784-4F28-AB0C-0BDFFCC4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286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41</a:t>
            </a:r>
          </a:p>
        </p:txBody>
      </p:sp>
      <p:sp>
        <p:nvSpPr>
          <p:cNvPr id="5" name="user-dialog">
            <a:extLst xmlns:a="http://schemas.openxmlformats.org/drawingml/2006/main">
              <a:ext uri="{FF2B5EF4-FFF2-40B4-BE49-F238E27FC236}">
                <a16:creationId xmlns:a16="http://schemas.microsoft.com/office/drawing/2014/main" id="{8E220464-668A-4845-8D48-187BE65D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6" name="tag-用户提问">
            <a:extLst xmlns:a="http://schemas.openxmlformats.org/drawingml/2006/main">
              <a:ext uri="{FF2B5EF4-FFF2-40B4-BE49-F238E27FC236}">
                <a16:creationId xmlns:a16="http://schemas.microsoft.com/office/drawing/2014/main" id="{752A1075-6BFB-4005-9E29-96FD12F6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76450"/>
            <a:ext cx="990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ag-text-用户提问">
            <a:extLst xmlns:a="http://schemas.openxmlformats.org/drawingml/2006/main">
              <a:ext uri="{FF2B5EF4-FFF2-40B4-BE49-F238E27FC236}">
                <a16:creationId xmlns:a16="http://schemas.microsoft.com/office/drawing/2014/main" id="{6327180F-375A-4309-843C-9A016FFD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用户提问</a:t>
            </a:r>
          </a:p>
        </p:txBody>
      </p:sp>
      <p:sp>
        <p:nvSpPr>
          <p:cNvPr id="8" name="user-quote">
            <a:extLst xmlns:a="http://schemas.openxmlformats.org/drawingml/2006/main">
              <a:ext uri="{FF2B5EF4-FFF2-40B4-BE49-F238E27FC236}">
                <a16:creationId xmlns:a16="http://schemas.microsoft.com/office/drawing/2014/main" id="{876D2987-B203-425B-96DE-0140D231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“是不是 batch 越大越好？”</a:t>
            </a:r>
          </a:p>
        </p:txBody>
      </p:sp>
      <p:sp>
        <p:nvSpPr>
          <p:cNvPr id="9" name="assistant-dialog">
            <a:extLst xmlns:a="http://schemas.openxmlformats.org/drawingml/2006/main">
              <a:ext uri="{FF2B5EF4-FFF2-40B4-BE49-F238E27FC236}">
                <a16:creationId xmlns:a16="http://schemas.microsoft.com/office/drawing/2014/main" id="{334AECED-1AD7-4223-8D00-80D8F33D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52959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F8"/>
          </a:solidFill>
          <a:ln xmlns:a="http://schemas.openxmlformats.org/drawingml/2006/main" w="19050">
            <a:solidFill>
              <a:srgbClr val="2D6CDF"/>
            </a:solidFill>
            <a:prstDash val="solid"/>
          </a:ln>
        </p:spPr>
      </p:sp>
      <p:sp>
        <p:nvSpPr>
          <p:cNvPr id="10" name="tag-解释与校准">
            <a:extLst xmlns:a="http://schemas.openxmlformats.org/drawingml/2006/main">
              <a:ext uri="{FF2B5EF4-FFF2-40B4-BE49-F238E27FC236}">
                <a16:creationId xmlns:a16="http://schemas.microsoft.com/office/drawing/2014/main" id="{312817CF-CEA3-446C-AA31-A180726B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76450"/>
            <a:ext cx="1104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D6C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g-text-解释与校准">
            <a:extLst xmlns:a="http://schemas.openxmlformats.org/drawingml/2006/main">
              <a:ext uri="{FF2B5EF4-FFF2-40B4-BE49-F238E27FC236}">
                <a16:creationId xmlns:a16="http://schemas.microsoft.com/office/drawing/2014/main" id="{DEC3F44F-B833-4ECF-87AD-4F1235A4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1455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解释与校准</a:t>
            </a:r>
          </a:p>
        </p:txBody>
      </p:sp>
      <p:sp>
        <p:nvSpPr>
          <p:cNvPr id="12" name="assistant-answer">
            <a:extLst xmlns:a="http://schemas.openxmlformats.org/drawingml/2006/main">
              <a:ext uri="{FF2B5EF4-FFF2-40B4-BE49-F238E27FC236}">
                <a16:creationId xmlns:a16="http://schemas.microsoft.com/office/drawing/2014/main" id="{73C8F4F6-7CDD-4540-8941-8A6ED714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28900"/>
            <a:ext cx="4610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不是。batch_size 要在显存、速度、稳定性和训练数据规模之间平衡。本次云端 RTX 5090 显存更充足，所以从本地小 batch 调到 8。</a:t>
            </a:r>
          </a:p>
        </p:txBody>
      </p:sp>
      <p:sp>
        <p:nvSpPr>
          <p:cNvPr id="13" name="dialog-takeaway">
            <a:extLst xmlns:a="http://schemas.openxmlformats.org/drawingml/2006/main">
              <a:ext uri="{FF2B5EF4-FFF2-40B4-BE49-F238E27FC236}">
                <a16:creationId xmlns:a16="http://schemas.microsoft.com/office/drawing/2014/main" id="{73D47639-1188-4D76-A0A1-7CE8EC24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1B4F98-0B75-4FFD-8369-5308690A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6CDF"/>
                </a:solidFill>
              </a:defRPr>
            </a:pPr>
            <a:r>
              <a:rPr sz="1350" b="1">
                <a:solidFill>
                  <a:srgbClr val="2D6CDF"/>
                </a:solidFill>
              </a:rPr>
              <a:t>这一问真正要记住：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F0CD1B-9548-4165-A734-518C9F31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149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</a:defRPr>
            </a:pPr>
            <a:r>
              <a:rPr sz="1575" b="1">
                <a:solidFill>
                  <a:srgbClr val="17212B"/>
                </a:solidFill>
              </a:rPr>
              <a:t>参数调整要和硬件条件绑定，不能脱离设备谈“最佳值”。</a:t>
            </a:r>
          </a:p>
        </p:txBody>
      </p:sp>
      <p:sp>
        <p:nvSpPr>
          <p:cNvPr id="16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25F28605-75E3-4EF6-80A0-85234A31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对话复盘</a:t>
            </a:r>
          </a:p>
        </p:txBody>
      </p:sp>
      <p:sp>
        <p:nvSpPr>
          <p:cNvPr id="17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DC5AB60F-5100-429E-AAFC-0EE293DC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86525"/>
            <a:ext cx="426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项目复盘手册 · MobileNetV2 + Faster R-CNN</a:t>
            </a:r>
          </a:p>
        </p:txBody>
      </p:sp>
    </p:spTree>
    <p:extLst>
      <p:ext uri="{BB962C8B-B14F-4D97-AF65-F5344CB8AC3E}">
        <p14:creationId xmlns:p14="http://schemas.microsoft.com/office/powerpoint/2010/main" val="15649140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3B6A5142-5C88-4598-93F2-EB719606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A8B0"/>
                </a:solidFill>
              </a:defRPr>
            </a:pPr>
            <a:r>
              <a:rPr sz="975" b="1">
                <a:solidFill>
                  <a:srgbClr val="12A8B0"/>
                </a:solidFill>
              </a:rPr>
              <a:t>对话复盘 · 项目沟通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5872C2C-9648-4EDF-A06A-72B1AFA0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项目经理真正想知道什么？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31D42B1-0D87-47D5-8C9F-455553C3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2E81AF5-7E1A-40AE-A835-5B1BC0CC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286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42</a:t>
            </a:r>
          </a:p>
        </p:txBody>
      </p:sp>
      <p:sp>
        <p:nvSpPr>
          <p:cNvPr id="5" name="user-dialog">
            <a:extLst xmlns:a="http://schemas.openxmlformats.org/drawingml/2006/main">
              <a:ext uri="{FF2B5EF4-FFF2-40B4-BE49-F238E27FC236}">
                <a16:creationId xmlns:a16="http://schemas.microsoft.com/office/drawing/2014/main" id="{032D5FFC-3850-44D9-86A6-A2837ED5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6" name="tag-用户提问">
            <a:extLst xmlns:a="http://schemas.openxmlformats.org/drawingml/2006/main">
              <a:ext uri="{FF2B5EF4-FFF2-40B4-BE49-F238E27FC236}">
                <a16:creationId xmlns:a16="http://schemas.microsoft.com/office/drawing/2014/main" id="{817E3993-A809-46AD-8E17-973D64F6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76450"/>
            <a:ext cx="990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ag-text-用户提问">
            <a:extLst xmlns:a="http://schemas.openxmlformats.org/drawingml/2006/main">
              <a:ext uri="{FF2B5EF4-FFF2-40B4-BE49-F238E27FC236}">
                <a16:creationId xmlns:a16="http://schemas.microsoft.com/office/drawing/2014/main" id="{1513EA6B-19B4-4EBD-985E-4909C27B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用户提问</a:t>
            </a:r>
          </a:p>
        </p:txBody>
      </p:sp>
      <p:sp>
        <p:nvSpPr>
          <p:cNvPr id="8" name="user-quote">
            <a:extLst xmlns:a="http://schemas.openxmlformats.org/drawingml/2006/main">
              <a:ext uri="{FF2B5EF4-FFF2-40B4-BE49-F238E27FC236}">
                <a16:creationId xmlns:a16="http://schemas.microsoft.com/office/drawing/2014/main" id="{ACC853BF-992A-4BD5-A6E9-FCD340EB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“我不是算法工程师，汇报时是不是要讲很多卷积公式？”</a:t>
            </a:r>
          </a:p>
        </p:txBody>
      </p:sp>
      <p:sp>
        <p:nvSpPr>
          <p:cNvPr id="9" name="assistant-dialog">
            <a:extLst xmlns:a="http://schemas.openxmlformats.org/drawingml/2006/main">
              <a:ext uri="{FF2B5EF4-FFF2-40B4-BE49-F238E27FC236}">
                <a16:creationId xmlns:a16="http://schemas.microsoft.com/office/drawing/2014/main" id="{0951771B-6C63-49E0-A24E-533CC24C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52959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F8"/>
          </a:solidFill>
          <a:ln xmlns:a="http://schemas.openxmlformats.org/drawingml/2006/main" w="19050">
            <a:solidFill>
              <a:srgbClr val="2F855A"/>
            </a:solidFill>
            <a:prstDash val="solid"/>
          </a:ln>
        </p:spPr>
      </p:sp>
      <p:sp>
        <p:nvSpPr>
          <p:cNvPr id="10" name="tag-解释与校准">
            <a:extLst xmlns:a="http://schemas.openxmlformats.org/drawingml/2006/main">
              <a:ext uri="{FF2B5EF4-FFF2-40B4-BE49-F238E27FC236}">
                <a16:creationId xmlns:a16="http://schemas.microsoft.com/office/drawing/2014/main" id="{F762B97E-E3CD-46E3-9CE9-C37E42AF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76450"/>
            <a:ext cx="1104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g-text-解释与校准">
            <a:extLst xmlns:a="http://schemas.openxmlformats.org/drawingml/2006/main">
              <a:ext uri="{FF2B5EF4-FFF2-40B4-BE49-F238E27FC236}">
                <a16:creationId xmlns:a16="http://schemas.microsoft.com/office/drawing/2014/main" id="{16140736-3E9A-43E2-9589-47E4838A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1455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解释与校准</a:t>
            </a:r>
          </a:p>
        </p:txBody>
      </p:sp>
      <p:sp>
        <p:nvSpPr>
          <p:cNvPr id="12" name="assistant-answer">
            <a:extLst xmlns:a="http://schemas.openxmlformats.org/drawingml/2006/main">
              <a:ext uri="{FF2B5EF4-FFF2-40B4-BE49-F238E27FC236}">
                <a16:creationId xmlns:a16="http://schemas.microsoft.com/office/drawing/2014/main" id="{9ED32421-7DD6-4F7C-AA58-7A51F31E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28900"/>
            <a:ext cx="4610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重点讲选择理由、数据和流程、实验指标、遇到的问题、当前局限和下一步计划。代码细节只在对方需要复现或排查时展开。</a:t>
            </a:r>
          </a:p>
        </p:txBody>
      </p:sp>
      <p:sp>
        <p:nvSpPr>
          <p:cNvPr id="13" name="dialog-takeaway">
            <a:extLst xmlns:a="http://schemas.openxmlformats.org/drawingml/2006/main">
              <a:ext uri="{FF2B5EF4-FFF2-40B4-BE49-F238E27FC236}">
                <a16:creationId xmlns:a16="http://schemas.microsoft.com/office/drawing/2014/main" id="{CB9F4896-2037-458C-86B1-C6A454D5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48052C-E41E-43FD-8AC8-2FD4F1D2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55A"/>
                </a:solidFill>
              </a:defRPr>
            </a:pPr>
            <a:r>
              <a:rPr sz="1350" b="1">
                <a:solidFill>
                  <a:srgbClr val="2F855A"/>
                </a:solidFill>
              </a:rPr>
              <a:t>这一问真正要记住：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D315AE-BE2D-43D6-B5F1-CCB4AD57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149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</a:defRPr>
            </a:pPr>
            <a:r>
              <a:rPr sz="1575" b="1">
                <a:solidFill>
                  <a:srgbClr val="17212B"/>
                </a:solidFill>
              </a:rPr>
              <a:t>项目汇报的核心不是展示术语数量，而是解释结果为何可信、下一步如何推进。</a:t>
            </a:r>
          </a:p>
        </p:txBody>
      </p:sp>
      <p:sp>
        <p:nvSpPr>
          <p:cNvPr id="16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68EFFF75-2796-4C7E-B94B-1792EEBE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对话复盘</a:t>
            </a:r>
          </a:p>
        </p:txBody>
      </p:sp>
      <p:sp>
        <p:nvSpPr>
          <p:cNvPr id="17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722BE091-3804-4804-8FE6-1867B772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86525"/>
            <a:ext cx="426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项目复盘手册 · MobileNetV2 + Faster R-CNN</a:t>
            </a:r>
          </a:p>
        </p:txBody>
      </p:sp>
    </p:spTree>
    <p:extLst>
      <p:ext uri="{BB962C8B-B14F-4D97-AF65-F5344CB8AC3E}">
        <p14:creationId xmlns:p14="http://schemas.microsoft.com/office/powerpoint/2010/main" val="1477243310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B909C17C-4DE5-448A-BDC3-36870829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A8B0"/>
                </a:solidFill>
              </a:defRPr>
            </a:pPr>
            <a:r>
              <a:rPr sz="975" b="1">
                <a:solidFill>
                  <a:srgbClr val="12A8B0"/>
                </a:solidFill>
              </a:rPr>
              <a:t>对话复盘 · 排错方法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15DC27B-2C14-41CE-B2A7-40400AAD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报错应该怎么写进自己的检查清单？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BCF74C8-C2CE-42E1-8839-94C20D02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A21263A-4862-4920-A882-3B0B9D3A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286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43</a:t>
            </a:r>
          </a:p>
        </p:txBody>
      </p:sp>
      <p:sp>
        <p:nvSpPr>
          <p:cNvPr id="5" name="user-dialog">
            <a:extLst xmlns:a="http://schemas.openxmlformats.org/drawingml/2006/main">
              <a:ext uri="{FF2B5EF4-FFF2-40B4-BE49-F238E27FC236}">
                <a16:creationId xmlns:a16="http://schemas.microsoft.com/office/drawing/2014/main" id="{03882FC6-1C45-4A59-BF1E-999DBCF4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6" name="tag-用户提问">
            <a:extLst xmlns:a="http://schemas.openxmlformats.org/drawingml/2006/main">
              <a:ext uri="{FF2B5EF4-FFF2-40B4-BE49-F238E27FC236}">
                <a16:creationId xmlns:a16="http://schemas.microsoft.com/office/drawing/2014/main" id="{79A3A33D-2168-43D0-8C55-27C453EF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76450"/>
            <a:ext cx="990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ag-text-用户提问">
            <a:extLst xmlns:a="http://schemas.openxmlformats.org/drawingml/2006/main">
              <a:ext uri="{FF2B5EF4-FFF2-40B4-BE49-F238E27FC236}">
                <a16:creationId xmlns:a16="http://schemas.microsoft.com/office/drawing/2014/main" id="{4216A5E0-9704-4F78-945A-EC7FDE4E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用户提问</a:t>
            </a:r>
          </a:p>
        </p:txBody>
      </p:sp>
      <p:sp>
        <p:nvSpPr>
          <p:cNvPr id="8" name="user-quote">
            <a:extLst xmlns:a="http://schemas.openxmlformats.org/drawingml/2006/main">
              <a:ext uri="{FF2B5EF4-FFF2-40B4-BE49-F238E27FC236}">
                <a16:creationId xmlns:a16="http://schemas.microsoft.com/office/drawing/2014/main" id="{87CC4123-3BC3-49AB-BA3E-1F849814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“我怕下次又遇到同样的路径和接口问题。”</a:t>
            </a:r>
          </a:p>
        </p:txBody>
      </p:sp>
      <p:sp>
        <p:nvSpPr>
          <p:cNvPr id="9" name="assistant-dialog">
            <a:extLst xmlns:a="http://schemas.openxmlformats.org/drawingml/2006/main">
              <a:ext uri="{FF2B5EF4-FFF2-40B4-BE49-F238E27FC236}">
                <a16:creationId xmlns:a16="http://schemas.microsoft.com/office/drawing/2014/main" id="{D80C2898-7983-44D4-AD3F-B9A47892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52959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19050">
            <a:solidFill>
              <a:srgbClr val="F97316"/>
            </a:solidFill>
            <a:prstDash val="solid"/>
          </a:ln>
        </p:spPr>
      </p:sp>
      <p:sp>
        <p:nvSpPr>
          <p:cNvPr id="10" name="tag-解释与校准">
            <a:extLst xmlns:a="http://schemas.openxmlformats.org/drawingml/2006/main">
              <a:ext uri="{FF2B5EF4-FFF2-40B4-BE49-F238E27FC236}">
                <a16:creationId xmlns:a16="http://schemas.microsoft.com/office/drawing/2014/main" id="{7C1172B9-15EE-41B8-809B-11907503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76450"/>
            <a:ext cx="1104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g-text-解释与校准">
            <a:extLst xmlns:a="http://schemas.openxmlformats.org/drawingml/2006/main">
              <a:ext uri="{FF2B5EF4-FFF2-40B4-BE49-F238E27FC236}">
                <a16:creationId xmlns:a16="http://schemas.microsoft.com/office/drawing/2014/main" id="{5CD78FC5-9E7E-42DE-BA65-C9AE82EF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1455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解释与校准</a:t>
            </a:r>
          </a:p>
        </p:txBody>
      </p:sp>
      <p:sp>
        <p:nvSpPr>
          <p:cNvPr id="12" name="assistant-answer">
            <a:extLst xmlns:a="http://schemas.openxmlformats.org/drawingml/2006/main">
              <a:ext uri="{FF2B5EF4-FFF2-40B4-BE49-F238E27FC236}">
                <a16:creationId xmlns:a16="http://schemas.microsoft.com/office/drawing/2014/main" id="{34EF6DB6-1F1C-44A0-A040-8D3C4119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28900"/>
            <a:ext cx="4610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不要只保存“报错截图”，要写成四列：错误现象 → 根因 → 修复动作 → 预防动作。这样下一次可以直接按类别定位。</a:t>
            </a:r>
          </a:p>
        </p:txBody>
      </p:sp>
      <p:sp>
        <p:nvSpPr>
          <p:cNvPr id="13" name="dialog-takeaway">
            <a:extLst xmlns:a="http://schemas.openxmlformats.org/drawingml/2006/main">
              <a:ext uri="{FF2B5EF4-FFF2-40B4-BE49-F238E27FC236}">
                <a16:creationId xmlns:a16="http://schemas.microsoft.com/office/drawing/2014/main" id="{6548DDDF-EE60-48DC-AAC0-CD2845C1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8EABE5-51E7-4287-B3A5-CF8048C4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97316"/>
                </a:solidFill>
              </a:defRPr>
            </a:pPr>
            <a:r>
              <a:rPr sz="1350" b="1">
                <a:solidFill>
                  <a:srgbClr val="F97316"/>
                </a:solidFill>
              </a:rPr>
              <a:t>这一问真正要记住：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036882-9D18-4AB6-B373-D69831BB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149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</a:defRPr>
            </a:pPr>
            <a:r>
              <a:rPr sz="1575" b="1">
                <a:solidFill>
                  <a:srgbClr val="17212B"/>
                </a:solidFill>
              </a:rPr>
              <a:t>错误复盘的最小单位是“现象—原因—修复—预防”。</a:t>
            </a:r>
          </a:p>
        </p:txBody>
      </p:sp>
      <p:sp>
        <p:nvSpPr>
          <p:cNvPr id="16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6290199A-A0B7-419C-98AA-855CDD64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对话复盘</a:t>
            </a:r>
          </a:p>
        </p:txBody>
      </p:sp>
      <p:sp>
        <p:nvSpPr>
          <p:cNvPr id="17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F1363E11-632A-489E-8E79-11CD161B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86525"/>
            <a:ext cx="426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项目复盘手册 · MobileNetV2 + Faster R-CNN</a:t>
            </a:r>
          </a:p>
        </p:txBody>
      </p:sp>
    </p:spTree>
    <p:extLst>
      <p:ext uri="{BB962C8B-B14F-4D97-AF65-F5344CB8AC3E}">
        <p14:creationId xmlns:p14="http://schemas.microsoft.com/office/powerpoint/2010/main" val="234871737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AB6DC116-598E-439B-B698-7EEA0252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A8B0"/>
                </a:solidFill>
              </a:defRPr>
            </a:pPr>
            <a:r>
              <a:rPr sz="975" b="1">
                <a:solidFill>
                  <a:srgbClr val="12A8B0"/>
                </a:solidFill>
              </a:rPr>
              <a:t>对话复盘 · 项目闭环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42ECC6-D714-4F1D-A24B-892B0857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什么时候算真正完成一个 AI 项目？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A74087E-B6A2-4200-8193-8AD9E23F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0AD3F26-3C46-43FD-BC79-711C61F8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286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27D"/>
                </a:solidFill>
              </a:defRPr>
            </a:pPr>
            <a:r>
              <a:rPr sz="1050" b="0">
                <a:solidFill>
                  <a:srgbClr val="66727D"/>
                </a:solidFill>
              </a:rPr>
              <a:t>44</a:t>
            </a:r>
          </a:p>
        </p:txBody>
      </p:sp>
      <p:sp>
        <p:nvSpPr>
          <p:cNvPr id="5" name="user-dialog">
            <a:extLst xmlns:a="http://schemas.openxmlformats.org/drawingml/2006/main">
              <a:ext uri="{FF2B5EF4-FFF2-40B4-BE49-F238E27FC236}">
                <a16:creationId xmlns:a16="http://schemas.microsoft.com/office/drawing/2014/main" id="{D1E468F0-1060-4520-804F-E288E2E6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6" name="tag-用户提问">
            <a:extLst xmlns:a="http://schemas.openxmlformats.org/drawingml/2006/main">
              <a:ext uri="{FF2B5EF4-FFF2-40B4-BE49-F238E27FC236}">
                <a16:creationId xmlns:a16="http://schemas.microsoft.com/office/drawing/2014/main" id="{02E009AC-96B3-48B9-AC6E-CE57CE17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76450"/>
            <a:ext cx="990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ag-text-用户提问">
            <a:extLst xmlns:a="http://schemas.openxmlformats.org/drawingml/2006/main">
              <a:ext uri="{FF2B5EF4-FFF2-40B4-BE49-F238E27FC236}">
                <a16:creationId xmlns:a16="http://schemas.microsoft.com/office/drawing/2014/main" id="{83F224A9-E02E-438B-A24B-17B9F7C7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用户提问</a:t>
            </a:r>
          </a:p>
        </p:txBody>
      </p:sp>
      <p:sp>
        <p:nvSpPr>
          <p:cNvPr id="8" name="user-quote">
            <a:extLst xmlns:a="http://schemas.openxmlformats.org/drawingml/2006/main">
              <a:ext uri="{FF2B5EF4-FFF2-40B4-BE49-F238E27FC236}">
                <a16:creationId xmlns:a16="http://schemas.microsoft.com/office/drawing/2014/main" id="{C814DB05-0901-480F-B939-D6739B27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“跑完 100 轮、拿到一个 mAP，就算结束了吗？”</a:t>
            </a:r>
          </a:p>
        </p:txBody>
      </p:sp>
      <p:sp>
        <p:nvSpPr>
          <p:cNvPr id="9" name="assistant-dialog">
            <a:extLst xmlns:a="http://schemas.openxmlformats.org/drawingml/2006/main">
              <a:ext uri="{FF2B5EF4-FFF2-40B4-BE49-F238E27FC236}">
                <a16:creationId xmlns:a16="http://schemas.microsoft.com/office/drawing/2014/main" id="{3074EAAC-32EE-4A1C-A7A9-658E3A5C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52959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F8"/>
          </a:solidFill>
          <a:ln xmlns:a="http://schemas.openxmlformats.org/drawingml/2006/main" w="19050">
            <a:solidFill>
              <a:srgbClr val="12A8B0"/>
            </a:solidFill>
            <a:prstDash val="solid"/>
          </a:ln>
        </p:spPr>
      </p:sp>
      <p:sp>
        <p:nvSpPr>
          <p:cNvPr id="10" name="tag-解释与校准">
            <a:extLst xmlns:a="http://schemas.openxmlformats.org/drawingml/2006/main">
              <a:ext uri="{FF2B5EF4-FFF2-40B4-BE49-F238E27FC236}">
                <a16:creationId xmlns:a16="http://schemas.microsoft.com/office/drawing/2014/main" id="{55C2E5B6-E74F-4E02-AF3E-98DE89D9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76450"/>
            <a:ext cx="1104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A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g-text-解释与校准">
            <a:extLst xmlns:a="http://schemas.openxmlformats.org/drawingml/2006/main">
              <a:ext uri="{FF2B5EF4-FFF2-40B4-BE49-F238E27FC236}">
                <a16:creationId xmlns:a16="http://schemas.microsoft.com/office/drawing/2014/main" id="{2BBB532A-88F9-4ABF-8D82-3CBEAF81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1455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解释与校准</a:t>
            </a:r>
          </a:p>
        </p:txBody>
      </p:sp>
      <p:sp>
        <p:nvSpPr>
          <p:cNvPr id="12" name="assistant-answer">
            <a:extLst xmlns:a="http://schemas.openxmlformats.org/drawingml/2006/main">
              <a:ext uri="{FF2B5EF4-FFF2-40B4-BE49-F238E27FC236}">
                <a16:creationId xmlns:a16="http://schemas.microsoft.com/office/drawing/2014/main" id="{A435CB02-0744-464D-9958-9E4001D2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28900"/>
            <a:ext cx="4610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还要完成独立评估、结果可视化、代码整理、README、版本提交和交付说明。只有别人能看懂、能复现、知道限制，项目才算真正完成。</a:t>
            </a:r>
          </a:p>
        </p:txBody>
      </p:sp>
      <p:sp>
        <p:nvSpPr>
          <p:cNvPr id="13" name="dialog-takeaway">
            <a:extLst xmlns:a="http://schemas.openxmlformats.org/drawingml/2006/main">
              <a:ext uri="{FF2B5EF4-FFF2-40B4-BE49-F238E27FC236}">
                <a16:creationId xmlns:a16="http://schemas.microsoft.com/office/drawing/2014/main" id="{A63B2145-61BB-48EC-B71C-B2B81F02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8B9EE9-4ECE-4F7B-AFAE-29947F99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A8B0"/>
                </a:solidFill>
              </a:defRPr>
            </a:pPr>
            <a:r>
              <a:rPr sz="1350" b="1">
                <a:solidFill>
                  <a:srgbClr val="12A8B0"/>
                </a:solidFill>
              </a:rPr>
              <a:t>这一问真正要记住：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642C01-AA6F-4873-BDD7-EB959B13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149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</a:defRPr>
            </a:pPr>
            <a:r>
              <a:rPr sz="1575" b="1">
                <a:solidFill>
                  <a:srgbClr val="17212B"/>
                </a:solidFill>
              </a:rPr>
              <a:t>结果是终点的一半；可解释、可复现、可交付才是完整闭环。</a:t>
            </a:r>
          </a:p>
        </p:txBody>
      </p:sp>
      <p:sp>
        <p:nvSpPr>
          <p:cNvPr id="16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5E34B98E-DAE7-4503-BBF2-799C98AE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对话复盘</a:t>
            </a:r>
          </a:p>
        </p:txBody>
      </p:sp>
      <p:sp>
        <p:nvSpPr>
          <p:cNvPr id="17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9DA7C5E4-2649-4986-B70E-112D2CA8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86525"/>
            <a:ext cx="426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27D"/>
                </a:solidFill>
              </a:defRPr>
            </a:pPr>
            <a:r>
              <a:rPr sz="825" b="0">
                <a:solidFill>
                  <a:srgbClr val="66727D"/>
                </a:solidFill>
              </a:rPr>
              <a:t>项目复盘手册 · MobileNetV2 + Faster R-CNN</a:t>
            </a:r>
          </a:p>
        </p:txBody>
      </p:sp>
    </p:spTree>
    <p:extLst>
      <p:ext uri="{BB962C8B-B14F-4D97-AF65-F5344CB8AC3E}">
        <p14:creationId xmlns:p14="http://schemas.microsoft.com/office/powerpoint/2010/main" val="1546917138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BC349D-9E94-4842-B4AB-613F5BA0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5B9E48-F235-4240-8190-436B82AB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最后真正要带走的，不是某个模型名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C1B7A8-F86F-42D6-8444-2C43675A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FE9EC"/>
                </a:solidFill>
              </a:defRPr>
            </a:pPr>
            <a:r>
              <a:rPr sz="2400" b="1">
                <a:solidFill>
                  <a:srgbClr val="8FE9EC"/>
                </a:solidFill>
              </a:rPr>
              <a:t>而是一套可迁移的项目习惯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97A65A-3D11-4B9F-9F9B-4B2197EB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ABBCD2-4899-4EC5-ACCE-357E3928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527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D3EA1C-62BA-4676-BA08-A25FA052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670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先看数据，再看模型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CE9E4E-B65D-4FE7-8F1C-45C5119B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528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D2D8"/>
                </a:solidFill>
              </a:defRPr>
            </a:pPr>
            <a:r>
              <a:rPr sz="1200" b="0">
                <a:solidFill>
                  <a:srgbClr val="C7D2D8"/>
                </a:solidFill>
              </a:rPr>
              <a:t>数据格式错了，模型再强也没有意义。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50B4C8-263E-488F-8381-A7CCA2A0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FD2B83-BA3C-4A1E-9C3A-97F0458A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814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B19189-CCE4-4ABC-9529-07C5294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9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先做小规模验证，再跑长实验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87A97D-F138-4E50-B4FD-54FF3C4D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815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D2D8"/>
                </a:solidFill>
              </a:defRPr>
            </a:pPr>
            <a:r>
              <a:rPr sz="1200" b="0">
                <a:solidFill>
                  <a:srgbClr val="C7D2D8"/>
                </a:solidFill>
              </a:rPr>
              <a:t>每轮是否可完成、日志是否完整，要先验证。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03C9E2-055B-41BB-BAB1-9D646C77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86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18A627-7144-4F80-9004-A923BA9E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527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C2915D-70AC-4693-A9D3-FCDE6B1A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670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把报错写进检查清单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62BD62-CA26-4758-8253-C6AFB945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528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D2D8"/>
                </a:solidFill>
              </a:defRPr>
            </a:pPr>
            <a:r>
              <a:rPr sz="1200" b="0">
                <a:solidFill>
                  <a:srgbClr val="C7D2D8"/>
                </a:solidFill>
              </a:rPr>
              <a:t>错误不是黑历史，是下一次的快捷路径。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0A0771-5EF6-435D-AFEF-1106D463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14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E1680F-6E26-4634-A485-B4D97D80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814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94921D-0F3D-46CF-9078-940E702F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09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交付时讲清楚证据来源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C771FC-9E55-4AEA-9526-7C67A027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3815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D2D8"/>
                </a:solidFill>
              </a:defRPr>
            </a:pPr>
            <a:r>
              <a:rPr sz="1200" b="0">
                <a:solidFill>
                  <a:srgbClr val="C7D2D8"/>
                </a:solidFill>
              </a:rPr>
              <a:t>结果、图表、代码和权重要各有位置。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EC0E70-2402-48C0-A63A-B5F69366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E3E7"/>
                </a:solidFill>
              </a:defRPr>
            </a:pPr>
            <a:r>
              <a:rPr sz="1650" b="0">
                <a:solidFill>
                  <a:srgbClr val="D8E3E7"/>
                </a:solidFill>
              </a:rPr>
              <a:t>项目完成的标志：你不仅跑出了结果，也知道为什么它可信。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0E3787-D649-428E-BABF-770ADF9B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722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A8B7BF"/>
                </a:solidFill>
              </a:defRPr>
            </a:pPr>
            <a:r>
              <a:rPr sz="1350" b="0">
                <a:solidFill>
                  <a:srgbClr val="A8B7BF"/>
                </a:solidFill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11982262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2026-07-22T04:22:05.1900000Z</dcterms:created>
  <dcterms:modified xsi:type="dcterms:W3CDTF">2026-07-22T04:22:05.1900000Z</dcterms:modified>
</coreProperties>
</file>